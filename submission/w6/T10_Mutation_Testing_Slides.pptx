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1"/>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Montserrat Bold" charset="1" panose="00000800000000000000"/>
      <p:regular r:id="rId24"/>
    </p:embeddedFont>
    <p:embeddedFont>
      <p:font typeface="Montserrat" charset="1" panose="00000500000000000000"/>
      <p:regular r:id="rId25"/>
    </p:embeddedFont>
    <p:embeddedFont>
      <p:font typeface="Montserrat Italics" charset="1" panose="0000050000000000000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notesMasters/notesMaster1.xml" Type="http://schemas.openxmlformats.org/officeDocument/2006/relationships/notesMaster"/><Relationship Id="rId22" Target="theme/theme2.xml" Type="http://schemas.openxmlformats.org/officeDocument/2006/relationships/theme"/><Relationship Id="rId23" Target="notesSlides/notesSlide1.xml" Type="http://schemas.openxmlformats.org/officeDocument/2006/relationships/notesSlide"/><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notesSlides/notesSlide2.xml" Type="http://schemas.openxmlformats.org/officeDocument/2006/relationships/notesSlide"/><Relationship Id="rId28" Target="notesSlides/notesSlide3.xml" Type="http://schemas.openxmlformats.org/officeDocument/2006/relationships/notesSlide"/><Relationship Id="rId29" Target="notesSlides/notesSlide4.xml" Type="http://schemas.openxmlformats.org/officeDocument/2006/relationships/notesSlide"/><Relationship Id="rId3" Target="viewProps.xml" Type="http://schemas.openxmlformats.org/officeDocument/2006/relationships/viewProps"/><Relationship Id="rId30" Target="notesSlides/notesSlide5.xml" Type="http://schemas.openxmlformats.org/officeDocument/2006/relationships/notesSlide"/><Relationship Id="rId31" Target="notesSlides/notesSlide6.xml" Type="http://schemas.openxmlformats.org/officeDocument/2006/relationships/notesSlide"/><Relationship Id="rId32" Target="notesSlides/notesSlide7.xml" Type="http://schemas.openxmlformats.org/officeDocument/2006/relationships/notesSlide"/><Relationship Id="rId33" Target="notesSlides/notesSlide8.xml" Type="http://schemas.openxmlformats.org/officeDocument/2006/relationships/notesSlide"/><Relationship Id="rId34" Target="notesSlides/notesSlide9.xml" Type="http://schemas.openxmlformats.org/officeDocument/2006/relationships/notesSlide"/><Relationship Id="rId35" Target="notesSlides/notesSlide10.xml" Type="http://schemas.openxmlformats.org/officeDocument/2006/relationships/notesSlide"/><Relationship Id="rId36" Target="notesSlides/notesSlide11.xml" Type="http://schemas.openxmlformats.org/officeDocument/2006/relationships/notesSlide"/><Relationship Id="rId37" Target="notesSlides/notesSlide12.xml" Type="http://schemas.openxmlformats.org/officeDocument/2006/relationships/notesSlide"/><Relationship Id="rId38" Target="notesSlides/notesSlide13.xml" Type="http://schemas.openxmlformats.org/officeDocument/2006/relationships/notesSlide"/><Relationship Id="rId39" Target="notesSlides/notesSlide14.xml" Type="http://schemas.openxmlformats.org/officeDocument/2006/relationships/notesSlide"/><Relationship Id="rId4" Target="theme/theme1.xml" Type="http://schemas.openxmlformats.org/officeDocument/2006/relationships/theme"/><Relationship Id="rId40" Target="notesSlides/notesSlide15.xml" Type="http://schemas.openxmlformats.org/officeDocument/2006/relationships/notesSlid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Mutation Testing &amp; Test Effectiveness</a:t>
            </a:r>
          </a:p>
          <a:p>
            <a:r>
              <a:rPr lang="en-US"/>
              <a:t>Introduce Group 12 and the EShop backend. The question for the session is whether a passing test suite can notice wrong behavior. Explain the 45-minute seminar flow. All technical results shown later come from saved run artifacts. The live demo and audience activity are planned session actions, not claims that the seminar has already happened.</a:t>
            </a:r>
          </a:p>
          <a:p>
            <a:r>
              <a:rPr lang="en-US"/>
              <a:t>Sources:</a:t>
            </a:r>
          </a:p>
          <a:p>
            <a:r>
              <a:rPr lang="en-US"/>
              <a:t>- docs/requirements/Seminar_Requirements_Consolidated.md, REQ-20 and REQ-25</a:t>
            </a:r>
          </a:p>
          <a:p>
            <a:r>
              <a:rPr lang="en-US"/>
              <a:t>- D:\Workspace\1. Study\courses-fit-hcmus\2026-2027\csc13003-testing\seminar\documents\(Sample-NeedtobeUpdatedby Seminar Group) T10_Mutation_Testing_and_Test_Effectiveness_InClass.pptx</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Passing tests and test effectiveness</a:t>
            </a:r>
          </a:p>
          <a:p>
            <a:r>
              <a:rPr lang="en-US"/>
              <a:t>Ask the audience what a green test result guarantees. Use a successful HTTP response with incorrect stored data as the concrete example. Code execution, observed state and expected behavior are separate. The learning goals are report interpretation, survivor diagnosis and assertion verification.</a:t>
            </a:r>
          </a:p>
          <a:p>
            <a:r>
              <a:rPr lang="en-US"/>
              <a:t>Meme: image3.jpeg, copied unchanged from the supplied deck.</a:t>
            </a:r>
          </a:p>
          <a:p>
            <a:r>
              <a:rPr lang="en-US"/>
              <a:t>Sources:</a:t>
            </a:r>
          </a:p>
          <a:p>
            <a:r>
              <a:rPr lang="en-US"/>
              <a:t>- docs/requirements/03_T10_Mutation_Testing_and_Test_Effectiveness_Description.md</a:t>
            </a:r>
          </a:p>
          <a:p>
            <a:r>
              <a:rPr lang="en-US"/>
              <a:t>- draft/T10_Mutation_Testing_Slides.md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Mutation testing workflow</a:t>
            </a:r>
          </a:p>
          <a:p>
            <a:r>
              <a:rPr lang="en-US"/>
              <a:t>Define a mutant before introducing outcome names. In the teaching example, 101 cannot distinguish the expressions, while 100 can. A useful input must reach the change and produce a difference, and an assertion must observe it. This is an illustrative example, not a measured EShop mutant.</a:t>
            </a:r>
          </a:p>
          <a:p>
            <a:r>
              <a:rPr lang="en-US"/>
              <a:t>Sources:</a:t>
            </a:r>
          </a:p>
          <a:p>
            <a:r>
              <a:rPr lang="en-US"/>
              <a:t>- https://stryker-mutator.io/docs/stryker-js/introduction/</a:t>
            </a:r>
          </a:p>
          <a:p>
            <a:r>
              <a:rPr lang="en-US"/>
              <a:t>- draft/T10_Mutation_Testing_Slides.md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Mutant states and mutation score</a:t>
            </a:r>
          </a:p>
          <a:p>
            <a:r>
              <a:rPr lang="en-US"/>
              <a:t>Use the exact state labels from the saved StrykerJS 10 report. The baseline has 191 Killed, 61 Timeout, 87 Survived, 34 NoCoverage and 22 RuntimeError. Therefore V is 373 and the score is 252/373. K/V is 51.21%. A timeout counts as detected for Stryker but does not identify a failing assertion. A Killed classification also needs its detecting test inspected before attributing a meaningful assertion kill.</a:t>
            </a:r>
          </a:p>
          <a:p>
            <a:r>
              <a:rPr lang="en-US"/>
              <a:t>Sources:</a:t>
            </a:r>
          </a:p>
          <a:p>
            <a:r>
              <a:rPr lang="en-US"/>
              <a:t>- https://stryker-mutator.io/docs/mutation-testing-elements/mutant-states-and-metrics/</a:t>
            </a:r>
          </a:p>
          <a:p>
            <a:r>
              <a:rPr lang="en-US"/>
              <a:t>- experiments/s4/runs/Thai_Hoa/S4-E02-2026-10-23-agent/summary.json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StrykerJS and the AI Agent</a:t>
            </a:r>
          </a:p>
          <a:p>
            <a:r>
              <a:rPr lang="en-US"/>
              <a:t>The implementation stack supports selecting StrykerJS. Other ecosystem choices in the course survey include PIT for JVM projects and mutmut for Python. Here the AI Agent is a candidate-generation role. In the recorded Coupons work, the actual tool was OpenAI Codex, including support for the manual-analysis collection. Use a prompt that names the business rule, mutant replacement, current test input, fixture and allowed edit scope. Reject invented helpers, unsupported expected behavior, or production changes. Keep raw candidates and edits.</a:t>
            </a:r>
          </a:p>
          <a:p>
            <a:r>
              <a:rPr lang="en-US"/>
              <a:t>Sources:</a:t>
            </a:r>
          </a:p>
          <a:p>
            <a:r>
              <a:rPr lang="en-US"/>
              <a:t>- https://stryker-mutator.io/docs/stryker-js/introduction/</a:t>
            </a:r>
          </a:p>
          <a:p>
            <a:r>
              <a:rPr lang="en-US"/>
              <a:t>- proposal/s1/Tool_Survey_Proposal.md</a:t>
            </a:r>
          </a:p>
          <a:p>
            <a:r>
              <a:rPr lang="en-US"/>
              <a:t>- docs/Demo_Script.md</a:t>
            </a:r>
          </a:p>
          <a:p>
            <a:r>
              <a:rPr lang="en-US"/>
              <a:t>- experiments/s3/runs/Thai_Hoa/Coupons-extensions-2026-10-23-agent/PROVENANCE.md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EShop experiment design</a:t>
            </a:r>
          </a:p>
          <a:p>
            <a:r>
              <a:rPr lang="en-US"/>
              <a:t>The frozen production baseline is 806ba19ee4e09eafe9b2696ccf117a2b1ab841ef. The joint scope is server.js lines 20-135, 280-349, 355-492 and 510-568. Node 24.16.0, npm 12.0.2, Jest 30.5.2 and StrykerJS 10.0.0 were recorded. All profiles use perTest coverage, concurrency 2, timeoutMS 5000 and timeoutFactor 1.5. The manual additions comprise Cart 8, Coupons 9 and Auth 13 tests. The AI additions comprise Cart 5, Coupons 14 and Auth 11. The saved joint runs compare handed-over collections, without balancing scenario content or generation effort. Known original-defect tests are separate from passing selections.</a:t>
            </a:r>
          </a:p>
          <a:p>
            <a:r>
              <a:rPr lang="en-US"/>
              <a:t>Sources:</a:t>
            </a:r>
          </a:p>
          <a:p>
            <a:r>
              <a:rPr lang="en-US"/>
              <a:t>- experiments/s3/Baseline_Manifest.md</a:t>
            </a:r>
          </a:p>
          <a:p>
            <a:r>
              <a:rPr lang="en-US"/>
              <a:t>- experiments/s4/Overall_Comparison.md</a:t>
            </a:r>
          </a:p>
          <a:p>
            <a:r>
              <a:rPr lang="en-US"/>
              <a:t>- experiments/s4/runs/Thai_Hoa/S4-E02-2026-10-23-agent/inputs.json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Case 1: the empty-cart oracle</a:t>
            </a:r>
          </a:p>
          <a:p>
            <a:r>
              <a:rPr lang="en-US"/>
              <a:t>A new authenticated user requests the cart. The original initializes an empty array. The mutant initializes one unexpected element. A status-only assertion observes successful transport but leaves the cart contents unchecked. Assert exact emptiness. The source worksheet records the mutant at server.js line 286 as baseline ID 3. IDs depend on the report and configuration, so match the location, mutator and replacement. Historical domain evidence describes a survivor killed by the added observation. Do not substitute its domain counts for the joint results.</a:t>
            </a:r>
          </a:p>
          <a:p>
            <a:r>
              <a:rPr lang="en-US"/>
              <a:t>Sources:</a:t>
            </a:r>
          </a:p>
          <a:p>
            <a:r>
              <a:rPr lang="en-US"/>
              <a:t>- draft/Activity_Worksheet.md, K1</a:t>
            </a:r>
          </a:p>
          <a:p>
            <a:r>
              <a:rPr lang="en-US"/>
              <a:t>- draft/T10_Mutation_Testing_Slides.md, Slide 08</a:t>
            </a:r>
          </a:p>
          <a:p>
            <a:r>
              <a:rPr lang="en-US"/>
              <a:t>- experiments/s3/Experiment_Log_Tan_Hiep.md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Case 2: coupon usage-limit data</a:t>
            </a:r>
          </a:p>
          <a:p>
            <a:r>
              <a:rPr lang="en-US"/>
              <a:t>The original uses a fallback of 1. A baseline input of 1 produces the same result under the logical-operator mutant. Input 3 produces different stored values and MF-01 checks the persisted field. At server.js line 474, baseline domain IDs 111 and 113 became Killed. Domain-only counts changed from 39 to 41 Killed, with 21 Timeout unchanged. Later extensions broadened API behavior checks but produced no extra survivor kills in that domain universe. These domain measurements have 120 signatures and must remain separate from the joint run. Both Coupons collections had Codex assistance and shared context.</a:t>
            </a:r>
          </a:p>
          <a:p>
            <a:r>
              <a:rPr lang="en-US"/>
              <a:t>Sources:</a:t>
            </a:r>
          </a:p>
          <a:p>
            <a:r>
              <a:rPr lang="en-US"/>
              <a:t>- docs/Demo_Script.md, Scenes 2-5</a:t>
            </a:r>
          </a:p>
          <a:p>
            <a:r>
              <a:rPr lang="en-US"/>
              <a:t>- experiments/s3/runs/Thai_Hoa/Coupons-extensions-2026-10-23-agent/README.md</a:t>
            </a:r>
          </a:p>
          <a:p>
            <a:r>
              <a:rPr lang="en-US"/>
              <a:t>- experiments/s3/runs/Thai_Hoa/Coupons-extensions-2026-10-23-agent/sources/backend/test/manual/coupons.manual.js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Case 3: a profile update keeps the role</a:t>
            </a:r>
          </a:p>
          <a:p>
            <a:r>
              <a:rPr lang="en-US"/>
              <a:t>AM-01 logs in, sends a profile update with no role field, expects HTTP 200 and then checks that the stored role and GET /users/me role remain user. The forced branch is a ConditionalExpression mutation at server.js 124:7. Domain baseline #132 survives and AM-01 kills it. The expectation is tied to API 2.2 and README FR-04, SEC-06. Keep it separate from mutant #133: forcing the branch false can actually prevent the existing role-change defect. Do not invent a failing requirement to kill #133.</a:t>
            </a:r>
          </a:p>
          <a:p>
            <a:r>
              <a:rPr lang="en-US"/>
              <a:t>Sources:</a:t>
            </a:r>
          </a:p>
          <a:p>
            <a:r>
              <a:rPr lang="en-US"/>
              <a:t>- experiments/s3/runs/Phuc_Hoang/F03-manual/auth.manual.test.js, AM-01</a:t>
            </a:r>
          </a:p>
          <a:p>
            <a:r>
              <a:rPr lang="en-US"/>
              <a:t>- experiments/s3/runs/Phuc_Hoang/F03-manual/mutant_mapping.md</a:t>
            </a:r>
          </a:p>
          <a:p>
            <a:r>
              <a:rPr lang="en-US"/>
              <a:t>- experiments/s3/runs/Phuc_Hoang/H03-comparison/comparison.md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Joint results on 395 matching mutants</a:t>
            </a:r>
          </a:p>
          <a:p>
            <a:r>
              <a:rPr lang="en-US"/>
              <a:t>Read each row as one completed joint Stryker invocation, not a sum or average of domain scores. All three have identical normalized production source and 395 matching signatures. Raw state totals sum to 395. There are 48 and 28 new Killed transitions from baseline Survived or NoCoverage. The new-kill sets share 27 mutants, with 21 manual-only and 1 AI-only. Their union of 49 belongs to two separate runs, not a tested combined suite. Net Killed changes are 47 and 20 because some previous Killed mutants become Timeout. Both profiles have zero detected-to-undetected transitions. The original reports and transition mapping remain the authority.</a:t>
            </a:r>
          </a:p>
          <a:p>
            <a:r>
              <a:rPr lang="en-US"/>
              <a:t>Sources:</a:t>
            </a:r>
          </a:p>
          <a:p>
            <a:r>
              <a:rPr lang="en-US"/>
              <a:t>- experiments/s4/Overall_Comparison.md</a:t>
            </a:r>
          </a:p>
          <a:p>
            <a:r>
              <a:rPr lang="en-US"/>
              <a:t>- experiments/s4/runs/Thai_Hoa/S4-E02-2026-10-23-agent/summary.json</a:t>
            </a:r>
          </a:p>
          <a:p>
            <a:r>
              <a:rPr lang="en-US"/>
              <a:t>- experiments/s4/runs/Thai_Hoa/S4-E02-2026-10-23-agent/mutant-mapping.json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Equivalent mutants and limits</a:t>
            </a:r>
          </a:p>
          <a:p>
            <a:r>
              <a:rPr lang="en-US"/>
              <a:t>Equivalent means the mutant and original have the same observable behavior for all valid inputs in the stated scope. A survivor alone cannot establish equivalence. In Auth, mutant #52 changes &gt;= 3 to &gt; 3. The original increments the failure counter by 2, so reachable values 0, 2 and 4 mask the threshold difference. This is a scope-dependent candidate, not proof that the security requirement is correct. Mutant #133 can repair a source defect, so killing it would require an invalid oracle. AI-assisted review can suggest distinguishing inputs or explain paths, but those are arguments to verify. The joint comparison is not independent human versus AI generation. Conventions, unequal scenarios, shared context, timing variation, native SQLite crashes and unmeasured machine load prevent a causal ranking.</a:t>
            </a:r>
          </a:p>
          <a:p>
            <a:r>
              <a:rPr lang="en-US"/>
              <a:t>Sources:</a:t>
            </a:r>
          </a:p>
          <a:p>
            <a:r>
              <a:rPr lang="en-US"/>
              <a:t>- https://stryker-mutator.io/docs/mutation-testing-elements/equivalent-mutants/</a:t>
            </a:r>
          </a:p>
          <a:p>
            <a:r>
              <a:rPr lang="en-US"/>
              <a:t>- experiments/s3/runs/Phuc_Hoang/F03-manual/mutant_mapping.md</a:t>
            </a:r>
          </a:p>
          <a:p>
            <a:r>
              <a:rPr lang="en-US"/>
              <a:t>- experiments/s3/runs/Phuc_Hoang/F03-manual/probes.md</a:t>
            </a:r>
          </a:p>
          <a:p>
            <a:r>
              <a:rPr lang="en-US"/>
              <a:t>- experiments/s4/Overall_Comparison.md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Live demo: verify the coupon mutant</a:t>
            </a:r>
          </a:p>
          <a:p>
            <a:r>
              <a:rPr lang="en-US"/>
              <a:t>Use docs/Demo_Script.md as the operator runbook. Its isolated demo revision is 52ed6ac7c341b4e907ab341aaff03aeededb2f5d with production matching 806ba19. Start in backend after npm ci. Run npm run test:coupons and npm run mutate:coupons. Inspect reports/coupons/mutation.html and match line 474 plus replacement max_uses_per_user &amp;&amp; 1. Run npx jest --config jest.coupons.manual.config.cjs --runInBand, then npx stryker run stryker.coupons.manual.config.json. For AI use the matching ai configs from the runbook. Show the stored candidate and review it, without presenting it as fresh independent generation. Prepare reports in advance because full mutation may exceed the live demo slot. The supplied video link is a fallback, with access checked by presenters before class.</a:t>
            </a:r>
          </a:p>
          <a:p>
            <a:r>
              <a:rPr lang="en-US"/>
              <a:t>Sources:</a:t>
            </a:r>
          </a:p>
          <a:p>
            <a:r>
              <a:rPr lang="en-US"/>
              <a:t>- docs/Demo_Script.md</a:t>
            </a:r>
          </a:p>
          <a:p>
            <a:r>
              <a:rPr lang="en-US"/>
              <a:t>- draft/Demo_Video_Link.md</a:t>
            </a:r>
          </a:p>
          <a:p>
            <a:r>
              <a:rPr lang="en-US"/>
              <a:t>- https://youtu.be/tVNW5gYQSiM</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Activity: Kill the Mutant</a:t>
            </a:r>
          </a:p>
          <a:p>
            <a:r>
              <a:rPr lang="en-US"/>
              <a:t>Use draft/Activity_Worksheet.md unchanged as the audience handout. Its workshop starter is eshop-sut-workshop at 6d2e790be54193d44f7e401c59dbdf8283a3f42d. This is the activity environment, distinct from the joint experiment universe. The worksheet records five survivors of the 36-test Cart baseline. Fixture variables are empty, cart, reread, history and canceled. Two distinct items have different prices and quantities, the current user has an order, and a second user has a separate order. Avoid revealing the assertions on slides before the audience writes them. Follow the worksheet policy of no AI during the scored writing round. AI can be discussed after scoring. Teams submit one response sheet with peer comments and the minute paper requested by the template.</a:t>
            </a:r>
          </a:p>
          <a:p>
            <a:r>
              <a:rPr lang="en-US"/>
              <a:t>Sources:</a:t>
            </a:r>
          </a:p>
          <a:p>
            <a:r>
              <a:rPr lang="en-US"/>
              <a:t>- draft/Activity_Worksheet.md</a:t>
            </a:r>
          </a:p>
          <a:p>
            <a:r>
              <a:rPr lang="en-US"/>
              <a:t>- https://github.com/tkob-team/eshop-sut-workshop/tree/6d2e790be54193d44f7e401c59dbdf8283a3f42d</a:t>
            </a:r>
          </a:p>
          <a:p>
            <a:r>
              <a:rPr lang="en-US"/>
              <a:t>- D:\Workspace\1. Study\courses-fit-hcmus\2026-2027\csc13003-testing\seminar\documents\(Sample-NeedtobeUpdatedby Seminar Group) T10_Mutation_Testing_and_Test_Effectiveness_InClass.pptx</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Activity steps and scoring</a:t>
            </a:r>
          </a:p>
          <a:p>
            <a:r>
              <a:rPr lang="en-US"/>
              <a:t>The user-approved product limit is 20 minutes and matches the current audience worksheet. Peer reviewers check that variables exist, expectations follow the rule and the candidate observes the changed behavior. If a team submits pseudocode, show its Jest translation for the team to confirm before running. Award at most one point for each target case, for a maximum of five. A timeout, setup error or invalid expectation is not an assertion kill. One assertion catching multiple mutants does not automatically fill unanswered cases. Tied teams share the ranking. Collect the response sheet and one minute paper per team. Do not record results until the actual activity run.</a:t>
            </a:r>
          </a:p>
          <a:p>
            <a:r>
              <a:rPr lang="en-US"/>
              <a:t>Sources:</a:t>
            </a:r>
          </a:p>
          <a:p>
            <a:r>
              <a:rPr lang="en-US"/>
              <a:t>- draft/Activity_Worksheet.md, Rules and Workflow</a:t>
            </a:r>
          </a:p>
          <a:p>
            <a:r>
              <a:rPr lang="en-US"/>
              <a:t>- docs/requirements/Seminar_Requirements_Consolidated.md, REQ-22 and REQ-25</a:t>
            </a:r>
          </a:p>
          <a:p>
            <a:r>
              <a:rPr lang="en-US"/>
              <a:t>- D:\Workspace\1. Study\courses-fit-hcmus\2026-2027\csc13003-testing\seminar\documents\(Sample-NeedtobeUpdatedby Seminar Group) T10_Mutation_Testing_and_Test_Effectiveness_InClass.pptx</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Takeaways and Q&amp;A</a:t>
            </a:r>
          </a:p>
          <a:p>
            <a:r>
              <a:rPr lang="en-US"/>
              <a:t>Close with the sequence of useful input, a justified oracle and execution evidence. Invite questions on remaining survivors, equivalent candidates, AI review and the gap between tool score and assertion sensitivity. The image and closing phrase are retained from the supplied deck. Further reading: Jia and Harman, An Analysis and Survey of the Development of Mutation Testing, IEEE Transactions on Software Engineering, 2011. Stryker technical documentation links are listed below. AI assistance for this revision: OpenAI Codex synthesized supplied evidence, organized content, wrote notes and authored the editable PPTX. This revision does not claim new SUT execution, personal member review, rehearsal, audience results or submission.</a:t>
            </a:r>
          </a:p>
          <a:p>
            <a:r>
              <a:rPr lang="en-US"/>
              <a:t>Sources:</a:t>
            </a:r>
          </a:p>
          <a:p>
            <a:r>
              <a:rPr lang="en-US"/>
              <a:t>- https://stryker-mutator.io/docs/mutation-testing-elements/mutant-states-and-metrics/</a:t>
            </a:r>
          </a:p>
          <a:p>
            <a:r>
              <a:rPr lang="en-US"/>
              <a:t>- https://stryker-mutator.io/docs/mutation-testing-elements/equivalent-mutants/</a:t>
            </a:r>
          </a:p>
          <a:p>
            <a:r>
              <a:rPr lang="en-US"/>
              <a:t>- draft/Seminar_Report.md</a:t>
            </a:r>
          </a:p>
          <a:p>
            <a:r>
              <a:rPr lang="en-US"/>
              <a:t>- draft/User_Guide.md</a:t>
            </a:r>
          </a:p>
          <a:p>
            <a:r>
              <a:rPr lang="en-US"/>
              <a:t>- draft/Activity_Worksheet.md</a:t>
            </a:r>
          </a:p>
          <a:p>
            <a:r>
              <a:rPr lang="en-US"/>
              <a:t>- draft/T10_Mutation_Testing_Slides.pptx</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2.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4.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5.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6.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7.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6172200" cy="10287000"/>
            <a:chOff x="0" y="0"/>
            <a:chExt cx="8229600" cy="13716000"/>
          </a:xfrm>
        </p:grpSpPr>
        <p:sp>
          <p:nvSpPr>
            <p:cNvPr name="Freeform 3" id="3"/>
            <p:cNvSpPr/>
            <p:nvPr/>
          </p:nvSpPr>
          <p:spPr>
            <a:xfrm flipH="false" flipV="false" rot="0">
              <a:off x="0" y="0"/>
              <a:ext cx="8229600" cy="13716000"/>
            </a:xfrm>
            <a:custGeom>
              <a:avLst/>
              <a:gdLst/>
              <a:ahLst/>
              <a:cxnLst/>
              <a:rect r="r" b="b" t="t" l="l"/>
              <a:pathLst>
                <a:path h="13716000" w="8229600">
                  <a:moveTo>
                    <a:pt x="0" y="0"/>
                  </a:moveTo>
                  <a:lnTo>
                    <a:pt x="8229600" y="0"/>
                  </a:lnTo>
                  <a:lnTo>
                    <a:pt x="8229600" y="13716000"/>
                  </a:lnTo>
                  <a:lnTo>
                    <a:pt x="0" y="13716000"/>
                  </a:lnTo>
                  <a:close/>
                </a:path>
              </a:pathLst>
            </a:custGeom>
            <a:solidFill>
              <a:srgbClr val="1F4E79"/>
            </a:solidFill>
          </p:spPr>
        </p:sp>
      </p:grpSp>
      <p:sp>
        <p:nvSpPr>
          <p:cNvPr name="TextBox 4" id="4"/>
          <p:cNvSpPr txBox="true"/>
          <p:nvPr/>
        </p:nvSpPr>
        <p:spPr>
          <a:xfrm rot="0">
            <a:off x="621792" y="1389507"/>
            <a:ext cx="3539371" cy="2524125"/>
          </a:xfrm>
          <a:prstGeom prst="rect">
            <a:avLst/>
          </a:prstGeom>
        </p:spPr>
        <p:txBody>
          <a:bodyPr anchor="t" rtlCol="false" tIns="0" lIns="0" bIns="0" rIns="0">
            <a:spAutoFit/>
          </a:bodyPr>
          <a:lstStyle/>
          <a:p>
            <a:pPr algn="l">
              <a:lnSpc>
                <a:spcPts val="19800"/>
              </a:lnSpc>
            </a:pPr>
            <a:r>
              <a:rPr lang="en-US" sz="16500" b="true">
                <a:solidFill>
                  <a:srgbClr val="FFFFFF"/>
                </a:solidFill>
                <a:latin typeface="Montserrat Bold"/>
                <a:ea typeface="Montserrat Bold"/>
                <a:cs typeface="Montserrat Bold"/>
                <a:sym typeface="Montserrat Bold"/>
              </a:rPr>
              <a:t>T10</a:t>
            </a:r>
          </a:p>
        </p:txBody>
      </p:sp>
      <p:sp>
        <p:nvSpPr>
          <p:cNvPr name="TextBox 5" id="5"/>
          <p:cNvSpPr txBox="true"/>
          <p:nvPr/>
        </p:nvSpPr>
        <p:spPr>
          <a:xfrm rot="0">
            <a:off x="548640" y="4114800"/>
            <a:ext cx="5349240" cy="1028700"/>
          </a:xfrm>
          <a:prstGeom prst="rect">
            <a:avLst/>
          </a:prstGeom>
        </p:spPr>
        <p:txBody>
          <a:bodyPr anchor="t" rtlCol="false" tIns="0" lIns="0" bIns="0" rIns="0">
            <a:spAutoFit/>
          </a:bodyPr>
          <a:lstStyle/>
          <a:p>
            <a:pPr algn="l">
              <a:lnSpc>
                <a:spcPts val="4050"/>
              </a:lnSpc>
            </a:pPr>
            <a:r>
              <a:rPr lang="en-US" sz="3375">
                <a:solidFill>
                  <a:srgbClr val="FFFFFF"/>
                </a:solidFill>
                <a:latin typeface="Montserrat"/>
                <a:ea typeface="Montserrat"/>
                <a:cs typeface="Montserrat"/>
                <a:sym typeface="Montserrat"/>
              </a:rPr>
              <a:t>Group 12</a:t>
            </a:r>
          </a:p>
          <a:p>
            <a:pPr algn="l">
              <a:lnSpc>
                <a:spcPts val="4050"/>
              </a:lnSpc>
            </a:pPr>
            <a:r>
              <a:rPr lang="en-US" sz="3375">
                <a:solidFill>
                  <a:srgbClr val="FFFFFF"/>
                </a:solidFill>
                <a:latin typeface="Montserrat"/>
                <a:ea typeface="Montserrat"/>
                <a:cs typeface="Montserrat"/>
                <a:sym typeface="Montserrat"/>
              </a:rPr>
              <a:t>EShop Case Study</a:t>
            </a:r>
          </a:p>
        </p:txBody>
      </p:sp>
      <p:sp>
        <p:nvSpPr>
          <p:cNvPr name="TextBox 6" id="6"/>
          <p:cNvSpPr txBox="true"/>
          <p:nvPr/>
        </p:nvSpPr>
        <p:spPr>
          <a:xfrm rot="0">
            <a:off x="548640" y="8915400"/>
            <a:ext cx="5349240" cy="609600"/>
          </a:xfrm>
          <a:prstGeom prst="rect">
            <a:avLst/>
          </a:prstGeom>
        </p:spPr>
        <p:txBody>
          <a:bodyPr anchor="t" rtlCol="false" tIns="0" lIns="0" bIns="0" rIns="0">
            <a:spAutoFit/>
          </a:bodyPr>
          <a:lstStyle/>
          <a:p>
            <a:pPr algn="l">
              <a:lnSpc>
                <a:spcPts val="2430"/>
              </a:lnSpc>
            </a:pPr>
            <a:r>
              <a:rPr lang="en-US" sz="2025" i="true">
                <a:solidFill>
                  <a:srgbClr val="FFFFFF"/>
                </a:solidFill>
                <a:latin typeface="Montserrat Italics"/>
                <a:ea typeface="Montserrat Italics"/>
                <a:cs typeface="Montserrat Italics"/>
                <a:sym typeface="Montserrat Italics"/>
              </a:rPr>
              <a:t>2026 AI-First</a:t>
            </a:r>
          </a:p>
          <a:p>
            <a:pPr algn="l">
              <a:lnSpc>
                <a:spcPts val="2430"/>
              </a:lnSpc>
            </a:pPr>
            <a:r>
              <a:rPr lang="en-US" sz="2025" i="true">
                <a:solidFill>
                  <a:srgbClr val="FFFFFF"/>
                </a:solidFill>
                <a:latin typeface="Montserrat Italics"/>
                <a:ea typeface="Montserrat Italics"/>
                <a:cs typeface="Montserrat Italics"/>
                <a:sym typeface="Montserrat Italics"/>
              </a:rPr>
              <a:t>CS423/CSC13003</a:t>
            </a:r>
          </a:p>
        </p:txBody>
      </p:sp>
      <p:sp>
        <p:nvSpPr>
          <p:cNvPr name="TextBox 7" id="7"/>
          <p:cNvSpPr txBox="true"/>
          <p:nvPr/>
        </p:nvSpPr>
        <p:spPr>
          <a:xfrm rot="0">
            <a:off x="6858000" y="1087755"/>
            <a:ext cx="7637264" cy="352425"/>
          </a:xfrm>
          <a:prstGeom prst="rect">
            <a:avLst/>
          </a:prstGeom>
        </p:spPr>
        <p:txBody>
          <a:bodyPr anchor="t" rtlCol="false" tIns="0" lIns="0" bIns="0" rIns="0">
            <a:spAutoFit/>
          </a:bodyPr>
          <a:lstStyle/>
          <a:p>
            <a:pPr algn="l">
              <a:lnSpc>
                <a:spcPts val="2700"/>
              </a:lnSpc>
            </a:pPr>
            <a:r>
              <a:rPr lang="en-US" sz="2250" i="true">
                <a:solidFill>
                  <a:srgbClr val="000000"/>
                </a:solidFill>
                <a:latin typeface="Montserrat Italics"/>
                <a:ea typeface="Montserrat Italics"/>
                <a:cs typeface="Montserrat Italics"/>
                <a:sym typeface="Montserrat Italics"/>
              </a:rPr>
              <a:t>FIT @ HCMUS - Department of Software Engineering</a:t>
            </a:r>
          </a:p>
        </p:txBody>
      </p:sp>
      <p:sp>
        <p:nvSpPr>
          <p:cNvPr name="TextBox 8" id="8"/>
          <p:cNvSpPr txBox="true"/>
          <p:nvPr/>
        </p:nvSpPr>
        <p:spPr>
          <a:xfrm rot="0">
            <a:off x="6858000" y="2194560"/>
            <a:ext cx="10972800" cy="1504950"/>
          </a:xfrm>
          <a:prstGeom prst="rect">
            <a:avLst/>
          </a:prstGeom>
        </p:spPr>
        <p:txBody>
          <a:bodyPr anchor="t" rtlCol="false" tIns="0" lIns="0" bIns="0" rIns="0">
            <a:spAutoFit/>
          </a:bodyPr>
          <a:lstStyle/>
          <a:p>
            <a:pPr algn="l">
              <a:lnSpc>
                <a:spcPts val="5940"/>
              </a:lnSpc>
            </a:pPr>
            <a:r>
              <a:rPr lang="en-US" b="true" sz="4950">
                <a:solidFill>
                  <a:srgbClr val="000000"/>
                </a:solidFill>
                <a:latin typeface="Montserrat Bold"/>
                <a:ea typeface="Montserrat Bold"/>
                <a:cs typeface="Montserrat Bold"/>
                <a:sym typeface="Montserrat Bold"/>
              </a:rPr>
              <a:t>Mutation Testing &amp;</a:t>
            </a:r>
          </a:p>
          <a:p>
            <a:pPr algn="l">
              <a:lnSpc>
                <a:spcPts val="5940"/>
              </a:lnSpc>
            </a:pPr>
            <a:r>
              <a:rPr lang="en-US" b="true" sz="4950">
                <a:solidFill>
                  <a:srgbClr val="000000"/>
                </a:solidFill>
                <a:latin typeface="Montserrat Bold"/>
                <a:ea typeface="Montserrat Bold"/>
                <a:cs typeface="Montserrat Bold"/>
                <a:sym typeface="Montserrat Bold"/>
              </a:rPr>
              <a:t>Test Effectiveness</a:t>
            </a:r>
          </a:p>
        </p:txBody>
      </p:sp>
      <p:sp>
        <p:nvSpPr>
          <p:cNvPr name="TextBox 9" id="9"/>
          <p:cNvSpPr txBox="true"/>
          <p:nvPr/>
        </p:nvSpPr>
        <p:spPr>
          <a:xfrm rot="0">
            <a:off x="6858000" y="4800600"/>
            <a:ext cx="10972800" cy="914400"/>
          </a:xfrm>
          <a:prstGeom prst="rect">
            <a:avLst/>
          </a:prstGeom>
        </p:spPr>
        <p:txBody>
          <a:bodyPr anchor="t" rtlCol="false" tIns="0" lIns="0" bIns="0" rIns="0">
            <a:spAutoFit/>
          </a:bodyPr>
          <a:lstStyle/>
          <a:p>
            <a:pPr algn="l">
              <a:lnSpc>
                <a:spcPts val="3644"/>
              </a:lnSpc>
            </a:pPr>
            <a:r>
              <a:rPr lang="en-US" sz="3037" i="true">
                <a:solidFill>
                  <a:srgbClr val="000000"/>
                </a:solidFill>
                <a:latin typeface="Montserrat Italics"/>
                <a:ea typeface="Montserrat Italics"/>
                <a:cs typeface="Montserrat Italics"/>
                <a:sym typeface="Montserrat Italics"/>
              </a:rPr>
              <a:t>Can our tests detect a wrong result?</a:t>
            </a:r>
          </a:p>
          <a:p>
            <a:pPr algn="l">
              <a:lnSpc>
                <a:spcPts val="3644"/>
              </a:lnSpc>
            </a:pPr>
            <a:r>
              <a:rPr lang="en-US" sz="3037" i="true">
                <a:solidFill>
                  <a:srgbClr val="000000"/>
                </a:solidFill>
                <a:latin typeface="Montserrat Italics"/>
                <a:ea typeface="Montserrat Italics"/>
                <a:cs typeface="Montserrat Italics"/>
                <a:sym typeface="Montserrat Italics"/>
              </a:rPr>
              <a:t>StrykerJS, reviewed assertions and real EShop mutants</a:t>
            </a:r>
          </a:p>
        </p:txBody>
      </p:sp>
      <p:grpSp>
        <p:nvGrpSpPr>
          <p:cNvPr name="Group 10" id="10"/>
          <p:cNvGrpSpPr/>
          <p:nvPr/>
        </p:nvGrpSpPr>
        <p:grpSpPr>
          <a:xfrm rot="0">
            <a:off x="6858000" y="7132320"/>
            <a:ext cx="10972800" cy="1508760"/>
            <a:chOff x="0" y="0"/>
            <a:chExt cx="14630400" cy="2011680"/>
          </a:xfrm>
        </p:grpSpPr>
        <p:sp>
          <p:nvSpPr>
            <p:cNvPr name="Freeform 11" id="11"/>
            <p:cNvSpPr/>
            <p:nvPr/>
          </p:nvSpPr>
          <p:spPr>
            <a:xfrm flipH="false" flipV="false" rot="0">
              <a:off x="0" y="0"/>
              <a:ext cx="14630400" cy="2011680"/>
            </a:xfrm>
            <a:custGeom>
              <a:avLst/>
              <a:gdLst/>
              <a:ahLst/>
              <a:cxnLst/>
              <a:rect r="r" b="b" t="t" l="l"/>
              <a:pathLst>
                <a:path h="2011680" w="14630400">
                  <a:moveTo>
                    <a:pt x="0" y="0"/>
                  </a:moveTo>
                  <a:lnTo>
                    <a:pt x="14630400" y="0"/>
                  </a:lnTo>
                  <a:lnTo>
                    <a:pt x="14630400" y="2011680"/>
                  </a:lnTo>
                  <a:lnTo>
                    <a:pt x="0" y="2011680"/>
                  </a:lnTo>
                  <a:close/>
                </a:path>
              </a:pathLst>
            </a:custGeom>
            <a:solidFill>
              <a:srgbClr val="D9E1F2"/>
            </a:solidFill>
          </p:spPr>
        </p:sp>
      </p:grpSp>
      <p:grpSp>
        <p:nvGrpSpPr>
          <p:cNvPr name="Group 12" id="12"/>
          <p:cNvGrpSpPr/>
          <p:nvPr/>
        </p:nvGrpSpPr>
        <p:grpSpPr>
          <a:xfrm rot="0">
            <a:off x="6858000" y="7132320"/>
            <a:ext cx="10972800" cy="1463040"/>
            <a:chOff x="0" y="0"/>
            <a:chExt cx="14630400" cy="1950720"/>
          </a:xfrm>
        </p:grpSpPr>
        <p:sp>
          <p:nvSpPr>
            <p:cNvPr name="Freeform 13" id="13"/>
            <p:cNvSpPr/>
            <p:nvPr/>
          </p:nvSpPr>
          <p:spPr>
            <a:xfrm flipH="false" flipV="false" rot="0">
              <a:off x="0" y="0"/>
              <a:ext cx="14630400" cy="1950720"/>
            </a:xfrm>
            <a:custGeom>
              <a:avLst/>
              <a:gdLst/>
              <a:ahLst/>
              <a:cxnLst/>
              <a:rect r="r" b="b" t="t" l="l"/>
              <a:pathLst>
                <a:path h="1950720" w="14630400">
                  <a:moveTo>
                    <a:pt x="0" y="0"/>
                  </a:moveTo>
                  <a:lnTo>
                    <a:pt x="14630400" y="0"/>
                  </a:lnTo>
                  <a:lnTo>
                    <a:pt x="14630400" y="1950720"/>
                  </a:lnTo>
                  <a:lnTo>
                    <a:pt x="0" y="1950720"/>
                  </a:lnTo>
                  <a:close/>
                </a:path>
              </a:pathLst>
            </a:custGeom>
            <a:blipFill>
              <a:blip r:embed="rId3">
                <a:alphaModFix amt="0"/>
              </a:blip>
              <a:stretch>
                <a:fillRect l="0" t="-96137" r="0" b="-96137"/>
              </a:stretch>
            </a:blipFill>
          </p:spPr>
        </p:sp>
        <p:sp>
          <p:nvSpPr>
            <p:cNvPr name="TextBox 14" id="14"/>
            <p:cNvSpPr txBox="true"/>
            <p:nvPr/>
          </p:nvSpPr>
          <p:spPr>
            <a:xfrm>
              <a:off x="0" y="0"/>
              <a:ext cx="14630400" cy="1950720"/>
            </a:xfrm>
            <a:prstGeom prst="rect">
              <a:avLst/>
            </a:prstGeom>
          </p:spPr>
          <p:txBody>
            <a:bodyPr anchor="ctr" rtlCol="false" tIns="0" lIns="0" bIns="0" rIns="0"/>
            <a:lstStyle/>
            <a:p>
              <a:pPr algn="ctr">
                <a:lnSpc>
                  <a:spcPts val="3240"/>
                </a:lnSpc>
              </a:pPr>
              <a:r>
                <a:rPr lang="en-US" b="true" sz="2700">
                  <a:solidFill>
                    <a:srgbClr val="000000"/>
                  </a:solidFill>
                  <a:latin typeface="Montserrat Bold"/>
                  <a:ea typeface="Montserrat Bold"/>
                  <a:cs typeface="Montserrat Bold"/>
                  <a:sym typeface="Montserrat Bold"/>
                </a:rPr>
                <a:t>23120255 - Lê Tấn Hiệp</a:t>
              </a:r>
            </a:p>
            <a:p>
              <a:pPr algn="ctr">
                <a:lnSpc>
                  <a:spcPts val="3240"/>
                </a:lnSpc>
              </a:pPr>
              <a:r>
                <a:rPr lang="en-US" b="true" sz="2700">
                  <a:solidFill>
                    <a:srgbClr val="000000"/>
                  </a:solidFill>
                  <a:latin typeface="Montserrat Bold"/>
                  <a:ea typeface="Montserrat Bold"/>
                  <a:cs typeface="Montserrat Bold"/>
                  <a:sym typeface="Montserrat Bold"/>
                </a:rPr>
                <a:t>23120262 - Tống Dương Thái Hòa</a:t>
              </a:r>
            </a:p>
            <a:p>
              <a:pPr algn="ctr">
                <a:lnSpc>
                  <a:spcPts val="3240"/>
                </a:lnSpc>
              </a:pPr>
              <a:r>
                <a:rPr lang="en-US" b="true" sz="2700">
                  <a:solidFill>
                    <a:srgbClr val="000000"/>
                  </a:solidFill>
                  <a:latin typeface="Montserrat Bold"/>
                  <a:ea typeface="Montserrat Bold"/>
                  <a:cs typeface="Montserrat Bold"/>
                  <a:sym typeface="Montserrat Bold"/>
                </a:rPr>
                <a:t>23120264 - Nguyễn Phúc Hoàng</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7543" cy="246888"/>
            <a:chOff x="0" y="0"/>
            <a:chExt cx="24383390" cy="329184"/>
          </a:xfrm>
        </p:grpSpPr>
        <p:sp>
          <p:nvSpPr>
            <p:cNvPr name="Freeform 3" id="3"/>
            <p:cNvSpPr/>
            <p:nvPr/>
          </p:nvSpPr>
          <p:spPr>
            <a:xfrm flipH="false" flipV="false" rot="0">
              <a:off x="0" y="0"/>
              <a:ext cx="24383364" cy="329184"/>
            </a:xfrm>
            <a:custGeom>
              <a:avLst/>
              <a:gdLst/>
              <a:ahLst/>
              <a:cxnLst/>
              <a:rect r="r" b="b" t="t" l="l"/>
              <a:pathLst>
                <a:path h="329184" w="24383364">
                  <a:moveTo>
                    <a:pt x="0" y="0"/>
                  </a:moveTo>
                  <a:lnTo>
                    <a:pt x="24383364" y="0"/>
                  </a:lnTo>
                  <a:lnTo>
                    <a:pt x="24383364" y="329184"/>
                  </a:lnTo>
                  <a:lnTo>
                    <a:pt x="0" y="329184"/>
                  </a:lnTo>
                  <a:close/>
                </a:path>
              </a:pathLst>
            </a:custGeom>
            <a:solidFill>
              <a:srgbClr val="1F4E79"/>
            </a:solidFill>
          </p:spPr>
        </p:sp>
      </p:grpSp>
      <p:sp>
        <p:nvSpPr>
          <p:cNvPr name="TextBox 4" id="4"/>
          <p:cNvSpPr txBox="true"/>
          <p:nvPr/>
        </p:nvSpPr>
        <p:spPr>
          <a:xfrm rot="0">
            <a:off x="548640" y="301752"/>
            <a:ext cx="7910512" cy="266700"/>
          </a:xfrm>
          <a:prstGeom prst="rect">
            <a:avLst/>
          </a:prstGeom>
        </p:spPr>
        <p:txBody>
          <a:bodyPr anchor="t" rtlCol="false" tIns="0" lIns="0" bIns="0" rIns="0">
            <a:spAutoFit/>
          </a:bodyPr>
          <a:lstStyle/>
          <a:p>
            <a:pPr algn="l">
              <a:lnSpc>
                <a:spcPts val="2160"/>
              </a:lnSpc>
            </a:pPr>
            <a:r>
              <a:rPr lang="en-US" b="true" sz="1800">
                <a:solidFill>
                  <a:srgbClr val="000000"/>
                </a:solidFill>
                <a:latin typeface="Montserrat Bold"/>
                <a:ea typeface="Montserrat Bold"/>
                <a:cs typeface="Montserrat Bold"/>
                <a:sym typeface="Montserrat Bold"/>
              </a:rPr>
              <a:t>2026 AI-First - Seminar T10 - Mutation Testing &amp; Test Effectiveness</a:t>
            </a:r>
          </a:p>
        </p:txBody>
      </p:sp>
      <p:sp>
        <p:nvSpPr>
          <p:cNvPr name="TextBox 5" id="5"/>
          <p:cNvSpPr txBox="true"/>
          <p:nvPr/>
        </p:nvSpPr>
        <p:spPr>
          <a:xfrm rot="0">
            <a:off x="548640" y="822960"/>
            <a:ext cx="17282160" cy="752475"/>
          </a:xfrm>
          <a:prstGeom prst="rect">
            <a:avLst/>
          </a:prstGeom>
        </p:spPr>
        <p:txBody>
          <a:bodyPr anchor="t" rtlCol="false" tIns="0" lIns="0" bIns="0" rIns="0">
            <a:spAutoFit/>
          </a:bodyPr>
          <a:lstStyle/>
          <a:p>
            <a:pPr algn="l">
              <a:lnSpc>
                <a:spcPts val="5940"/>
              </a:lnSpc>
            </a:pPr>
            <a:r>
              <a:rPr lang="en-US" b="true" sz="4950">
                <a:solidFill>
                  <a:srgbClr val="000000"/>
                </a:solidFill>
                <a:latin typeface="Montserrat Bold"/>
                <a:ea typeface="Montserrat Bold"/>
                <a:cs typeface="Montserrat Bold"/>
                <a:sym typeface="Montserrat Bold"/>
              </a:rPr>
              <a:t>Passing tests and test effectiveness</a:t>
            </a:r>
          </a:p>
        </p:txBody>
      </p:sp>
      <p:grpSp>
        <p:nvGrpSpPr>
          <p:cNvPr name="Group 6" id="6"/>
          <p:cNvGrpSpPr/>
          <p:nvPr/>
        </p:nvGrpSpPr>
        <p:grpSpPr>
          <a:xfrm rot="0">
            <a:off x="0" y="9848088"/>
            <a:ext cx="18287543" cy="438912"/>
            <a:chOff x="0" y="0"/>
            <a:chExt cx="24383390" cy="585216"/>
          </a:xfrm>
        </p:grpSpPr>
        <p:sp>
          <p:nvSpPr>
            <p:cNvPr name="Freeform 7" id="7"/>
            <p:cNvSpPr/>
            <p:nvPr/>
          </p:nvSpPr>
          <p:spPr>
            <a:xfrm flipH="false" flipV="false" rot="0">
              <a:off x="0" y="0"/>
              <a:ext cx="24383364" cy="585216"/>
            </a:xfrm>
            <a:custGeom>
              <a:avLst/>
              <a:gdLst/>
              <a:ahLst/>
              <a:cxnLst/>
              <a:rect r="r" b="b" t="t" l="l"/>
              <a:pathLst>
                <a:path h="585216" w="24383364">
                  <a:moveTo>
                    <a:pt x="0" y="0"/>
                  </a:moveTo>
                  <a:lnTo>
                    <a:pt x="24383364" y="0"/>
                  </a:lnTo>
                  <a:lnTo>
                    <a:pt x="24383364" y="585216"/>
                  </a:lnTo>
                  <a:lnTo>
                    <a:pt x="0" y="585216"/>
                  </a:lnTo>
                  <a:close/>
                </a:path>
              </a:pathLst>
            </a:custGeom>
            <a:solidFill>
              <a:srgbClr val="1F4E79"/>
            </a:solidFill>
          </p:spPr>
        </p:sp>
      </p:grpSp>
      <p:sp>
        <p:nvSpPr>
          <p:cNvPr name="TextBox 8" id="8"/>
          <p:cNvSpPr txBox="true"/>
          <p:nvPr/>
        </p:nvSpPr>
        <p:spPr>
          <a:xfrm rot="0">
            <a:off x="548640" y="9938956"/>
            <a:ext cx="2698194" cy="257175"/>
          </a:xfrm>
          <a:prstGeom prst="rect">
            <a:avLst/>
          </a:prstGeom>
        </p:spPr>
        <p:txBody>
          <a:bodyPr anchor="t" rtlCol="false" tIns="0" lIns="0" bIns="0" rIns="0">
            <a:spAutoFit/>
          </a:bodyPr>
          <a:lstStyle/>
          <a:p>
            <a:pPr algn="l">
              <a:lnSpc>
                <a:spcPts val="2025"/>
              </a:lnSpc>
            </a:pPr>
            <a:r>
              <a:rPr lang="en-US" sz="1687" b="true">
                <a:solidFill>
                  <a:srgbClr val="FFFFFF"/>
                </a:solidFill>
                <a:latin typeface="Montserrat Bold"/>
                <a:ea typeface="Montserrat Bold"/>
                <a:cs typeface="Montserrat Bold"/>
                <a:sym typeface="Montserrat Bold"/>
              </a:rPr>
              <a:t>2 / 15 - Why this matters</a:t>
            </a:r>
          </a:p>
        </p:txBody>
      </p:sp>
      <p:grpSp>
        <p:nvGrpSpPr>
          <p:cNvPr name="Group 9" id="9"/>
          <p:cNvGrpSpPr/>
          <p:nvPr/>
        </p:nvGrpSpPr>
        <p:grpSpPr>
          <a:xfrm rot="0">
            <a:off x="685800" y="2214562"/>
            <a:ext cx="11801475" cy="657225"/>
            <a:chOff x="0" y="0"/>
            <a:chExt cx="15735300" cy="876300"/>
          </a:xfrm>
        </p:grpSpPr>
        <p:sp>
          <p:nvSpPr>
            <p:cNvPr name="Freeform 10" id="10"/>
            <p:cNvSpPr/>
            <p:nvPr/>
          </p:nvSpPr>
          <p:spPr>
            <a:xfrm flipH="false" flipV="false" rot="0">
              <a:off x="0" y="0"/>
              <a:ext cx="15735300" cy="876300"/>
            </a:xfrm>
            <a:custGeom>
              <a:avLst/>
              <a:gdLst/>
              <a:ahLst/>
              <a:cxnLst/>
              <a:rect r="r" b="b" t="t" l="l"/>
              <a:pathLst>
                <a:path h="876300" w="15735300">
                  <a:moveTo>
                    <a:pt x="0" y="0"/>
                  </a:moveTo>
                  <a:lnTo>
                    <a:pt x="15735300" y="0"/>
                  </a:lnTo>
                  <a:lnTo>
                    <a:pt x="15735300" y="876300"/>
                  </a:lnTo>
                  <a:lnTo>
                    <a:pt x="0" y="876300"/>
                  </a:lnTo>
                  <a:close/>
                </a:path>
              </a:pathLst>
            </a:custGeom>
            <a:solidFill>
              <a:srgbClr val="1F4E79"/>
            </a:solidFill>
          </p:spPr>
        </p:sp>
      </p:grpSp>
      <p:sp>
        <p:nvSpPr>
          <p:cNvPr name="TextBox 11" id="11"/>
          <p:cNvSpPr txBox="true"/>
          <p:nvPr/>
        </p:nvSpPr>
        <p:spPr>
          <a:xfrm rot="0">
            <a:off x="1807964" y="2314575"/>
            <a:ext cx="9557147" cy="457200"/>
          </a:xfrm>
          <a:prstGeom prst="rect">
            <a:avLst/>
          </a:prstGeom>
        </p:spPr>
        <p:txBody>
          <a:bodyPr anchor="t" rtlCol="false" tIns="0" lIns="0" bIns="0" rIns="0">
            <a:spAutoFit/>
          </a:bodyPr>
          <a:lstStyle/>
          <a:p>
            <a:pPr algn="l">
              <a:lnSpc>
                <a:spcPts val="3644"/>
              </a:lnSpc>
            </a:pPr>
            <a:r>
              <a:rPr lang="en-US" sz="3037" b="true">
                <a:solidFill>
                  <a:srgbClr val="FFFFFF"/>
                </a:solidFill>
                <a:latin typeface="Montserrat Bold"/>
                <a:ea typeface="Montserrat Bold"/>
                <a:cs typeface="Montserrat Bold"/>
                <a:sym typeface="Montserrat Bold"/>
              </a:rPr>
              <a:t>All tests pass. What have we actually checked?</a:t>
            </a:r>
          </a:p>
        </p:txBody>
      </p:sp>
      <p:sp>
        <p:nvSpPr>
          <p:cNvPr name="TextBox 12" id="12"/>
          <p:cNvSpPr txBox="true"/>
          <p:nvPr/>
        </p:nvSpPr>
        <p:spPr>
          <a:xfrm rot="0">
            <a:off x="828675" y="3157538"/>
            <a:ext cx="11430000" cy="1028700"/>
          </a:xfrm>
          <a:prstGeom prst="rect">
            <a:avLst/>
          </a:prstGeom>
        </p:spPr>
        <p:txBody>
          <a:bodyPr anchor="t" rtlCol="false" tIns="0" lIns="0" bIns="0" rIns="0">
            <a:spAutoFit/>
          </a:bodyPr>
          <a:lstStyle/>
          <a:p>
            <a:pPr algn="l">
              <a:lnSpc>
                <a:spcPts val="4050"/>
              </a:lnSpc>
            </a:pPr>
            <a:r>
              <a:rPr lang="en-US" sz="3375">
                <a:solidFill>
                  <a:srgbClr val="000000"/>
                </a:solidFill>
                <a:latin typeface="Montserrat"/>
                <a:ea typeface="Montserrat"/>
                <a:cs typeface="Montserrat"/>
                <a:sym typeface="Montserrat"/>
              </a:rPr>
              <a:t>Coverage records which code ran.</a:t>
            </a:r>
          </a:p>
          <a:p>
            <a:pPr algn="l">
              <a:lnSpc>
                <a:spcPts val="4050"/>
              </a:lnSpc>
            </a:pPr>
            <a:r>
              <a:rPr lang="en-US" sz="3375">
                <a:solidFill>
                  <a:srgbClr val="000000"/>
                </a:solidFill>
                <a:latin typeface="Montserrat"/>
                <a:ea typeface="Montserrat"/>
                <a:cs typeface="Montserrat"/>
                <a:sym typeface="Montserrat"/>
              </a:rPr>
              <a:t>Assertions decide whether the result is acceptable.</a:t>
            </a:r>
          </a:p>
        </p:txBody>
      </p:sp>
      <p:sp>
        <p:nvSpPr>
          <p:cNvPr name="TextBox 13" id="13"/>
          <p:cNvSpPr txBox="true"/>
          <p:nvPr/>
        </p:nvSpPr>
        <p:spPr>
          <a:xfrm rot="0">
            <a:off x="828675" y="4657725"/>
            <a:ext cx="11215688" cy="990600"/>
          </a:xfrm>
          <a:prstGeom prst="rect">
            <a:avLst/>
          </a:prstGeom>
        </p:spPr>
        <p:txBody>
          <a:bodyPr anchor="t" rtlCol="false" tIns="0" lIns="0" bIns="0" rIns="0">
            <a:spAutoFit/>
          </a:bodyPr>
          <a:lstStyle/>
          <a:p>
            <a:pPr algn="l">
              <a:lnSpc>
                <a:spcPts val="3915"/>
              </a:lnSpc>
            </a:pPr>
            <a:r>
              <a:rPr lang="en-US" sz="3262">
                <a:solidFill>
                  <a:srgbClr val="000000"/>
                </a:solidFill>
                <a:latin typeface="Montserrat"/>
                <a:ea typeface="Montserrat"/>
                <a:cs typeface="Montserrat"/>
                <a:sym typeface="Montserrat"/>
              </a:rPr>
              <a:t>A test that checks only HTTP 200 may miss an incorrect cart, discount or account state.</a:t>
            </a:r>
          </a:p>
        </p:txBody>
      </p:sp>
      <p:grpSp>
        <p:nvGrpSpPr>
          <p:cNvPr name="Group 14" id="14"/>
          <p:cNvGrpSpPr/>
          <p:nvPr/>
        </p:nvGrpSpPr>
        <p:grpSpPr>
          <a:xfrm rot="0">
            <a:off x="685800" y="6415088"/>
            <a:ext cx="11801475" cy="657225"/>
            <a:chOff x="0" y="0"/>
            <a:chExt cx="15735300" cy="876300"/>
          </a:xfrm>
        </p:grpSpPr>
        <p:sp>
          <p:nvSpPr>
            <p:cNvPr name="Freeform 15" id="15"/>
            <p:cNvSpPr/>
            <p:nvPr/>
          </p:nvSpPr>
          <p:spPr>
            <a:xfrm flipH="false" flipV="false" rot="0">
              <a:off x="0" y="0"/>
              <a:ext cx="15735300" cy="876300"/>
            </a:xfrm>
            <a:custGeom>
              <a:avLst/>
              <a:gdLst/>
              <a:ahLst/>
              <a:cxnLst/>
              <a:rect r="r" b="b" t="t" l="l"/>
              <a:pathLst>
                <a:path h="876300" w="15735300">
                  <a:moveTo>
                    <a:pt x="0" y="0"/>
                  </a:moveTo>
                  <a:lnTo>
                    <a:pt x="15735300" y="0"/>
                  </a:lnTo>
                  <a:lnTo>
                    <a:pt x="15735300" y="876300"/>
                  </a:lnTo>
                  <a:lnTo>
                    <a:pt x="0" y="876300"/>
                  </a:lnTo>
                  <a:close/>
                </a:path>
              </a:pathLst>
            </a:custGeom>
            <a:solidFill>
              <a:srgbClr val="1F4E79"/>
            </a:solidFill>
          </p:spPr>
        </p:sp>
      </p:grpSp>
      <p:sp>
        <p:nvSpPr>
          <p:cNvPr name="TextBox 16" id="16"/>
          <p:cNvSpPr txBox="true"/>
          <p:nvPr/>
        </p:nvSpPr>
        <p:spPr>
          <a:xfrm rot="0">
            <a:off x="885825" y="6515100"/>
            <a:ext cx="5176481" cy="457200"/>
          </a:xfrm>
          <a:prstGeom prst="rect">
            <a:avLst/>
          </a:prstGeom>
        </p:spPr>
        <p:txBody>
          <a:bodyPr anchor="t" rtlCol="false" tIns="0" lIns="0" bIns="0" rIns="0">
            <a:spAutoFit/>
          </a:bodyPr>
          <a:lstStyle/>
          <a:p>
            <a:pPr algn="l">
              <a:lnSpc>
                <a:spcPts val="3644"/>
              </a:lnSpc>
            </a:pPr>
            <a:r>
              <a:rPr lang="en-US" sz="3037" b="true">
                <a:solidFill>
                  <a:srgbClr val="FFFFFF"/>
                </a:solidFill>
                <a:latin typeface="Montserrat Bold"/>
                <a:ea typeface="Montserrat Bold"/>
                <a:cs typeface="Montserrat Bold"/>
                <a:sym typeface="Montserrat Bold"/>
              </a:rPr>
              <a:t>By the end of this session</a:t>
            </a:r>
          </a:p>
        </p:txBody>
      </p:sp>
      <p:sp>
        <p:nvSpPr>
          <p:cNvPr name="TextBox 17" id="17"/>
          <p:cNvSpPr txBox="true"/>
          <p:nvPr/>
        </p:nvSpPr>
        <p:spPr>
          <a:xfrm rot="0">
            <a:off x="857250" y="7358062"/>
            <a:ext cx="16430625" cy="1428750"/>
          </a:xfrm>
          <a:prstGeom prst="rect">
            <a:avLst/>
          </a:prstGeom>
        </p:spPr>
        <p:txBody>
          <a:bodyPr anchor="t" rtlCol="false" tIns="0" lIns="0" bIns="0" rIns="0">
            <a:spAutoFit/>
          </a:bodyPr>
          <a:lstStyle/>
          <a:p>
            <a:pPr algn="l">
              <a:lnSpc>
                <a:spcPts val="3779"/>
              </a:lnSpc>
            </a:pPr>
            <a:r>
              <a:rPr lang="en-US" sz="3150">
                <a:solidFill>
                  <a:srgbClr val="000000"/>
                </a:solidFill>
                <a:latin typeface="Montserrat"/>
                <a:ea typeface="Montserrat"/>
                <a:cs typeface="Montserrat"/>
                <a:sym typeface="Montserrat"/>
              </a:rPr>
              <a:t>1. Read mutant outcomes and the score denominator</a:t>
            </a:r>
          </a:p>
          <a:p>
            <a:pPr algn="l">
              <a:lnSpc>
                <a:spcPts val="3779"/>
              </a:lnSpc>
            </a:pPr>
            <a:r>
              <a:rPr lang="en-US" sz="3150">
                <a:solidFill>
                  <a:srgbClr val="000000"/>
                </a:solidFill>
                <a:latin typeface="Montserrat"/>
                <a:ea typeface="Montserrat"/>
                <a:cs typeface="Montserrat"/>
                <a:sym typeface="Montserrat"/>
              </a:rPr>
              <a:t>2. Explain survivors using inputs, observations and the specification</a:t>
            </a:r>
          </a:p>
          <a:p>
            <a:pPr algn="l">
              <a:lnSpc>
                <a:spcPts val="3779"/>
              </a:lnSpc>
            </a:pPr>
            <a:r>
              <a:rPr lang="en-US" sz="3150">
                <a:solidFill>
                  <a:srgbClr val="000000"/>
                </a:solidFill>
                <a:latin typeface="Montserrat"/>
                <a:ea typeface="Montserrat"/>
                <a:cs typeface="Montserrat"/>
                <a:sym typeface="Montserrat"/>
              </a:rPr>
              <a:t>3. Write and review assertions, then verify a target kill</a:t>
            </a:r>
          </a:p>
        </p:txBody>
      </p:sp>
      <p:grpSp>
        <p:nvGrpSpPr>
          <p:cNvPr name="Group 18" id="18"/>
          <p:cNvGrpSpPr/>
          <p:nvPr/>
        </p:nvGrpSpPr>
        <p:grpSpPr>
          <a:xfrm rot="0">
            <a:off x="13046223" y="2214562"/>
            <a:ext cx="3572641" cy="4857750"/>
            <a:chOff x="0" y="0"/>
            <a:chExt cx="4637427" cy="6305550"/>
          </a:xfrm>
        </p:grpSpPr>
        <p:sp>
          <p:nvSpPr>
            <p:cNvPr name="Freeform 19" id="19"/>
            <p:cNvSpPr/>
            <p:nvPr/>
          </p:nvSpPr>
          <p:spPr>
            <a:xfrm flipH="false" flipV="false" rot="0">
              <a:off x="0" y="0"/>
              <a:ext cx="4637466" cy="6305550"/>
            </a:xfrm>
            <a:custGeom>
              <a:avLst/>
              <a:gdLst/>
              <a:ahLst/>
              <a:cxnLst/>
              <a:rect r="r" b="b" t="t" l="l"/>
              <a:pathLst>
                <a:path h="6305550" w="4637466">
                  <a:moveTo>
                    <a:pt x="0" y="0"/>
                  </a:moveTo>
                  <a:lnTo>
                    <a:pt x="4637466" y="0"/>
                  </a:lnTo>
                  <a:lnTo>
                    <a:pt x="4637466" y="6305550"/>
                  </a:lnTo>
                  <a:lnTo>
                    <a:pt x="0" y="6305550"/>
                  </a:lnTo>
                  <a:lnTo>
                    <a:pt x="0" y="0"/>
                  </a:lnTo>
                  <a:close/>
                </a:path>
              </a:pathLst>
            </a:custGeom>
            <a:blipFill>
              <a:blip r:embed="rId3"/>
              <a:stretch>
                <a:fillRect l="-2877" t="0" r="-2876" b="0"/>
              </a:stretch>
            </a:blipFill>
          </p:spPr>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7571" cy="246888"/>
            <a:chOff x="0" y="0"/>
            <a:chExt cx="24383428" cy="329184"/>
          </a:xfrm>
        </p:grpSpPr>
        <p:sp>
          <p:nvSpPr>
            <p:cNvPr name="Freeform 3" id="3"/>
            <p:cNvSpPr/>
            <p:nvPr/>
          </p:nvSpPr>
          <p:spPr>
            <a:xfrm flipH="false" flipV="false" rot="0">
              <a:off x="0" y="0"/>
              <a:ext cx="24383364" cy="329184"/>
            </a:xfrm>
            <a:custGeom>
              <a:avLst/>
              <a:gdLst/>
              <a:ahLst/>
              <a:cxnLst/>
              <a:rect r="r" b="b" t="t" l="l"/>
              <a:pathLst>
                <a:path h="329184" w="24383364">
                  <a:moveTo>
                    <a:pt x="0" y="0"/>
                  </a:moveTo>
                  <a:lnTo>
                    <a:pt x="24383364" y="0"/>
                  </a:lnTo>
                  <a:lnTo>
                    <a:pt x="24383364" y="329184"/>
                  </a:lnTo>
                  <a:lnTo>
                    <a:pt x="0" y="329184"/>
                  </a:lnTo>
                  <a:close/>
                </a:path>
              </a:pathLst>
            </a:custGeom>
            <a:solidFill>
              <a:srgbClr val="1F4E79"/>
            </a:solidFill>
          </p:spPr>
        </p:sp>
      </p:grpSp>
      <p:grpSp>
        <p:nvGrpSpPr>
          <p:cNvPr name="Group 4" id="4"/>
          <p:cNvGrpSpPr/>
          <p:nvPr/>
        </p:nvGrpSpPr>
        <p:grpSpPr>
          <a:xfrm rot="0">
            <a:off x="0" y="9848088"/>
            <a:ext cx="18287571" cy="438912"/>
            <a:chOff x="0" y="0"/>
            <a:chExt cx="24383428" cy="585216"/>
          </a:xfrm>
        </p:grpSpPr>
        <p:sp>
          <p:nvSpPr>
            <p:cNvPr name="Freeform 5" id="5"/>
            <p:cNvSpPr/>
            <p:nvPr/>
          </p:nvSpPr>
          <p:spPr>
            <a:xfrm flipH="false" flipV="false" rot="0">
              <a:off x="0" y="0"/>
              <a:ext cx="24383364" cy="585216"/>
            </a:xfrm>
            <a:custGeom>
              <a:avLst/>
              <a:gdLst/>
              <a:ahLst/>
              <a:cxnLst/>
              <a:rect r="r" b="b" t="t" l="l"/>
              <a:pathLst>
                <a:path h="585216" w="24383364">
                  <a:moveTo>
                    <a:pt x="0" y="0"/>
                  </a:moveTo>
                  <a:lnTo>
                    <a:pt x="24383364" y="0"/>
                  </a:lnTo>
                  <a:lnTo>
                    <a:pt x="24383364" y="585216"/>
                  </a:lnTo>
                  <a:lnTo>
                    <a:pt x="0" y="585216"/>
                  </a:lnTo>
                  <a:close/>
                </a:path>
              </a:pathLst>
            </a:custGeom>
            <a:solidFill>
              <a:srgbClr val="1F4E79"/>
            </a:solidFill>
          </p:spPr>
        </p:sp>
      </p:grpSp>
      <p:sp>
        <p:nvSpPr>
          <p:cNvPr name="TextBox 6" id="6"/>
          <p:cNvSpPr txBox="true"/>
          <p:nvPr/>
        </p:nvSpPr>
        <p:spPr>
          <a:xfrm rot="0">
            <a:off x="548640" y="301466"/>
            <a:ext cx="17282160" cy="266700"/>
          </a:xfrm>
          <a:prstGeom prst="rect">
            <a:avLst/>
          </a:prstGeom>
        </p:spPr>
        <p:txBody>
          <a:bodyPr anchor="t" rtlCol="false" tIns="0" lIns="0" bIns="0" rIns="0">
            <a:spAutoFit/>
          </a:bodyPr>
          <a:lstStyle/>
          <a:p>
            <a:pPr algn="l">
              <a:lnSpc>
                <a:spcPts val="2160"/>
              </a:lnSpc>
            </a:pPr>
            <a:r>
              <a:rPr lang="en-US" b="true" sz="1800">
                <a:solidFill>
                  <a:srgbClr val="000000"/>
                </a:solidFill>
                <a:latin typeface="Montserrat Bold"/>
                <a:ea typeface="Montserrat Bold"/>
                <a:cs typeface="Montserrat Bold"/>
                <a:sym typeface="Montserrat Bold"/>
              </a:rPr>
              <a:t>2026 AI-First - Seminar T10 - Mutation Testing &amp; Test Effectiveness</a:t>
            </a:r>
          </a:p>
        </p:txBody>
      </p:sp>
      <p:sp>
        <p:nvSpPr>
          <p:cNvPr name="TextBox 7" id="7"/>
          <p:cNvSpPr txBox="true"/>
          <p:nvPr/>
        </p:nvSpPr>
        <p:spPr>
          <a:xfrm rot="0">
            <a:off x="548640" y="822960"/>
            <a:ext cx="17282160" cy="752475"/>
          </a:xfrm>
          <a:prstGeom prst="rect">
            <a:avLst/>
          </a:prstGeom>
        </p:spPr>
        <p:txBody>
          <a:bodyPr anchor="t" rtlCol="false" tIns="0" lIns="0" bIns="0" rIns="0">
            <a:spAutoFit/>
          </a:bodyPr>
          <a:lstStyle/>
          <a:p>
            <a:pPr algn="l">
              <a:lnSpc>
                <a:spcPts val="5940"/>
              </a:lnSpc>
            </a:pPr>
            <a:r>
              <a:rPr lang="en-US" b="true" sz="4950">
                <a:solidFill>
                  <a:srgbClr val="000000"/>
                </a:solidFill>
                <a:latin typeface="Montserrat Bold"/>
                <a:ea typeface="Montserrat Bold"/>
                <a:cs typeface="Montserrat Bold"/>
                <a:sym typeface="Montserrat Bold"/>
              </a:rPr>
              <a:t>Mutation testing workflow</a:t>
            </a:r>
          </a:p>
        </p:txBody>
      </p:sp>
      <p:sp>
        <p:nvSpPr>
          <p:cNvPr name="TextBox 8" id="8"/>
          <p:cNvSpPr txBox="true"/>
          <p:nvPr/>
        </p:nvSpPr>
        <p:spPr>
          <a:xfrm rot="0">
            <a:off x="548640" y="9938956"/>
            <a:ext cx="17282160" cy="257175"/>
          </a:xfrm>
          <a:prstGeom prst="rect">
            <a:avLst/>
          </a:prstGeom>
        </p:spPr>
        <p:txBody>
          <a:bodyPr anchor="t" rtlCol="false" tIns="0" lIns="0" bIns="0" rIns="0">
            <a:spAutoFit/>
          </a:bodyPr>
          <a:lstStyle/>
          <a:p>
            <a:pPr algn="l">
              <a:lnSpc>
                <a:spcPts val="2025"/>
              </a:lnSpc>
            </a:pPr>
            <a:r>
              <a:rPr lang="en-US" sz="1687" b="true">
                <a:solidFill>
                  <a:srgbClr val="FFFFFF"/>
                </a:solidFill>
                <a:latin typeface="Montserrat Bold"/>
                <a:ea typeface="Montserrat Bold"/>
                <a:cs typeface="Montserrat Bold"/>
                <a:sym typeface="Montserrat Bold"/>
              </a:rPr>
              <a:t>3 / 15 - Method</a:t>
            </a:r>
          </a:p>
        </p:txBody>
      </p:sp>
      <p:sp>
        <p:nvSpPr>
          <p:cNvPr name="TextBox 9" id="9"/>
          <p:cNvSpPr txBox="true"/>
          <p:nvPr/>
        </p:nvSpPr>
        <p:spPr>
          <a:xfrm rot="0">
            <a:off x="685800" y="2157412"/>
            <a:ext cx="16716375" cy="495300"/>
          </a:xfrm>
          <a:prstGeom prst="rect">
            <a:avLst/>
          </a:prstGeom>
        </p:spPr>
        <p:txBody>
          <a:bodyPr anchor="t" rtlCol="false" tIns="0" lIns="0" bIns="0" rIns="0">
            <a:spAutoFit/>
          </a:bodyPr>
          <a:lstStyle/>
          <a:p>
            <a:pPr algn="l">
              <a:lnSpc>
                <a:spcPts val="3915"/>
              </a:lnSpc>
            </a:pPr>
            <a:r>
              <a:rPr lang="en-US" sz="3262">
                <a:solidFill>
                  <a:srgbClr val="000000"/>
                </a:solidFill>
                <a:latin typeface="Montserrat"/>
                <a:ea typeface="Montserrat"/>
                <a:cs typeface="Montserrat"/>
                <a:sym typeface="Montserrat"/>
              </a:rPr>
              <a:t>A mutant is a small code change used to challenge the tests.</a:t>
            </a:r>
          </a:p>
        </p:txBody>
      </p:sp>
      <p:grpSp>
        <p:nvGrpSpPr>
          <p:cNvPr name="Group 10" id="10"/>
          <p:cNvGrpSpPr/>
          <p:nvPr/>
        </p:nvGrpSpPr>
        <p:grpSpPr>
          <a:xfrm rot="0">
            <a:off x="685800" y="3043238"/>
            <a:ext cx="3971925" cy="657225"/>
            <a:chOff x="0" y="0"/>
            <a:chExt cx="5295900" cy="876300"/>
          </a:xfrm>
        </p:grpSpPr>
        <p:sp>
          <p:nvSpPr>
            <p:cNvPr name="Freeform 11" id="11"/>
            <p:cNvSpPr/>
            <p:nvPr/>
          </p:nvSpPr>
          <p:spPr>
            <a:xfrm flipH="false" flipV="false" rot="0">
              <a:off x="0" y="0"/>
              <a:ext cx="5295900" cy="876300"/>
            </a:xfrm>
            <a:custGeom>
              <a:avLst/>
              <a:gdLst/>
              <a:ahLst/>
              <a:cxnLst/>
              <a:rect r="r" b="b" t="t" l="l"/>
              <a:pathLst>
                <a:path h="876300" w="5295900">
                  <a:moveTo>
                    <a:pt x="0" y="0"/>
                  </a:moveTo>
                  <a:lnTo>
                    <a:pt x="5295900" y="0"/>
                  </a:lnTo>
                  <a:lnTo>
                    <a:pt x="5295900" y="876300"/>
                  </a:lnTo>
                  <a:lnTo>
                    <a:pt x="0" y="876300"/>
                  </a:lnTo>
                  <a:close/>
                </a:path>
              </a:pathLst>
            </a:custGeom>
            <a:solidFill>
              <a:srgbClr val="1F4E79"/>
            </a:solidFill>
          </p:spPr>
        </p:sp>
      </p:grpSp>
      <p:sp>
        <p:nvSpPr>
          <p:cNvPr name="TextBox 12" id="12"/>
          <p:cNvSpPr txBox="true"/>
          <p:nvPr/>
        </p:nvSpPr>
        <p:spPr>
          <a:xfrm rot="0">
            <a:off x="998637" y="3143250"/>
            <a:ext cx="3346252" cy="457200"/>
          </a:xfrm>
          <a:prstGeom prst="rect">
            <a:avLst/>
          </a:prstGeom>
        </p:spPr>
        <p:txBody>
          <a:bodyPr anchor="t" rtlCol="false" tIns="0" lIns="0" bIns="0" rIns="0">
            <a:spAutoFit/>
          </a:bodyPr>
          <a:lstStyle/>
          <a:p>
            <a:pPr algn="l">
              <a:lnSpc>
                <a:spcPts val="3644"/>
              </a:lnSpc>
            </a:pPr>
            <a:r>
              <a:rPr lang="en-US" sz="3037" b="true">
                <a:solidFill>
                  <a:srgbClr val="FFFFFF"/>
                </a:solidFill>
                <a:latin typeface="Montserrat Bold"/>
                <a:ea typeface="Montserrat Bold"/>
                <a:cs typeface="Montserrat Bold"/>
                <a:sym typeface="Montserrat Bold"/>
              </a:rPr>
              <a:t>01  Original code</a:t>
            </a:r>
          </a:p>
        </p:txBody>
      </p:sp>
      <p:sp>
        <p:nvSpPr>
          <p:cNvPr name="TextBox 13" id="13"/>
          <p:cNvSpPr txBox="true"/>
          <p:nvPr/>
        </p:nvSpPr>
        <p:spPr>
          <a:xfrm rot="0">
            <a:off x="857250" y="3981450"/>
            <a:ext cx="3571875" cy="419100"/>
          </a:xfrm>
          <a:prstGeom prst="rect">
            <a:avLst/>
          </a:prstGeom>
        </p:spPr>
        <p:txBody>
          <a:bodyPr anchor="t" rtlCol="false" tIns="0" lIns="0" bIns="0" rIns="0">
            <a:spAutoFit/>
          </a:bodyPr>
          <a:lstStyle/>
          <a:p>
            <a:pPr algn="l">
              <a:lnSpc>
                <a:spcPts val="3375"/>
              </a:lnSpc>
            </a:pPr>
            <a:r>
              <a:rPr lang="en-US" sz="2812">
                <a:solidFill>
                  <a:srgbClr val="000000"/>
                </a:solidFill>
                <a:latin typeface="Montserrat"/>
                <a:ea typeface="Montserrat"/>
                <a:cs typeface="Montserrat"/>
                <a:sym typeface="Montserrat"/>
              </a:rPr>
              <a:t>Run the tests first</a:t>
            </a:r>
          </a:p>
        </p:txBody>
      </p:sp>
      <p:grpSp>
        <p:nvGrpSpPr>
          <p:cNvPr name="Group 14" id="14"/>
          <p:cNvGrpSpPr/>
          <p:nvPr/>
        </p:nvGrpSpPr>
        <p:grpSpPr>
          <a:xfrm rot="0">
            <a:off x="5000625" y="3043238"/>
            <a:ext cx="3971925" cy="657225"/>
            <a:chOff x="0" y="0"/>
            <a:chExt cx="5295900" cy="876300"/>
          </a:xfrm>
        </p:grpSpPr>
        <p:sp>
          <p:nvSpPr>
            <p:cNvPr name="Freeform 15" id="15"/>
            <p:cNvSpPr/>
            <p:nvPr/>
          </p:nvSpPr>
          <p:spPr>
            <a:xfrm flipH="false" flipV="false" rot="0">
              <a:off x="0" y="0"/>
              <a:ext cx="5295900" cy="876300"/>
            </a:xfrm>
            <a:custGeom>
              <a:avLst/>
              <a:gdLst/>
              <a:ahLst/>
              <a:cxnLst/>
              <a:rect r="r" b="b" t="t" l="l"/>
              <a:pathLst>
                <a:path h="876300" w="5295900">
                  <a:moveTo>
                    <a:pt x="0" y="0"/>
                  </a:moveTo>
                  <a:lnTo>
                    <a:pt x="5295900" y="0"/>
                  </a:lnTo>
                  <a:lnTo>
                    <a:pt x="5295900" y="876300"/>
                  </a:lnTo>
                  <a:lnTo>
                    <a:pt x="0" y="876300"/>
                  </a:lnTo>
                  <a:close/>
                </a:path>
              </a:pathLst>
            </a:custGeom>
            <a:solidFill>
              <a:srgbClr val="1F4E79"/>
            </a:solidFill>
          </p:spPr>
        </p:sp>
      </p:grpSp>
      <p:sp>
        <p:nvSpPr>
          <p:cNvPr name="TextBox 16" id="16"/>
          <p:cNvSpPr txBox="true"/>
          <p:nvPr/>
        </p:nvSpPr>
        <p:spPr>
          <a:xfrm rot="0">
            <a:off x="5907405" y="3143250"/>
            <a:ext cx="2158365" cy="457200"/>
          </a:xfrm>
          <a:prstGeom prst="rect">
            <a:avLst/>
          </a:prstGeom>
        </p:spPr>
        <p:txBody>
          <a:bodyPr anchor="t" rtlCol="false" tIns="0" lIns="0" bIns="0" rIns="0">
            <a:spAutoFit/>
          </a:bodyPr>
          <a:lstStyle/>
          <a:p>
            <a:pPr algn="l">
              <a:lnSpc>
                <a:spcPts val="3644"/>
              </a:lnSpc>
            </a:pPr>
            <a:r>
              <a:rPr lang="en-US" sz="3037" b="true">
                <a:solidFill>
                  <a:srgbClr val="FFFFFF"/>
                </a:solidFill>
                <a:latin typeface="Montserrat Bold"/>
                <a:ea typeface="Montserrat Bold"/>
                <a:cs typeface="Montserrat Bold"/>
                <a:sym typeface="Montserrat Bold"/>
              </a:rPr>
              <a:t>02  Mutate</a:t>
            </a:r>
          </a:p>
        </p:txBody>
      </p:sp>
      <p:sp>
        <p:nvSpPr>
          <p:cNvPr name="TextBox 17" id="17"/>
          <p:cNvSpPr txBox="true"/>
          <p:nvPr/>
        </p:nvSpPr>
        <p:spPr>
          <a:xfrm rot="0">
            <a:off x="5000625" y="3981450"/>
            <a:ext cx="4225965" cy="419100"/>
          </a:xfrm>
          <a:prstGeom prst="rect">
            <a:avLst/>
          </a:prstGeom>
        </p:spPr>
        <p:txBody>
          <a:bodyPr anchor="t" rtlCol="false" tIns="0" lIns="0" bIns="0" rIns="0">
            <a:spAutoFit/>
          </a:bodyPr>
          <a:lstStyle/>
          <a:p>
            <a:pPr algn="l">
              <a:lnSpc>
                <a:spcPts val="3375"/>
              </a:lnSpc>
            </a:pPr>
            <a:r>
              <a:rPr lang="en-US" sz="2812">
                <a:solidFill>
                  <a:srgbClr val="000000"/>
                </a:solidFill>
                <a:latin typeface="Montserrat"/>
                <a:ea typeface="Montserrat"/>
                <a:cs typeface="Montserrat"/>
                <a:sym typeface="Montserrat"/>
              </a:rPr>
              <a:t>Change one expression</a:t>
            </a:r>
          </a:p>
        </p:txBody>
      </p:sp>
      <p:grpSp>
        <p:nvGrpSpPr>
          <p:cNvPr name="Group 18" id="18"/>
          <p:cNvGrpSpPr/>
          <p:nvPr/>
        </p:nvGrpSpPr>
        <p:grpSpPr>
          <a:xfrm rot="0">
            <a:off x="9315450" y="3043238"/>
            <a:ext cx="3971925" cy="657225"/>
            <a:chOff x="0" y="0"/>
            <a:chExt cx="5295900" cy="876300"/>
          </a:xfrm>
        </p:grpSpPr>
        <p:sp>
          <p:nvSpPr>
            <p:cNvPr name="Freeform 19" id="19"/>
            <p:cNvSpPr/>
            <p:nvPr/>
          </p:nvSpPr>
          <p:spPr>
            <a:xfrm flipH="false" flipV="false" rot="0">
              <a:off x="0" y="0"/>
              <a:ext cx="5295900" cy="876300"/>
            </a:xfrm>
            <a:custGeom>
              <a:avLst/>
              <a:gdLst/>
              <a:ahLst/>
              <a:cxnLst/>
              <a:rect r="r" b="b" t="t" l="l"/>
              <a:pathLst>
                <a:path h="876300" w="5295900">
                  <a:moveTo>
                    <a:pt x="0" y="0"/>
                  </a:moveTo>
                  <a:lnTo>
                    <a:pt x="5295900" y="0"/>
                  </a:lnTo>
                  <a:lnTo>
                    <a:pt x="5295900" y="876300"/>
                  </a:lnTo>
                  <a:lnTo>
                    <a:pt x="0" y="876300"/>
                  </a:lnTo>
                  <a:close/>
                </a:path>
              </a:pathLst>
            </a:custGeom>
            <a:solidFill>
              <a:srgbClr val="1F4E79"/>
            </a:solidFill>
          </p:spPr>
        </p:sp>
      </p:grpSp>
      <p:sp>
        <p:nvSpPr>
          <p:cNvPr name="TextBox 20" id="20"/>
          <p:cNvSpPr txBox="true"/>
          <p:nvPr/>
        </p:nvSpPr>
        <p:spPr>
          <a:xfrm rot="0">
            <a:off x="10291703" y="3143250"/>
            <a:ext cx="2019419" cy="457200"/>
          </a:xfrm>
          <a:prstGeom prst="rect">
            <a:avLst/>
          </a:prstGeom>
        </p:spPr>
        <p:txBody>
          <a:bodyPr anchor="t" rtlCol="false" tIns="0" lIns="0" bIns="0" rIns="0">
            <a:spAutoFit/>
          </a:bodyPr>
          <a:lstStyle/>
          <a:p>
            <a:pPr algn="l">
              <a:lnSpc>
                <a:spcPts val="3644"/>
              </a:lnSpc>
            </a:pPr>
            <a:r>
              <a:rPr lang="en-US" sz="3037" b="true">
                <a:solidFill>
                  <a:srgbClr val="FFFFFF"/>
                </a:solidFill>
                <a:latin typeface="Montserrat Bold"/>
                <a:ea typeface="Montserrat Bold"/>
                <a:cs typeface="Montserrat Bold"/>
                <a:sym typeface="Montserrat Bold"/>
              </a:rPr>
              <a:t>03  Retest</a:t>
            </a:r>
          </a:p>
        </p:txBody>
      </p:sp>
      <p:sp>
        <p:nvSpPr>
          <p:cNvPr name="TextBox 21" id="21"/>
          <p:cNvSpPr txBox="true"/>
          <p:nvPr/>
        </p:nvSpPr>
        <p:spPr>
          <a:xfrm rot="0">
            <a:off x="9486900" y="3981450"/>
            <a:ext cx="3571875" cy="419100"/>
          </a:xfrm>
          <a:prstGeom prst="rect">
            <a:avLst/>
          </a:prstGeom>
        </p:spPr>
        <p:txBody>
          <a:bodyPr anchor="t" rtlCol="false" tIns="0" lIns="0" bIns="0" rIns="0">
            <a:spAutoFit/>
          </a:bodyPr>
          <a:lstStyle/>
          <a:p>
            <a:pPr algn="l">
              <a:lnSpc>
                <a:spcPts val="3375"/>
              </a:lnSpc>
            </a:pPr>
            <a:r>
              <a:rPr lang="en-US" sz="2812">
                <a:solidFill>
                  <a:srgbClr val="000000"/>
                </a:solidFill>
                <a:latin typeface="Montserrat"/>
                <a:ea typeface="Montserrat"/>
                <a:cs typeface="Montserrat"/>
                <a:sym typeface="Montserrat"/>
              </a:rPr>
              <a:t>Use the same tests</a:t>
            </a:r>
          </a:p>
        </p:txBody>
      </p:sp>
      <p:grpSp>
        <p:nvGrpSpPr>
          <p:cNvPr name="Group 22" id="22"/>
          <p:cNvGrpSpPr/>
          <p:nvPr/>
        </p:nvGrpSpPr>
        <p:grpSpPr>
          <a:xfrm rot="0">
            <a:off x="13630275" y="3043238"/>
            <a:ext cx="3971925" cy="657225"/>
            <a:chOff x="0" y="0"/>
            <a:chExt cx="5295900" cy="876300"/>
          </a:xfrm>
        </p:grpSpPr>
        <p:sp>
          <p:nvSpPr>
            <p:cNvPr name="Freeform 23" id="23"/>
            <p:cNvSpPr/>
            <p:nvPr/>
          </p:nvSpPr>
          <p:spPr>
            <a:xfrm flipH="false" flipV="false" rot="0">
              <a:off x="0" y="0"/>
              <a:ext cx="5295900" cy="876300"/>
            </a:xfrm>
            <a:custGeom>
              <a:avLst/>
              <a:gdLst/>
              <a:ahLst/>
              <a:cxnLst/>
              <a:rect r="r" b="b" t="t" l="l"/>
              <a:pathLst>
                <a:path h="876300" w="5295900">
                  <a:moveTo>
                    <a:pt x="0" y="0"/>
                  </a:moveTo>
                  <a:lnTo>
                    <a:pt x="5295900" y="0"/>
                  </a:lnTo>
                  <a:lnTo>
                    <a:pt x="5295900" y="876300"/>
                  </a:lnTo>
                  <a:lnTo>
                    <a:pt x="0" y="876300"/>
                  </a:lnTo>
                  <a:close/>
                </a:path>
              </a:pathLst>
            </a:custGeom>
            <a:solidFill>
              <a:srgbClr val="1F4E79"/>
            </a:solidFill>
          </p:spPr>
        </p:sp>
      </p:grpSp>
      <p:sp>
        <p:nvSpPr>
          <p:cNvPr name="TextBox 24" id="24"/>
          <p:cNvSpPr txBox="true"/>
          <p:nvPr/>
        </p:nvSpPr>
        <p:spPr>
          <a:xfrm rot="0">
            <a:off x="14491573" y="3143250"/>
            <a:ext cx="2249329" cy="457200"/>
          </a:xfrm>
          <a:prstGeom prst="rect">
            <a:avLst/>
          </a:prstGeom>
        </p:spPr>
        <p:txBody>
          <a:bodyPr anchor="t" rtlCol="false" tIns="0" lIns="0" bIns="0" rIns="0">
            <a:spAutoFit/>
          </a:bodyPr>
          <a:lstStyle/>
          <a:p>
            <a:pPr algn="l">
              <a:lnSpc>
                <a:spcPts val="3644"/>
              </a:lnSpc>
            </a:pPr>
            <a:r>
              <a:rPr lang="en-US" sz="3037" b="true">
                <a:solidFill>
                  <a:srgbClr val="FFFFFF"/>
                </a:solidFill>
                <a:latin typeface="Montserrat Bold"/>
                <a:ea typeface="Montserrat Bold"/>
                <a:cs typeface="Montserrat Bold"/>
                <a:sym typeface="Montserrat Bold"/>
              </a:rPr>
              <a:t>04  Inspect</a:t>
            </a:r>
          </a:p>
        </p:txBody>
      </p:sp>
      <p:sp>
        <p:nvSpPr>
          <p:cNvPr name="TextBox 25" id="25"/>
          <p:cNvSpPr txBox="true"/>
          <p:nvPr/>
        </p:nvSpPr>
        <p:spPr>
          <a:xfrm rot="0">
            <a:off x="13801725" y="3981450"/>
            <a:ext cx="3571875" cy="419100"/>
          </a:xfrm>
          <a:prstGeom prst="rect">
            <a:avLst/>
          </a:prstGeom>
        </p:spPr>
        <p:txBody>
          <a:bodyPr anchor="t" rtlCol="false" tIns="0" lIns="0" bIns="0" rIns="0">
            <a:spAutoFit/>
          </a:bodyPr>
          <a:lstStyle/>
          <a:p>
            <a:pPr algn="l">
              <a:lnSpc>
                <a:spcPts val="3375"/>
              </a:lnSpc>
            </a:pPr>
            <a:r>
              <a:rPr lang="en-US" sz="2812">
                <a:solidFill>
                  <a:srgbClr val="000000"/>
                </a:solidFill>
                <a:latin typeface="Montserrat"/>
                <a:ea typeface="Montserrat"/>
                <a:cs typeface="Montserrat"/>
                <a:sym typeface="Montserrat"/>
              </a:rPr>
              <a:t>Read state and test</a:t>
            </a:r>
          </a:p>
        </p:txBody>
      </p:sp>
      <p:graphicFrame>
        <p:nvGraphicFramePr>
          <p:cNvPr name="Table 26" id="26"/>
          <p:cNvGraphicFramePr>
            <a:graphicFrameLocks noGrp="true"/>
          </p:cNvGraphicFramePr>
          <p:nvPr/>
        </p:nvGraphicFramePr>
        <p:xfrm>
          <a:off x="685800" y="5300662"/>
          <a:ext cx="13430250" cy="3143250"/>
        </p:xfrm>
        <a:graphic>
          <a:graphicData uri="http://schemas.openxmlformats.org/drawingml/2006/table">
            <a:tbl>
              <a:tblPr/>
              <a:tblGrid>
                <a:gridCol w="4842774"/>
                <a:gridCol w="4293738"/>
                <a:gridCol w="4293738"/>
              </a:tblGrid>
              <a:tr h="785812">
                <a:tc>
                  <a:txBody>
                    <a:bodyPr anchor="t" rtlCol="false"/>
                    <a:lstStyle/>
                    <a:p>
                      <a:pPr algn="l">
                        <a:lnSpc>
                          <a:spcPts val="3510"/>
                        </a:lnSpc>
                        <a:defRPr/>
                      </a:pPr>
                      <a:r>
                        <a:rPr lang="en-US" sz="2925" b="true">
                          <a:solidFill>
                            <a:srgbClr val="FFFFFF"/>
                          </a:solidFill>
                          <a:latin typeface="Montserrat Bold"/>
                          <a:ea typeface="Montserrat Bold"/>
                          <a:cs typeface="Montserrat Bold"/>
                          <a:sym typeface="Montserrat Bold"/>
                        </a:rPr>
                        <a:t>Teaching example</a:t>
                      </a:r>
                      <a:endParaRPr lang="en-US" sz="1100"/>
                    </a:p>
                  </a:txBody>
                  <a:tcPr marL="91440" marR="91440" marT="91440" marB="9144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1F4E79"/>
                    </a:solidFill>
                  </a:tcPr>
                </a:tc>
                <a:tc>
                  <a:txBody>
                    <a:bodyPr anchor="t" rtlCol="false"/>
                    <a:lstStyle/>
                    <a:p>
                      <a:pPr algn="ctr">
                        <a:lnSpc>
                          <a:spcPts val="3510"/>
                        </a:lnSpc>
                        <a:defRPr/>
                      </a:pPr>
                      <a:r>
                        <a:rPr lang="en-US" sz="2925" b="true">
                          <a:solidFill>
                            <a:srgbClr val="FFFFFF"/>
                          </a:solidFill>
                          <a:latin typeface="Montserrat Bold"/>
                          <a:ea typeface="Montserrat Bold"/>
                          <a:cs typeface="Montserrat Bold"/>
                          <a:sym typeface="Montserrat Bold"/>
                        </a:rPr>
                        <a:t>Original</a:t>
                      </a:r>
                      <a:endParaRPr lang="en-US" sz="1100"/>
                    </a:p>
                  </a:txBody>
                  <a:tcPr marL="91440" marR="91440" marT="91440" marB="9144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1F4E79"/>
                    </a:solidFill>
                  </a:tcPr>
                </a:tc>
                <a:tc>
                  <a:txBody>
                    <a:bodyPr anchor="t" rtlCol="false"/>
                    <a:lstStyle/>
                    <a:p>
                      <a:pPr algn="ctr">
                        <a:lnSpc>
                          <a:spcPts val="3510"/>
                        </a:lnSpc>
                        <a:defRPr/>
                      </a:pPr>
                      <a:r>
                        <a:rPr lang="en-US" sz="2925" b="true">
                          <a:solidFill>
                            <a:srgbClr val="FFFFFF"/>
                          </a:solidFill>
                          <a:latin typeface="Montserrat Bold"/>
                          <a:ea typeface="Montserrat Bold"/>
                          <a:cs typeface="Montserrat Bold"/>
                          <a:sym typeface="Montserrat Bold"/>
                        </a:rPr>
                        <a:t>Mutant</a:t>
                      </a:r>
                      <a:endParaRPr lang="en-US" sz="1100"/>
                    </a:p>
                  </a:txBody>
                  <a:tcPr marL="91440" marR="91440" marT="91440" marB="9144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1F4E79"/>
                    </a:solidFill>
                  </a:tcPr>
                </a:tc>
              </a:tr>
              <a:tr h="785812">
                <a:tc>
                  <a:txBody>
                    <a:bodyPr anchor="t" rtlCol="false"/>
                    <a:lstStyle/>
                    <a:p>
                      <a:pPr algn="l">
                        <a:lnSpc>
                          <a:spcPts val="3510"/>
                        </a:lnSpc>
                        <a:defRPr/>
                      </a:pPr>
                      <a:r>
                        <a:rPr lang="en-US" sz="2925">
                          <a:solidFill>
                            <a:srgbClr val="000000"/>
                          </a:solidFill>
                          <a:latin typeface="Montserrat"/>
                          <a:ea typeface="Montserrat"/>
                          <a:cs typeface="Montserrat"/>
                          <a:sym typeface="Montserrat"/>
                        </a:rPr>
                        <a:t>Rule</a:t>
                      </a:r>
                      <a:endParaRPr lang="en-US" sz="1100"/>
                    </a:p>
                  </a:txBody>
                  <a:tcPr marL="91440" marR="91440" marT="91440" marB="9144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DAE3F3"/>
                    </a:solidFill>
                  </a:tcPr>
                </a:tc>
                <a:tc>
                  <a:txBody>
                    <a:bodyPr anchor="t" rtlCol="false"/>
                    <a:lstStyle/>
                    <a:p>
                      <a:pPr algn="ctr">
                        <a:lnSpc>
                          <a:spcPts val="3510"/>
                        </a:lnSpc>
                        <a:defRPr/>
                      </a:pPr>
                      <a:r>
                        <a:rPr lang="en-US" sz="2925">
                          <a:solidFill>
                            <a:srgbClr val="000000"/>
                          </a:solidFill>
                          <a:latin typeface="Montserrat"/>
                          <a:ea typeface="Montserrat"/>
                          <a:cs typeface="Montserrat"/>
                          <a:sym typeface="Montserrat"/>
                        </a:rPr>
                        <a:t>amount &gt;= 100</a:t>
                      </a:r>
                      <a:endParaRPr lang="en-US" sz="1100"/>
                    </a:p>
                  </a:txBody>
                  <a:tcPr marL="91440" marR="91440" marT="91440" marB="9144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DAE3F3"/>
                    </a:solidFill>
                  </a:tcPr>
                </a:tc>
                <a:tc>
                  <a:txBody>
                    <a:bodyPr anchor="t" rtlCol="false"/>
                    <a:lstStyle/>
                    <a:p>
                      <a:pPr algn="ctr">
                        <a:lnSpc>
                          <a:spcPts val="3510"/>
                        </a:lnSpc>
                        <a:defRPr/>
                      </a:pPr>
                      <a:r>
                        <a:rPr lang="en-US" sz="2925">
                          <a:solidFill>
                            <a:srgbClr val="000000"/>
                          </a:solidFill>
                          <a:latin typeface="Montserrat"/>
                          <a:ea typeface="Montserrat"/>
                          <a:cs typeface="Montserrat"/>
                          <a:sym typeface="Montserrat"/>
                        </a:rPr>
                        <a:t>amount &gt; 100</a:t>
                      </a:r>
                      <a:endParaRPr lang="en-US" sz="1100"/>
                    </a:p>
                  </a:txBody>
                  <a:tcPr marL="91440" marR="91440" marT="91440" marB="9144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DAE3F3"/>
                    </a:solidFill>
                  </a:tcPr>
                </a:tc>
              </a:tr>
              <a:tr h="785812">
                <a:tc>
                  <a:txBody>
                    <a:bodyPr anchor="t" rtlCol="false"/>
                    <a:lstStyle/>
                    <a:p>
                      <a:pPr algn="l">
                        <a:lnSpc>
                          <a:spcPts val="3510"/>
                        </a:lnSpc>
                        <a:defRPr/>
                      </a:pPr>
                      <a:r>
                        <a:rPr lang="en-US" sz="2925">
                          <a:solidFill>
                            <a:srgbClr val="000000"/>
                          </a:solidFill>
                          <a:latin typeface="Montserrat"/>
                          <a:ea typeface="Montserrat"/>
                          <a:cs typeface="Montserrat"/>
                          <a:sym typeface="Montserrat"/>
                        </a:rPr>
                        <a:t>Input: 101</a:t>
                      </a:r>
                      <a:endParaRPr lang="en-US" sz="1100"/>
                    </a:p>
                  </a:txBody>
                  <a:tcPr marL="91440" marR="91440" marT="91440" marB="9144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F2F2F2"/>
                    </a:solidFill>
                  </a:tcPr>
                </a:tc>
                <a:tc>
                  <a:txBody>
                    <a:bodyPr anchor="t" rtlCol="false"/>
                    <a:lstStyle/>
                    <a:p>
                      <a:pPr algn="ctr">
                        <a:lnSpc>
                          <a:spcPts val="3510"/>
                        </a:lnSpc>
                        <a:defRPr/>
                      </a:pPr>
                      <a:r>
                        <a:rPr lang="en-US" sz="2925">
                          <a:solidFill>
                            <a:srgbClr val="000000"/>
                          </a:solidFill>
                          <a:latin typeface="Montserrat"/>
                          <a:ea typeface="Montserrat"/>
                          <a:cs typeface="Montserrat"/>
                          <a:sym typeface="Montserrat"/>
                        </a:rPr>
                        <a:t>true</a:t>
                      </a:r>
                      <a:endParaRPr lang="en-US" sz="1100"/>
                    </a:p>
                  </a:txBody>
                  <a:tcPr marL="91440" marR="91440" marT="91440" marB="9144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F2F2F2"/>
                    </a:solidFill>
                  </a:tcPr>
                </a:tc>
                <a:tc>
                  <a:txBody>
                    <a:bodyPr anchor="t" rtlCol="false"/>
                    <a:lstStyle/>
                    <a:p>
                      <a:pPr algn="ctr">
                        <a:lnSpc>
                          <a:spcPts val="3510"/>
                        </a:lnSpc>
                        <a:defRPr/>
                      </a:pPr>
                      <a:r>
                        <a:rPr lang="en-US" sz="2925">
                          <a:solidFill>
                            <a:srgbClr val="000000"/>
                          </a:solidFill>
                          <a:latin typeface="Montserrat"/>
                          <a:ea typeface="Montserrat"/>
                          <a:cs typeface="Montserrat"/>
                          <a:sym typeface="Montserrat"/>
                        </a:rPr>
                        <a:t>true</a:t>
                      </a:r>
                      <a:endParaRPr lang="en-US" sz="1100"/>
                    </a:p>
                  </a:txBody>
                  <a:tcPr marL="91440" marR="91440" marT="91440" marB="9144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F2F2F2"/>
                    </a:solidFill>
                  </a:tcPr>
                </a:tc>
              </a:tr>
              <a:tr h="785812">
                <a:tc>
                  <a:txBody>
                    <a:bodyPr anchor="t" rtlCol="false"/>
                    <a:lstStyle/>
                    <a:p>
                      <a:pPr algn="l">
                        <a:lnSpc>
                          <a:spcPts val="3510"/>
                        </a:lnSpc>
                        <a:defRPr/>
                      </a:pPr>
                      <a:r>
                        <a:rPr lang="en-US" sz="2925">
                          <a:solidFill>
                            <a:srgbClr val="000000"/>
                          </a:solidFill>
                          <a:latin typeface="Montserrat"/>
                          <a:ea typeface="Montserrat"/>
                          <a:cs typeface="Montserrat"/>
                          <a:sym typeface="Montserrat"/>
                        </a:rPr>
                        <a:t>Input: 100</a:t>
                      </a:r>
                      <a:endParaRPr lang="en-US" sz="1100"/>
                    </a:p>
                  </a:txBody>
                  <a:tcPr marL="91440" marR="91440" marT="91440" marB="9144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DAE3F3"/>
                    </a:solidFill>
                  </a:tcPr>
                </a:tc>
                <a:tc>
                  <a:txBody>
                    <a:bodyPr anchor="t" rtlCol="false"/>
                    <a:lstStyle/>
                    <a:p>
                      <a:pPr algn="ctr">
                        <a:lnSpc>
                          <a:spcPts val="3510"/>
                        </a:lnSpc>
                        <a:defRPr/>
                      </a:pPr>
                      <a:r>
                        <a:rPr lang="en-US" sz="2925">
                          <a:solidFill>
                            <a:srgbClr val="000000"/>
                          </a:solidFill>
                          <a:latin typeface="Montserrat"/>
                          <a:ea typeface="Montserrat"/>
                          <a:cs typeface="Montserrat"/>
                          <a:sym typeface="Montserrat"/>
                        </a:rPr>
                        <a:t>true</a:t>
                      </a:r>
                      <a:endParaRPr lang="en-US" sz="1100"/>
                    </a:p>
                  </a:txBody>
                  <a:tcPr marL="91440" marR="91440" marT="91440" marB="9144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DAE3F3"/>
                    </a:solidFill>
                  </a:tcPr>
                </a:tc>
                <a:tc>
                  <a:txBody>
                    <a:bodyPr anchor="t" rtlCol="false"/>
                    <a:lstStyle/>
                    <a:p>
                      <a:pPr algn="ctr">
                        <a:lnSpc>
                          <a:spcPts val="3510"/>
                        </a:lnSpc>
                        <a:defRPr/>
                      </a:pPr>
                      <a:r>
                        <a:rPr lang="en-US" sz="2925">
                          <a:solidFill>
                            <a:srgbClr val="000000"/>
                          </a:solidFill>
                          <a:latin typeface="Montserrat"/>
                          <a:ea typeface="Montserrat"/>
                          <a:cs typeface="Montserrat"/>
                          <a:sym typeface="Montserrat"/>
                        </a:rPr>
                        <a:t>false</a:t>
                      </a:r>
                      <a:endParaRPr lang="en-US" sz="1100"/>
                    </a:p>
                  </a:txBody>
                  <a:tcPr marL="91440" marR="91440" marT="91440" marB="9144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DAE3F3"/>
                    </a:solidFill>
                  </a:tcPr>
                </a:tc>
              </a:tr>
            </a:tbl>
          </a:graphicData>
        </a:graphic>
      </p:graphicFrame>
      <p:sp>
        <p:nvSpPr>
          <p:cNvPr name="TextBox 27" id="27"/>
          <p:cNvSpPr txBox="true"/>
          <p:nvPr/>
        </p:nvSpPr>
        <p:spPr>
          <a:xfrm rot="0">
            <a:off x="685800" y="8729662"/>
            <a:ext cx="14001750" cy="914400"/>
          </a:xfrm>
          <a:prstGeom prst="rect">
            <a:avLst/>
          </a:prstGeom>
        </p:spPr>
        <p:txBody>
          <a:bodyPr anchor="t" rtlCol="false" tIns="0" lIns="0" bIns="0" rIns="0">
            <a:spAutoFit/>
          </a:bodyPr>
          <a:lstStyle/>
          <a:p>
            <a:pPr algn="l">
              <a:lnSpc>
                <a:spcPts val="3644"/>
              </a:lnSpc>
            </a:pPr>
            <a:r>
              <a:rPr lang="en-US" b="true" sz="3037">
                <a:solidFill>
                  <a:srgbClr val="000000"/>
                </a:solidFill>
                <a:latin typeface="Montserrat Bold"/>
                <a:ea typeface="Montserrat Bold"/>
                <a:cs typeface="Montserrat Bold"/>
                <a:sym typeface="Montserrat Bold"/>
              </a:rPr>
              <a:t>Input 100 exposes the boundary.</a:t>
            </a:r>
          </a:p>
          <a:p>
            <a:pPr algn="l">
              <a:lnSpc>
                <a:spcPts val="3644"/>
              </a:lnSpc>
            </a:pPr>
            <a:r>
              <a:rPr lang="en-US" b="true" sz="3037">
                <a:solidFill>
                  <a:srgbClr val="000000"/>
                </a:solidFill>
                <a:latin typeface="Montserrat Bold"/>
                <a:ea typeface="Montserrat Bold"/>
                <a:cs typeface="Montserrat Bold"/>
                <a:sym typeface="Montserrat Bold"/>
              </a:rPr>
              <a:t>The test must assert the returned value.</a:t>
            </a:r>
          </a:p>
        </p:txBody>
      </p:sp>
      <p:grpSp>
        <p:nvGrpSpPr>
          <p:cNvPr name="Group 28" id="28"/>
          <p:cNvGrpSpPr/>
          <p:nvPr/>
        </p:nvGrpSpPr>
        <p:grpSpPr>
          <a:xfrm rot="0">
            <a:off x="14458950" y="5300662"/>
            <a:ext cx="3143250" cy="3143250"/>
            <a:chOff x="0" y="0"/>
            <a:chExt cx="3048000" cy="3048000"/>
          </a:xfrm>
        </p:grpSpPr>
        <p:sp>
          <p:nvSpPr>
            <p:cNvPr name="Freeform 29" id="29"/>
            <p:cNvSpPr/>
            <p:nvPr/>
          </p:nvSpPr>
          <p:spPr>
            <a:xfrm flipH="false" flipV="false" rot="0">
              <a:off x="0" y="0"/>
              <a:ext cx="3048000" cy="3048000"/>
            </a:xfrm>
            <a:custGeom>
              <a:avLst/>
              <a:gdLst/>
              <a:ahLst/>
              <a:cxnLst/>
              <a:rect r="r" b="b" t="t" l="l"/>
              <a:pathLst>
                <a:path h="3048000" w="3048000">
                  <a:moveTo>
                    <a:pt x="0" y="0"/>
                  </a:moveTo>
                  <a:lnTo>
                    <a:pt x="3048000" y="0"/>
                  </a:lnTo>
                  <a:lnTo>
                    <a:pt x="3048000" y="3048000"/>
                  </a:lnTo>
                  <a:lnTo>
                    <a:pt x="0" y="3048000"/>
                  </a:lnTo>
                  <a:lnTo>
                    <a:pt x="0" y="0"/>
                  </a:lnTo>
                  <a:close/>
                </a:path>
              </a:pathLst>
            </a:custGeom>
            <a:blipFill>
              <a:blip r:embed="rId3"/>
              <a:stretch>
                <a:fillRect l="0" t="0" r="0" b="0"/>
              </a:stretch>
            </a:blipFill>
          </p:spPr>
        </p:sp>
      </p:gr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7543" cy="246888"/>
            <a:chOff x="0" y="0"/>
            <a:chExt cx="24383390" cy="329184"/>
          </a:xfrm>
        </p:grpSpPr>
        <p:sp>
          <p:nvSpPr>
            <p:cNvPr name="Freeform 3" id="3"/>
            <p:cNvSpPr/>
            <p:nvPr/>
          </p:nvSpPr>
          <p:spPr>
            <a:xfrm flipH="false" flipV="false" rot="0">
              <a:off x="0" y="0"/>
              <a:ext cx="24383364" cy="329184"/>
            </a:xfrm>
            <a:custGeom>
              <a:avLst/>
              <a:gdLst/>
              <a:ahLst/>
              <a:cxnLst/>
              <a:rect r="r" b="b" t="t" l="l"/>
              <a:pathLst>
                <a:path h="329184" w="24383364">
                  <a:moveTo>
                    <a:pt x="0" y="0"/>
                  </a:moveTo>
                  <a:lnTo>
                    <a:pt x="24383364" y="0"/>
                  </a:lnTo>
                  <a:lnTo>
                    <a:pt x="24383364" y="329184"/>
                  </a:lnTo>
                  <a:lnTo>
                    <a:pt x="0" y="329184"/>
                  </a:lnTo>
                  <a:close/>
                </a:path>
              </a:pathLst>
            </a:custGeom>
            <a:solidFill>
              <a:srgbClr val="1F4E79"/>
            </a:solidFill>
          </p:spPr>
        </p:sp>
      </p:grpSp>
      <p:sp>
        <p:nvSpPr>
          <p:cNvPr name="TextBox 4" id="4"/>
          <p:cNvSpPr txBox="true"/>
          <p:nvPr/>
        </p:nvSpPr>
        <p:spPr>
          <a:xfrm rot="0">
            <a:off x="548640" y="301752"/>
            <a:ext cx="7910512" cy="266700"/>
          </a:xfrm>
          <a:prstGeom prst="rect">
            <a:avLst/>
          </a:prstGeom>
        </p:spPr>
        <p:txBody>
          <a:bodyPr anchor="t" rtlCol="false" tIns="0" lIns="0" bIns="0" rIns="0">
            <a:spAutoFit/>
          </a:bodyPr>
          <a:lstStyle/>
          <a:p>
            <a:pPr algn="l">
              <a:lnSpc>
                <a:spcPts val="2160"/>
              </a:lnSpc>
            </a:pPr>
            <a:r>
              <a:rPr lang="en-US" b="true" sz="1800">
                <a:solidFill>
                  <a:srgbClr val="000000"/>
                </a:solidFill>
                <a:latin typeface="Montserrat Bold"/>
                <a:ea typeface="Montserrat Bold"/>
                <a:cs typeface="Montserrat Bold"/>
                <a:sym typeface="Montserrat Bold"/>
              </a:rPr>
              <a:t>2026 AI-First - Seminar T10 - Mutation Testing &amp; Test Effectiveness</a:t>
            </a:r>
          </a:p>
        </p:txBody>
      </p:sp>
      <p:sp>
        <p:nvSpPr>
          <p:cNvPr name="TextBox 5" id="5"/>
          <p:cNvSpPr txBox="true"/>
          <p:nvPr/>
        </p:nvSpPr>
        <p:spPr>
          <a:xfrm rot="0">
            <a:off x="548640" y="822960"/>
            <a:ext cx="17282160" cy="752475"/>
          </a:xfrm>
          <a:prstGeom prst="rect">
            <a:avLst/>
          </a:prstGeom>
        </p:spPr>
        <p:txBody>
          <a:bodyPr anchor="t" rtlCol="false" tIns="0" lIns="0" bIns="0" rIns="0">
            <a:spAutoFit/>
          </a:bodyPr>
          <a:lstStyle/>
          <a:p>
            <a:pPr algn="l">
              <a:lnSpc>
                <a:spcPts val="5940"/>
              </a:lnSpc>
            </a:pPr>
            <a:r>
              <a:rPr lang="en-US" b="true" sz="4950">
                <a:solidFill>
                  <a:srgbClr val="000000"/>
                </a:solidFill>
                <a:latin typeface="Montserrat Bold"/>
                <a:ea typeface="Montserrat Bold"/>
                <a:cs typeface="Montserrat Bold"/>
                <a:sym typeface="Montserrat Bold"/>
              </a:rPr>
              <a:t>Mutant states and mutation score</a:t>
            </a:r>
          </a:p>
        </p:txBody>
      </p:sp>
      <p:grpSp>
        <p:nvGrpSpPr>
          <p:cNvPr name="Group 6" id="6"/>
          <p:cNvGrpSpPr/>
          <p:nvPr/>
        </p:nvGrpSpPr>
        <p:grpSpPr>
          <a:xfrm rot="0">
            <a:off x="0" y="9848088"/>
            <a:ext cx="18287543" cy="438912"/>
            <a:chOff x="0" y="0"/>
            <a:chExt cx="24383390" cy="585216"/>
          </a:xfrm>
        </p:grpSpPr>
        <p:sp>
          <p:nvSpPr>
            <p:cNvPr name="Freeform 7" id="7"/>
            <p:cNvSpPr/>
            <p:nvPr/>
          </p:nvSpPr>
          <p:spPr>
            <a:xfrm flipH="false" flipV="false" rot="0">
              <a:off x="0" y="0"/>
              <a:ext cx="24383364" cy="585216"/>
            </a:xfrm>
            <a:custGeom>
              <a:avLst/>
              <a:gdLst/>
              <a:ahLst/>
              <a:cxnLst/>
              <a:rect r="r" b="b" t="t" l="l"/>
              <a:pathLst>
                <a:path h="585216" w="24383364">
                  <a:moveTo>
                    <a:pt x="0" y="0"/>
                  </a:moveTo>
                  <a:lnTo>
                    <a:pt x="24383364" y="0"/>
                  </a:lnTo>
                  <a:lnTo>
                    <a:pt x="24383364" y="585216"/>
                  </a:lnTo>
                  <a:lnTo>
                    <a:pt x="0" y="585216"/>
                  </a:lnTo>
                  <a:close/>
                </a:path>
              </a:pathLst>
            </a:custGeom>
            <a:solidFill>
              <a:srgbClr val="1F4E79"/>
            </a:solidFill>
          </p:spPr>
        </p:sp>
      </p:grpSp>
      <p:sp>
        <p:nvSpPr>
          <p:cNvPr name="TextBox 8" id="8"/>
          <p:cNvSpPr txBox="true"/>
          <p:nvPr/>
        </p:nvSpPr>
        <p:spPr>
          <a:xfrm rot="0">
            <a:off x="548640" y="9938956"/>
            <a:ext cx="3175873" cy="257175"/>
          </a:xfrm>
          <a:prstGeom prst="rect">
            <a:avLst/>
          </a:prstGeom>
        </p:spPr>
        <p:txBody>
          <a:bodyPr anchor="t" rtlCol="false" tIns="0" lIns="0" bIns="0" rIns="0">
            <a:spAutoFit/>
          </a:bodyPr>
          <a:lstStyle/>
          <a:p>
            <a:pPr algn="l">
              <a:lnSpc>
                <a:spcPts val="2025"/>
              </a:lnSpc>
            </a:pPr>
            <a:r>
              <a:rPr lang="en-US" sz="1687" b="true">
                <a:solidFill>
                  <a:srgbClr val="FFFFFF"/>
                </a:solidFill>
                <a:latin typeface="Montserrat Bold"/>
                <a:ea typeface="Montserrat Bold"/>
                <a:cs typeface="Montserrat Bold"/>
                <a:sym typeface="Montserrat Bold"/>
              </a:rPr>
              <a:t>4 / 15 - Report interpretation</a:t>
            </a:r>
          </a:p>
        </p:txBody>
      </p:sp>
      <p:graphicFrame>
        <p:nvGraphicFramePr>
          <p:cNvPr name="Table 9" id="9"/>
          <p:cNvGraphicFramePr>
            <a:graphicFrameLocks noGrp="true"/>
          </p:cNvGraphicFramePr>
          <p:nvPr/>
        </p:nvGraphicFramePr>
        <p:xfrm>
          <a:off x="685800" y="2257425"/>
          <a:ext cx="10134600" cy="5584825"/>
        </p:xfrm>
        <a:graphic>
          <a:graphicData uri="http://schemas.openxmlformats.org/drawingml/2006/table">
            <a:tbl>
              <a:tblPr/>
              <a:tblGrid>
                <a:gridCol w="3373495"/>
                <a:gridCol w="6761105"/>
              </a:tblGrid>
              <a:tr h="876113">
                <a:tc>
                  <a:txBody>
                    <a:bodyPr anchor="t" rtlCol="false"/>
                    <a:lstStyle/>
                    <a:p>
                      <a:pPr algn="l">
                        <a:lnSpc>
                          <a:spcPts val="3375"/>
                        </a:lnSpc>
                        <a:defRPr/>
                      </a:pPr>
                      <a:r>
                        <a:rPr lang="en-US" sz="2812" b="true">
                          <a:solidFill>
                            <a:srgbClr val="FFFFFF"/>
                          </a:solidFill>
                          <a:latin typeface="Montserrat Bold"/>
                          <a:ea typeface="Montserrat Bold"/>
                          <a:cs typeface="Montserrat Bold"/>
                          <a:sym typeface="Montserrat Bold"/>
                        </a:rPr>
                        <a:t>State</a:t>
                      </a:r>
                      <a:endParaRPr lang="en-US" sz="1100"/>
                    </a:p>
                  </a:txBody>
                  <a:tcPr marL="91440" marR="91440" marT="91440" marB="9144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1F4E79"/>
                    </a:solidFill>
                  </a:tcPr>
                </a:tc>
                <a:tc>
                  <a:txBody>
                    <a:bodyPr anchor="t" rtlCol="false"/>
                    <a:lstStyle/>
                    <a:p>
                      <a:pPr algn="ctr">
                        <a:lnSpc>
                          <a:spcPts val="3375"/>
                        </a:lnSpc>
                        <a:defRPr/>
                      </a:pPr>
                      <a:r>
                        <a:rPr lang="en-US" sz="2812" b="true">
                          <a:solidFill>
                            <a:srgbClr val="FFFFFF"/>
                          </a:solidFill>
                          <a:latin typeface="Montserrat Bold"/>
                          <a:ea typeface="Montserrat Bold"/>
                          <a:cs typeface="Montserrat Bold"/>
                          <a:sym typeface="Montserrat Bold"/>
                        </a:rPr>
                        <a:t>Meaning in this report</a:t>
                      </a:r>
                      <a:endParaRPr lang="en-US" sz="1100"/>
                    </a:p>
                  </a:txBody>
                  <a:tcPr marL="91440" marR="91440" marT="91440" marB="9144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1F4E79"/>
                    </a:solidFill>
                  </a:tcPr>
                </a:tc>
              </a:tr>
              <a:tr h="876113">
                <a:tc>
                  <a:txBody>
                    <a:bodyPr anchor="t" rtlCol="false"/>
                    <a:lstStyle/>
                    <a:p>
                      <a:pPr algn="l">
                        <a:lnSpc>
                          <a:spcPts val="3375"/>
                        </a:lnSpc>
                        <a:defRPr/>
                      </a:pPr>
                      <a:r>
                        <a:rPr lang="en-US" sz="2812">
                          <a:solidFill>
                            <a:srgbClr val="000000"/>
                          </a:solidFill>
                          <a:latin typeface="Montserrat"/>
                          <a:ea typeface="Montserrat"/>
                          <a:cs typeface="Montserrat"/>
                          <a:sym typeface="Montserrat"/>
                        </a:rPr>
                        <a:t>Killed (K)</a:t>
                      </a:r>
                      <a:endParaRPr lang="en-US" sz="1100"/>
                    </a:p>
                  </a:txBody>
                  <a:tcPr marL="91440" marR="91440" marT="91440" marB="9144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DAE3F3"/>
                    </a:solidFill>
                  </a:tcPr>
                </a:tc>
                <a:tc>
                  <a:txBody>
                    <a:bodyPr anchor="t" rtlCol="false"/>
                    <a:lstStyle/>
                    <a:p>
                      <a:pPr algn="ctr">
                        <a:lnSpc>
                          <a:spcPts val="3375"/>
                        </a:lnSpc>
                        <a:defRPr/>
                      </a:pPr>
                      <a:r>
                        <a:rPr lang="en-US" sz="2812">
                          <a:solidFill>
                            <a:srgbClr val="000000"/>
                          </a:solidFill>
                          <a:latin typeface="Montserrat"/>
                          <a:ea typeface="Montserrat"/>
                          <a:cs typeface="Montserrat"/>
                          <a:sym typeface="Montserrat"/>
                        </a:rPr>
                        <a:t>At least one test failed</a:t>
                      </a:r>
                      <a:endParaRPr lang="en-US" sz="1100"/>
                    </a:p>
                  </a:txBody>
                  <a:tcPr marL="91440" marR="91440" marT="91440" marB="9144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DAE3F3"/>
                    </a:solidFill>
                  </a:tcPr>
                </a:tc>
              </a:tr>
              <a:tr h="876113">
                <a:tc>
                  <a:txBody>
                    <a:bodyPr anchor="t" rtlCol="false"/>
                    <a:lstStyle/>
                    <a:p>
                      <a:pPr algn="l">
                        <a:lnSpc>
                          <a:spcPts val="3375"/>
                        </a:lnSpc>
                        <a:defRPr/>
                      </a:pPr>
                      <a:r>
                        <a:rPr lang="en-US" sz="2812">
                          <a:solidFill>
                            <a:srgbClr val="000000"/>
                          </a:solidFill>
                          <a:latin typeface="Montserrat"/>
                          <a:ea typeface="Montserrat"/>
                          <a:cs typeface="Montserrat"/>
                          <a:sym typeface="Montserrat"/>
                        </a:rPr>
                        <a:t>Survived (S)</a:t>
                      </a:r>
                      <a:endParaRPr lang="en-US" sz="1100"/>
                    </a:p>
                  </a:txBody>
                  <a:tcPr marL="91440" marR="91440" marT="91440" marB="9144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F2F2F2"/>
                    </a:solidFill>
                  </a:tcPr>
                </a:tc>
                <a:tc>
                  <a:txBody>
                    <a:bodyPr anchor="t" rtlCol="false"/>
                    <a:lstStyle/>
                    <a:p>
                      <a:pPr algn="ctr">
                        <a:lnSpc>
                          <a:spcPts val="3375"/>
                        </a:lnSpc>
                        <a:defRPr/>
                      </a:pPr>
                      <a:r>
                        <a:rPr lang="en-US" sz="2812">
                          <a:solidFill>
                            <a:srgbClr val="000000"/>
                          </a:solidFill>
                          <a:latin typeface="Montserrat"/>
                          <a:ea typeface="Montserrat"/>
                          <a:cs typeface="Montserrat"/>
                          <a:sym typeface="Montserrat"/>
                        </a:rPr>
                        <a:t>Selected tests passed</a:t>
                      </a:r>
                      <a:endParaRPr lang="en-US" sz="1100"/>
                    </a:p>
                  </a:txBody>
                  <a:tcPr marL="91440" marR="91440" marT="91440" marB="9144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F2F2F2"/>
                    </a:solidFill>
                  </a:tcPr>
                </a:tc>
              </a:tr>
              <a:tr h="876113">
                <a:tc>
                  <a:txBody>
                    <a:bodyPr anchor="t" rtlCol="false"/>
                    <a:lstStyle/>
                    <a:p>
                      <a:pPr algn="l">
                        <a:lnSpc>
                          <a:spcPts val="3375"/>
                        </a:lnSpc>
                        <a:defRPr/>
                      </a:pPr>
                      <a:r>
                        <a:rPr lang="en-US" sz="2812">
                          <a:solidFill>
                            <a:srgbClr val="000000"/>
                          </a:solidFill>
                          <a:latin typeface="Montserrat"/>
                          <a:ea typeface="Montserrat"/>
                          <a:cs typeface="Montserrat"/>
                          <a:sym typeface="Montserrat"/>
                        </a:rPr>
                        <a:t>NoCoverage (N)</a:t>
                      </a:r>
                      <a:endParaRPr lang="en-US" sz="1100"/>
                    </a:p>
                  </a:txBody>
                  <a:tcPr marL="91440" marR="91440" marT="91440" marB="9144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DAE3F3"/>
                    </a:solidFill>
                  </a:tcPr>
                </a:tc>
                <a:tc>
                  <a:txBody>
                    <a:bodyPr anchor="t" rtlCol="false"/>
                    <a:lstStyle/>
                    <a:p>
                      <a:pPr algn="ctr">
                        <a:lnSpc>
                          <a:spcPts val="3375"/>
                        </a:lnSpc>
                        <a:defRPr/>
                      </a:pPr>
                      <a:r>
                        <a:rPr lang="en-US" sz="2812">
                          <a:solidFill>
                            <a:srgbClr val="000000"/>
                          </a:solidFill>
                          <a:latin typeface="Montserrat"/>
                          <a:ea typeface="Montserrat"/>
                          <a:cs typeface="Montserrat"/>
                          <a:sym typeface="Montserrat"/>
                        </a:rPr>
                        <a:t>No test covered the change</a:t>
                      </a:r>
                      <a:endParaRPr lang="en-US" sz="1100"/>
                    </a:p>
                  </a:txBody>
                  <a:tcPr marL="91440" marR="91440" marT="91440" marB="9144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DAE3F3"/>
                    </a:solidFill>
                  </a:tcPr>
                </a:tc>
              </a:tr>
              <a:tr h="876113">
                <a:tc>
                  <a:txBody>
                    <a:bodyPr anchor="t" rtlCol="false"/>
                    <a:lstStyle/>
                    <a:p>
                      <a:pPr algn="l">
                        <a:lnSpc>
                          <a:spcPts val="3375"/>
                        </a:lnSpc>
                        <a:defRPr/>
                      </a:pPr>
                      <a:r>
                        <a:rPr lang="en-US" sz="2812">
                          <a:solidFill>
                            <a:srgbClr val="000000"/>
                          </a:solidFill>
                          <a:latin typeface="Montserrat"/>
                          <a:ea typeface="Montserrat"/>
                          <a:cs typeface="Montserrat"/>
                          <a:sym typeface="Montserrat"/>
                        </a:rPr>
                        <a:t>Timeout (T)</a:t>
                      </a:r>
                      <a:endParaRPr lang="en-US" sz="1100"/>
                    </a:p>
                  </a:txBody>
                  <a:tcPr marL="91440" marR="91440" marT="91440" marB="9144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F2F2F2"/>
                    </a:solidFill>
                  </a:tcPr>
                </a:tc>
                <a:tc>
                  <a:txBody>
                    <a:bodyPr anchor="t" rtlCol="false"/>
                    <a:lstStyle/>
                    <a:p>
                      <a:pPr algn="ctr">
                        <a:lnSpc>
                          <a:spcPts val="3375"/>
                        </a:lnSpc>
                        <a:defRPr/>
                      </a:pPr>
                      <a:r>
                        <a:rPr lang="en-US" sz="2812">
                          <a:solidFill>
                            <a:srgbClr val="000000"/>
                          </a:solidFill>
                          <a:latin typeface="Montserrat"/>
                          <a:ea typeface="Montserrat"/>
                          <a:cs typeface="Montserrat"/>
                          <a:sym typeface="Montserrat"/>
                        </a:rPr>
                        <a:t>Execution exceeded the limit</a:t>
                      </a:r>
                      <a:endParaRPr lang="en-US" sz="1100"/>
                    </a:p>
                  </a:txBody>
                  <a:tcPr marL="91440" marR="91440" marT="91440" marB="9144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F2F2F2"/>
                    </a:solidFill>
                  </a:tcPr>
                </a:tc>
              </a:tr>
              <a:tr h="1204258">
                <a:tc>
                  <a:txBody>
                    <a:bodyPr anchor="t" rtlCol="false"/>
                    <a:lstStyle/>
                    <a:p>
                      <a:pPr algn="l">
                        <a:lnSpc>
                          <a:spcPts val="3375"/>
                        </a:lnSpc>
                        <a:defRPr/>
                      </a:pPr>
                      <a:r>
                        <a:rPr lang="en-US" sz="2812">
                          <a:solidFill>
                            <a:srgbClr val="000000"/>
                          </a:solidFill>
                          <a:latin typeface="Montserrat"/>
                          <a:ea typeface="Montserrat"/>
                          <a:cs typeface="Montserrat"/>
                          <a:sym typeface="Montserrat"/>
                        </a:rPr>
                        <a:t>RuntimeError</a:t>
                      </a:r>
                      <a:endParaRPr lang="en-US" sz="1100"/>
                    </a:p>
                  </a:txBody>
                  <a:tcPr marL="91440" marR="91440" marT="91440" marB="9144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DAE3F3"/>
                    </a:solidFill>
                  </a:tcPr>
                </a:tc>
                <a:tc>
                  <a:txBody>
                    <a:bodyPr anchor="t" rtlCol="false"/>
                    <a:lstStyle/>
                    <a:p>
                      <a:pPr algn="ctr">
                        <a:lnSpc>
                          <a:spcPts val="3375"/>
                        </a:lnSpc>
                        <a:defRPr/>
                      </a:pPr>
                      <a:r>
                        <a:rPr lang="en-US" sz="2812">
                          <a:solidFill>
                            <a:srgbClr val="000000"/>
                          </a:solidFill>
                          <a:latin typeface="Montserrat"/>
                          <a:ea typeface="Montserrat"/>
                          <a:cs typeface="Montserrat"/>
                          <a:sym typeface="Montserrat"/>
                        </a:rPr>
                        <a:t>Runner or runtime could not finish normally</a:t>
                      </a:r>
                      <a:endParaRPr lang="en-US" sz="1100"/>
                    </a:p>
                  </a:txBody>
                  <a:tcPr marL="91440" marR="91440" marT="91440" marB="9144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DAE3F3"/>
                    </a:solidFill>
                  </a:tcPr>
                </a:tc>
              </a:tr>
            </a:tbl>
          </a:graphicData>
        </a:graphic>
      </p:graphicFrame>
      <p:grpSp>
        <p:nvGrpSpPr>
          <p:cNvPr name="Group 10" id="10"/>
          <p:cNvGrpSpPr/>
          <p:nvPr/>
        </p:nvGrpSpPr>
        <p:grpSpPr>
          <a:xfrm rot="0">
            <a:off x="11287125" y="2257425"/>
            <a:ext cx="6315075" cy="657225"/>
            <a:chOff x="0" y="0"/>
            <a:chExt cx="8420100" cy="876300"/>
          </a:xfrm>
        </p:grpSpPr>
        <p:sp>
          <p:nvSpPr>
            <p:cNvPr name="Freeform 11" id="11"/>
            <p:cNvSpPr/>
            <p:nvPr/>
          </p:nvSpPr>
          <p:spPr>
            <a:xfrm flipH="false" flipV="false" rot="0">
              <a:off x="0" y="0"/>
              <a:ext cx="8420100" cy="876300"/>
            </a:xfrm>
            <a:custGeom>
              <a:avLst/>
              <a:gdLst/>
              <a:ahLst/>
              <a:cxnLst/>
              <a:rect r="r" b="b" t="t" l="l"/>
              <a:pathLst>
                <a:path h="876300" w="8420100">
                  <a:moveTo>
                    <a:pt x="0" y="0"/>
                  </a:moveTo>
                  <a:lnTo>
                    <a:pt x="8420100" y="0"/>
                  </a:lnTo>
                  <a:lnTo>
                    <a:pt x="8420100" y="876300"/>
                  </a:lnTo>
                  <a:lnTo>
                    <a:pt x="0" y="876300"/>
                  </a:lnTo>
                  <a:close/>
                </a:path>
              </a:pathLst>
            </a:custGeom>
            <a:solidFill>
              <a:srgbClr val="1F4E79"/>
            </a:solidFill>
          </p:spPr>
        </p:sp>
      </p:grpSp>
      <p:sp>
        <p:nvSpPr>
          <p:cNvPr name="TextBox 12" id="12"/>
          <p:cNvSpPr txBox="true"/>
          <p:nvPr/>
        </p:nvSpPr>
        <p:spPr>
          <a:xfrm rot="0">
            <a:off x="11487150" y="2386012"/>
            <a:ext cx="2679263" cy="457200"/>
          </a:xfrm>
          <a:prstGeom prst="rect">
            <a:avLst/>
          </a:prstGeom>
        </p:spPr>
        <p:txBody>
          <a:bodyPr anchor="t" rtlCol="false" tIns="0" lIns="0" bIns="0" rIns="0">
            <a:spAutoFit/>
          </a:bodyPr>
          <a:lstStyle/>
          <a:p>
            <a:pPr algn="l">
              <a:lnSpc>
                <a:spcPts val="3644"/>
              </a:lnSpc>
            </a:pPr>
            <a:r>
              <a:rPr lang="en-US" sz="3037" b="true">
                <a:solidFill>
                  <a:srgbClr val="FFFFFF"/>
                </a:solidFill>
                <a:latin typeface="Montserrat Bold"/>
                <a:ea typeface="Montserrat Bold"/>
                <a:cs typeface="Montserrat Bold"/>
                <a:sym typeface="Montserrat Bold"/>
              </a:rPr>
              <a:t>Stryker score</a:t>
            </a:r>
          </a:p>
        </p:txBody>
      </p:sp>
      <p:sp>
        <p:nvSpPr>
          <p:cNvPr name="TextBox 13" id="13"/>
          <p:cNvSpPr txBox="true"/>
          <p:nvPr/>
        </p:nvSpPr>
        <p:spPr>
          <a:xfrm rot="0">
            <a:off x="11530012" y="3214688"/>
            <a:ext cx="5886450" cy="3086100"/>
          </a:xfrm>
          <a:prstGeom prst="rect">
            <a:avLst/>
          </a:prstGeom>
        </p:spPr>
        <p:txBody>
          <a:bodyPr anchor="t" rtlCol="false" tIns="0" lIns="0" bIns="0" rIns="0">
            <a:spAutoFit/>
          </a:bodyPr>
          <a:lstStyle/>
          <a:p>
            <a:pPr algn="l">
              <a:lnSpc>
                <a:spcPts val="4050"/>
              </a:lnSpc>
            </a:pPr>
            <a:r>
              <a:rPr lang="en-US" b="true" sz="3375">
                <a:solidFill>
                  <a:srgbClr val="000000"/>
                </a:solidFill>
                <a:latin typeface="Montserrat Bold"/>
                <a:ea typeface="Montserrat Bold"/>
                <a:cs typeface="Montserrat Bold"/>
                <a:sym typeface="Montserrat Bold"/>
              </a:rPr>
              <a:t>V = K + T + S + N</a:t>
            </a:r>
          </a:p>
          <a:p>
            <a:pPr algn="l">
              <a:lnSpc>
                <a:spcPts val="4050"/>
              </a:lnSpc>
            </a:pPr>
          </a:p>
          <a:p>
            <a:pPr algn="l">
              <a:lnSpc>
                <a:spcPts val="4050"/>
              </a:lnSpc>
            </a:pPr>
            <a:r>
              <a:rPr lang="en-US" b="true" sz="3375">
                <a:solidFill>
                  <a:srgbClr val="000000"/>
                </a:solidFill>
                <a:latin typeface="Montserrat Bold"/>
                <a:ea typeface="Montserrat Bold"/>
                <a:cs typeface="Montserrat Bold"/>
                <a:sym typeface="Montserrat Bold"/>
              </a:rPr>
              <a:t>Score = (K + T) / V</a:t>
            </a:r>
          </a:p>
          <a:p>
            <a:pPr algn="l">
              <a:lnSpc>
                <a:spcPts val="4050"/>
              </a:lnSpc>
            </a:pPr>
          </a:p>
          <a:p>
            <a:pPr algn="l">
              <a:lnSpc>
                <a:spcPts val="4050"/>
              </a:lnSpc>
            </a:pPr>
            <a:r>
              <a:rPr lang="en-US" b="true" sz="3375">
                <a:solidFill>
                  <a:srgbClr val="000000"/>
                </a:solidFill>
                <a:latin typeface="Montserrat Bold"/>
                <a:ea typeface="Montserrat Bold"/>
                <a:cs typeface="Montserrat Bold"/>
                <a:sym typeface="Montserrat Bold"/>
              </a:rPr>
              <a:t>Baseline: 252 / 373</a:t>
            </a:r>
          </a:p>
          <a:p>
            <a:pPr algn="l">
              <a:lnSpc>
                <a:spcPts val="4050"/>
              </a:lnSpc>
            </a:pPr>
            <a:r>
              <a:rPr lang="en-US" b="true" sz="3375">
                <a:solidFill>
                  <a:srgbClr val="000000"/>
                </a:solidFill>
                <a:latin typeface="Montserrat Bold"/>
                <a:ea typeface="Montserrat Bold"/>
                <a:cs typeface="Montserrat Bold"/>
                <a:sym typeface="Montserrat Bold"/>
              </a:rPr>
              <a:t>= 67.56%</a:t>
            </a:r>
          </a:p>
        </p:txBody>
      </p:sp>
      <p:sp>
        <p:nvSpPr>
          <p:cNvPr name="TextBox 14" id="14"/>
          <p:cNvSpPr txBox="true"/>
          <p:nvPr/>
        </p:nvSpPr>
        <p:spPr>
          <a:xfrm rot="0">
            <a:off x="685800" y="7929562"/>
            <a:ext cx="16859250" cy="876300"/>
          </a:xfrm>
          <a:prstGeom prst="rect">
            <a:avLst/>
          </a:prstGeom>
        </p:spPr>
        <p:txBody>
          <a:bodyPr anchor="t" rtlCol="false" tIns="0" lIns="0" bIns="0" rIns="0">
            <a:spAutoFit/>
          </a:bodyPr>
          <a:lstStyle/>
          <a:p>
            <a:pPr algn="l">
              <a:lnSpc>
                <a:spcPts val="3510"/>
              </a:lnSpc>
            </a:pPr>
            <a:r>
              <a:rPr lang="en-US" sz="2925">
                <a:solidFill>
                  <a:srgbClr val="000000"/>
                </a:solidFill>
                <a:latin typeface="Montserrat"/>
                <a:ea typeface="Montserrat"/>
                <a:cs typeface="Montserrat"/>
                <a:sym typeface="Montserrat"/>
              </a:rPr>
              <a:t>RuntimeError and CompileError are outside V.</a:t>
            </a:r>
          </a:p>
          <a:p>
            <a:pPr algn="l">
              <a:lnSpc>
                <a:spcPts val="3510"/>
              </a:lnSpc>
            </a:pPr>
            <a:r>
              <a:rPr lang="en-US" sz="2925">
                <a:solidFill>
                  <a:srgbClr val="000000"/>
                </a:solidFill>
                <a:latin typeface="Montserrat"/>
                <a:ea typeface="Montserrat"/>
                <a:cs typeface="Montserrat"/>
                <a:sym typeface="Montserrat"/>
              </a:rPr>
              <a:t>Ignored and Pending also stay outside the score.</a:t>
            </a:r>
          </a:p>
        </p:txBody>
      </p:sp>
      <p:grpSp>
        <p:nvGrpSpPr>
          <p:cNvPr name="Group 15" id="15"/>
          <p:cNvGrpSpPr/>
          <p:nvPr/>
        </p:nvGrpSpPr>
        <p:grpSpPr>
          <a:xfrm rot="0">
            <a:off x="685800" y="8915400"/>
            <a:ext cx="16916400" cy="800100"/>
            <a:chOff x="0" y="0"/>
            <a:chExt cx="22555200" cy="1066800"/>
          </a:xfrm>
        </p:grpSpPr>
        <p:sp>
          <p:nvSpPr>
            <p:cNvPr name="Freeform 16" id="16"/>
            <p:cNvSpPr/>
            <p:nvPr/>
          </p:nvSpPr>
          <p:spPr>
            <a:xfrm flipH="false" flipV="false" rot="0">
              <a:off x="0" y="0"/>
              <a:ext cx="22555200" cy="1066800"/>
            </a:xfrm>
            <a:custGeom>
              <a:avLst/>
              <a:gdLst/>
              <a:ahLst/>
              <a:cxnLst/>
              <a:rect r="r" b="b" t="t" l="l"/>
              <a:pathLst>
                <a:path h="1066800" w="22555200">
                  <a:moveTo>
                    <a:pt x="0" y="0"/>
                  </a:moveTo>
                  <a:lnTo>
                    <a:pt x="22555200" y="0"/>
                  </a:lnTo>
                  <a:lnTo>
                    <a:pt x="22555200" y="1066800"/>
                  </a:lnTo>
                  <a:lnTo>
                    <a:pt x="0" y="1066800"/>
                  </a:lnTo>
                  <a:close/>
                </a:path>
              </a:pathLst>
            </a:custGeom>
            <a:solidFill>
              <a:srgbClr val="DAE3F3"/>
            </a:solidFill>
          </p:spPr>
        </p:sp>
      </p:grpSp>
      <p:sp>
        <p:nvSpPr>
          <p:cNvPr name="TextBox 17" id="17"/>
          <p:cNvSpPr txBox="true"/>
          <p:nvPr/>
        </p:nvSpPr>
        <p:spPr>
          <a:xfrm rot="0">
            <a:off x="914400" y="9110663"/>
            <a:ext cx="16430625" cy="419100"/>
          </a:xfrm>
          <a:prstGeom prst="rect">
            <a:avLst/>
          </a:prstGeom>
        </p:spPr>
        <p:txBody>
          <a:bodyPr anchor="t" rtlCol="false" tIns="0" lIns="0" bIns="0" rIns="0">
            <a:spAutoFit/>
          </a:bodyPr>
          <a:lstStyle/>
          <a:p>
            <a:pPr algn="l">
              <a:lnSpc>
                <a:spcPts val="3375"/>
              </a:lnSpc>
            </a:pPr>
            <a:r>
              <a:rPr lang="en-US" b="true" sz="2812">
                <a:solidFill>
                  <a:srgbClr val="000000"/>
                </a:solidFill>
                <a:latin typeface="Montserrat Bold"/>
                <a:ea typeface="Montserrat Bold"/>
                <a:cs typeface="Montserrat Bold"/>
                <a:sym typeface="Montserrat Bold"/>
              </a:rPr>
              <a:t>We report K and T separately. K / V is an additional assertion-kill metric.</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7543" cy="246888"/>
            <a:chOff x="0" y="0"/>
            <a:chExt cx="24383390" cy="329184"/>
          </a:xfrm>
        </p:grpSpPr>
        <p:sp>
          <p:nvSpPr>
            <p:cNvPr name="Freeform 3" id="3"/>
            <p:cNvSpPr/>
            <p:nvPr/>
          </p:nvSpPr>
          <p:spPr>
            <a:xfrm flipH="false" flipV="false" rot="0">
              <a:off x="0" y="0"/>
              <a:ext cx="24383364" cy="329184"/>
            </a:xfrm>
            <a:custGeom>
              <a:avLst/>
              <a:gdLst/>
              <a:ahLst/>
              <a:cxnLst/>
              <a:rect r="r" b="b" t="t" l="l"/>
              <a:pathLst>
                <a:path h="329184" w="24383364">
                  <a:moveTo>
                    <a:pt x="0" y="0"/>
                  </a:moveTo>
                  <a:lnTo>
                    <a:pt x="24383364" y="0"/>
                  </a:lnTo>
                  <a:lnTo>
                    <a:pt x="24383364" y="329184"/>
                  </a:lnTo>
                  <a:lnTo>
                    <a:pt x="0" y="329184"/>
                  </a:lnTo>
                  <a:close/>
                </a:path>
              </a:pathLst>
            </a:custGeom>
            <a:solidFill>
              <a:srgbClr val="1F4E79"/>
            </a:solidFill>
          </p:spPr>
        </p:sp>
      </p:grpSp>
      <p:sp>
        <p:nvSpPr>
          <p:cNvPr name="TextBox 4" id="4"/>
          <p:cNvSpPr txBox="true"/>
          <p:nvPr/>
        </p:nvSpPr>
        <p:spPr>
          <a:xfrm rot="0">
            <a:off x="548640" y="301752"/>
            <a:ext cx="7910512" cy="266700"/>
          </a:xfrm>
          <a:prstGeom prst="rect">
            <a:avLst/>
          </a:prstGeom>
        </p:spPr>
        <p:txBody>
          <a:bodyPr anchor="t" rtlCol="false" tIns="0" lIns="0" bIns="0" rIns="0">
            <a:spAutoFit/>
          </a:bodyPr>
          <a:lstStyle/>
          <a:p>
            <a:pPr algn="l">
              <a:lnSpc>
                <a:spcPts val="2160"/>
              </a:lnSpc>
            </a:pPr>
            <a:r>
              <a:rPr lang="en-US" b="true" sz="1800">
                <a:solidFill>
                  <a:srgbClr val="000000"/>
                </a:solidFill>
                <a:latin typeface="Montserrat Bold"/>
                <a:ea typeface="Montserrat Bold"/>
                <a:cs typeface="Montserrat Bold"/>
                <a:sym typeface="Montserrat Bold"/>
              </a:rPr>
              <a:t>2026 AI-First - Seminar T10 - Mutation Testing &amp; Test Effectiveness</a:t>
            </a:r>
          </a:p>
        </p:txBody>
      </p:sp>
      <p:sp>
        <p:nvSpPr>
          <p:cNvPr name="TextBox 5" id="5"/>
          <p:cNvSpPr txBox="true"/>
          <p:nvPr/>
        </p:nvSpPr>
        <p:spPr>
          <a:xfrm rot="0">
            <a:off x="548640" y="822960"/>
            <a:ext cx="17282160" cy="752475"/>
          </a:xfrm>
          <a:prstGeom prst="rect">
            <a:avLst/>
          </a:prstGeom>
        </p:spPr>
        <p:txBody>
          <a:bodyPr anchor="t" rtlCol="false" tIns="0" lIns="0" bIns="0" rIns="0">
            <a:spAutoFit/>
          </a:bodyPr>
          <a:lstStyle/>
          <a:p>
            <a:pPr algn="l">
              <a:lnSpc>
                <a:spcPts val="5940"/>
              </a:lnSpc>
            </a:pPr>
            <a:r>
              <a:rPr lang="en-US" b="true" sz="4950">
                <a:solidFill>
                  <a:srgbClr val="000000"/>
                </a:solidFill>
                <a:latin typeface="Montserrat Bold"/>
                <a:ea typeface="Montserrat Bold"/>
                <a:cs typeface="Montserrat Bold"/>
                <a:sym typeface="Montserrat Bold"/>
              </a:rPr>
              <a:t>StrykerJS and the AI Agent</a:t>
            </a:r>
          </a:p>
        </p:txBody>
      </p:sp>
      <p:grpSp>
        <p:nvGrpSpPr>
          <p:cNvPr name="Group 6" id="6"/>
          <p:cNvGrpSpPr/>
          <p:nvPr/>
        </p:nvGrpSpPr>
        <p:grpSpPr>
          <a:xfrm rot="0">
            <a:off x="0" y="9848088"/>
            <a:ext cx="18287543" cy="438912"/>
            <a:chOff x="0" y="0"/>
            <a:chExt cx="24383390" cy="585216"/>
          </a:xfrm>
        </p:grpSpPr>
        <p:sp>
          <p:nvSpPr>
            <p:cNvPr name="Freeform 7" id="7"/>
            <p:cNvSpPr/>
            <p:nvPr/>
          </p:nvSpPr>
          <p:spPr>
            <a:xfrm flipH="false" flipV="false" rot="0">
              <a:off x="0" y="0"/>
              <a:ext cx="24383364" cy="585216"/>
            </a:xfrm>
            <a:custGeom>
              <a:avLst/>
              <a:gdLst/>
              <a:ahLst/>
              <a:cxnLst/>
              <a:rect r="r" b="b" t="t" l="l"/>
              <a:pathLst>
                <a:path h="585216" w="24383364">
                  <a:moveTo>
                    <a:pt x="0" y="0"/>
                  </a:moveTo>
                  <a:lnTo>
                    <a:pt x="24383364" y="0"/>
                  </a:lnTo>
                  <a:lnTo>
                    <a:pt x="24383364" y="585216"/>
                  </a:lnTo>
                  <a:lnTo>
                    <a:pt x="0" y="585216"/>
                  </a:lnTo>
                  <a:close/>
                </a:path>
              </a:pathLst>
            </a:custGeom>
            <a:solidFill>
              <a:srgbClr val="1F4E79"/>
            </a:solidFill>
          </p:spPr>
        </p:sp>
      </p:grpSp>
      <p:sp>
        <p:nvSpPr>
          <p:cNvPr name="TextBox 8" id="8"/>
          <p:cNvSpPr txBox="true"/>
          <p:nvPr/>
        </p:nvSpPr>
        <p:spPr>
          <a:xfrm rot="0">
            <a:off x="548640" y="9938956"/>
            <a:ext cx="2308027" cy="257175"/>
          </a:xfrm>
          <a:prstGeom prst="rect">
            <a:avLst/>
          </a:prstGeom>
        </p:spPr>
        <p:txBody>
          <a:bodyPr anchor="t" rtlCol="false" tIns="0" lIns="0" bIns="0" rIns="0">
            <a:spAutoFit/>
          </a:bodyPr>
          <a:lstStyle/>
          <a:p>
            <a:pPr algn="l">
              <a:lnSpc>
                <a:spcPts val="2025"/>
              </a:lnSpc>
            </a:pPr>
            <a:r>
              <a:rPr lang="en-US" sz="1687" b="true">
                <a:solidFill>
                  <a:srgbClr val="FFFFFF"/>
                </a:solidFill>
                <a:latin typeface="Montserrat Bold"/>
                <a:ea typeface="Montserrat Bold"/>
                <a:cs typeface="Montserrat Bold"/>
                <a:sym typeface="Montserrat Bold"/>
              </a:rPr>
              <a:t>5 / 15 - Tool selection</a:t>
            </a:r>
          </a:p>
        </p:txBody>
      </p:sp>
      <p:grpSp>
        <p:nvGrpSpPr>
          <p:cNvPr name="Group 9" id="9"/>
          <p:cNvGrpSpPr/>
          <p:nvPr/>
        </p:nvGrpSpPr>
        <p:grpSpPr>
          <a:xfrm rot="0">
            <a:off x="685800" y="2243138"/>
            <a:ext cx="8172450" cy="657225"/>
            <a:chOff x="0" y="0"/>
            <a:chExt cx="10896600" cy="876300"/>
          </a:xfrm>
        </p:grpSpPr>
        <p:sp>
          <p:nvSpPr>
            <p:cNvPr name="Freeform 10" id="10"/>
            <p:cNvSpPr/>
            <p:nvPr/>
          </p:nvSpPr>
          <p:spPr>
            <a:xfrm flipH="false" flipV="false" rot="0">
              <a:off x="0" y="0"/>
              <a:ext cx="10896600" cy="876300"/>
            </a:xfrm>
            <a:custGeom>
              <a:avLst/>
              <a:gdLst/>
              <a:ahLst/>
              <a:cxnLst/>
              <a:rect r="r" b="b" t="t" l="l"/>
              <a:pathLst>
                <a:path h="876300" w="10896600">
                  <a:moveTo>
                    <a:pt x="0" y="0"/>
                  </a:moveTo>
                  <a:lnTo>
                    <a:pt x="10896600" y="0"/>
                  </a:lnTo>
                  <a:lnTo>
                    <a:pt x="10896600" y="876300"/>
                  </a:lnTo>
                  <a:lnTo>
                    <a:pt x="0" y="876300"/>
                  </a:lnTo>
                  <a:close/>
                </a:path>
              </a:pathLst>
            </a:custGeom>
            <a:solidFill>
              <a:srgbClr val="1F4E79"/>
            </a:solidFill>
          </p:spPr>
        </p:sp>
      </p:grpSp>
      <p:sp>
        <p:nvSpPr>
          <p:cNvPr name="TextBox 11" id="11"/>
          <p:cNvSpPr txBox="true"/>
          <p:nvPr/>
        </p:nvSpPr>
        <p:spPr>
          <a:xfrm rot="0">
            <a:off x="885825" y="2343150"/>
            <a:ext cx="6140053" cy="457200"/>
          </a:xfrm>
          <a:prstGeom prst="rect">
            <a:avLst/>
          </a:prstGeom>
        </p:spPr>
        <p:txBody>
          <a:bodyPr anchor="t" rtlCol="false" tIns="0" lIns="0" bIns="0" rIns="0">
            <a:spAutoFit/>
          </a:bodyPr>
          <a:lstStyle/>
          <a:p>
            <a:pPr algn="l">
              <a:lnSpc>
                <a:spcPts val="3644"/>
              </a:lnSpc>
            </a:pPr>
            <a:r>
              <a:rPr lang="en-US" sz="3037" b="true">
                <a:solidFill>
                  <a:srgbClr val="FFFFFF"/>
                </a:solidFill>
                <a:latin typeface="Montserrat Bold"/>
                <a:ea typeface="Montserrat Bold"/>
                <a:cs typeface="Montserrat Bold"/>
                <a:sym typeface="Montserrat Bold"/>
              </a:rPr>
              <a:t>StrykerJS: mutation execution</a:t>
            </a:r>
          </a:p>
        </p:txBody>
      </p:sp>
      <p:grpSp>
        <p:nvGrpSpPr>
          <p:cNvPr name="Group 12" id="12"/>
          <p:cNvGrpSpPr/>
          <p:nvPr/>
        </p:nvGrpSpPr>
        <p:grpSpPr>
          <a:xfrm rot="0">
            <a:off x="9429750" y="2243138"/>
            <a:ext cx="8172450" cy="657225"/>
            <a:chOff x="0" y="0"/>
            <a:chExt cx="10896600" cy="876300"/>
          </a:xfrm>
        </p:grpSpPr>
        <p:sp>
          <p:nvSpPr>
            <p:cNvPr name="Freeform 13" id="13"/>
            <p:cNvSpPr/>
            <p:nvPr/>
          </p:nvSpPr>
          <p:spPr>
            <a:xfrm flipH="false" flipV="false" rot="0">
              <a:off x="0" y="0"/>
              <a:ext cx="10896600" cy="876300"/>
            </a:xfrm>
            <a:custGeom>
              <a:avLst/>
              <a:gdLst/>
              <a:ahLst/>
              <a:cxnLst/>
              <a:rect r="r" b="b" t="t" l="l"/>
              <a:pathLst>
                <a:path h="876300" w="10896600">
                  <a:moveTo>
                    <a:pt x="0" y="0"/>
                  </a:moveTo>
                  <a:lnTo>
                    <a:pt x="10896600" y="0"/>
                  </a:lnTo>
                  <a:lnTo>
                    <a:pt x="10896600" y="876300"/>
                  </a:lnTo>
                  <a:lnTo>
                    <a:pt x="0" y="876300"/>
                  </a:lnTo>
                  <a:close/>
                </a:path>
              </a:pathLst>
            </a:custGeom>
            <a:solidFill>
              <a:srgbClr val="C00000"/>
            </a:solidFill>
          </p:spPr>
        </p:sp>
      </p:grpSp>
      <p:sp>
        <p:nvSpPr>
          <p:cNvPr name="TextBox 14" id="14"/>
          <p:cNvSpPr txBox="true"/>
          <p:nvPr/>
        </p:nvSpPr>
        <p:spPr>
          <a:xfrm rot="0">
            <a:off x="9629775" y="2343150"/>
            <a:ext cx="6190536" cy="457200"/>
          </a:xfrm>
          <a:prstGeom prst="rect">
            <a:avLst/>
          </a:prstGeom>
        </p:spPr>
        <p:txBody>
          <a:bodyPr anchor="t" rtlCol="false" tIns="0" lIns="0" bIns="0" rIns="0">
            <a:spAutoFit/>
          </a:bodyPr>
          <a:lstStyle/>
          <a:p>
            <a:pPr algn="l">
              <a:lnSpc>
                <a:spcPts val="3644"/>
              </a:lnSpc>
            </a:pPr>
            <a:r>
              <a:rPr lang="en-US" sz="3037" b="true">
                <a:solidFill>
                  <a:srgbClr val="FFFFFF"/>
                </a:solidFill>
                <a:latin typeface="Montserrat Bold"/>
                <a:ea typeface="Montserrat Bold"/>
                <a:cs typeface="Montserrat Bold"/>
                <a:sym typeface="Montserrat Bold"/>
              </a:rPr>
              <a:t>AI Agent: assertion candidates</a:t>
            </a:r>
          </a:p>
        </p:txBody>
      </p:sp>
      <p:sp>
        <p:nvSpPr>
          <p:cNvPr name="TextBox 15" id="15"/>
          <p:cNvSpPr txBox="true"/>
          <p:nvPr/>
        </p:nvSpPr>
        <p:spPr>
          <a:xfrm rot="0">
            <a:off x="914400" y="3214688"/>
            <a:ext cx="7672388" cy="1485900"/>
          </a:xfrm>
          <a:prstGeom prst="rect">
            <a:avLst/>
          </a:prstGeom>
        </p:spPr>
        <p:txBody>
          <a:bodyPr anchor="t" rtlCol="false" tIns="0" lIns="0" bIns="0" rIns="0">
            <a:spAutoFit/>
          </a:bodyPr>
          <a:lstStyle/>
          <a:p>
            <a:pPr algn="l">
              <a:lnSpc>
                <a:spcPts val="3915"/>
              </a:lnSpc>
            </a:pPr>
            <a:r>
              <a:rPr lang="en-US" sz="3262">
                <a:solidFill>
                  <a:srgbClr val="000000"/>
                </a:solidFill>
                <a:latin typeface="Montserrat"/>
                <a:ea typeface="Montserrat"/>
                <a:cs typeface="Montserrat"/>
                <a:sym typeface="Montserrat"/>
              </a:rPr>
              <a:t>Fits the JavaScript / Node.js backend</a:t>
            </a:r>
          </a:p>
          <a:p>
            <a:pPr algn="l">
              <a:lnSpc>
                <a:spcPts val="3915"/>
              </a:lnSpc>
            </a:pPr>
            <a:r>
              <a:rPr lang="en-US" sz="3262">
                <a:solidFill>
                  <a:srgbClr val="000000"/>
                </a:solidFill>
                <a:latin typeface="Montserrat"/>
                <a:ea typeface="Montserrat"/>
                <a:cs typeface="Montserrat"/>
                <a:sym typeface="Montserrat"/>
              </a:rPr>
              <a:t>Runs the selected Jest tests</a:t>
            </a:r>
          </a:p>
          <a:p>
            <a:pPr algn="l">
              <a:lnSpc>
                <a:spcPts val="3915"/>
              </a:lnSpc>
            </a:pPr>
            <a:r>
              <a:rPr lang="en-US" sz="3262">
                <a:solidFill>
                  <a:srgbClr val="000000"/>
                </a:solidFill>
                <a:latin typeface="Montserrat"/>
                <a:ea typeface="Montserrat"/>
                <a:cs typeface="Montserrat"/>
                <a:sym typeface="Montserrat"/>
              </a:rPr>
              <a:t>Exports HTML and JSON evidence</a:t>
            </a:r>
          </a:p>
        </p:txBody>
      </p:sp>
      <p:sp>
        <p:nvSpPr>
          <p:cNvPr name="TextBox 16" id="16"/>
          <p:cNvSpPr txBox="true"/>
          <p:nvPr/>
        </p:nvSpPr>
        <p:spPr>
          <a:xfrm rot="0">
            <a:off x="9658350" y="3214688"/>
            <a:ext cx="7672388" cy="1981200"/>
          </a:xfrm>
          <a:prstGeom prst="rect">
            <a:avLst/>
          </a:prstGeom>
        </p:spPr>
        <p:txBody>
          <a:bodyPr anchor="t" rtlCol="false" tIns="0" lIns="0" bIns="0" rIns="0">
            <a:spAutoFit/>
          </a:bodyPr>
          <a:lstStyle/>
          <a:p>
            <a:pPr algn="l">
              <a:lnSpc>
                <a:spcPts val="3915"/>
              </a:lnSpc>
            </a:pPr>
            <a:r>
              <a:rPr lang="en-US" sz="3262">
                <a:solidFill>
                  <a:srgbClr val="000000"/>
                </a:solidFill>
                <a:latin typeface="Montserrat"/>
                <a:ea typeface="Montserrat"/>
                <a:cs typeface="Montserrat"/>
                <a:sym typeface="Montserrat"/>
              </a:rPr>
              <a:t>Inputs: rule, mutant, tests, fixtures</a:t>
            </a:r>
          </a:p>
          <a:p>
            <a:pPr algn="l">
              <a:lnSpc>
                <a:spcPts val="3915"/>
              </a:lnSpc>
            </a:pPr>
            <a:r>
              <a:rPr lang="en-US" sz="3262">
                <a:solidFill>
                  <a:srgbClr val="000000"/>
                </a:solidFill>
                <a:latin typeface="Montserrat"/>
                <a:ea typeface="Montserrat"/>
                <a:cs typeface="Montserrat"/>
                <a:sym typeface="Montserrat"/>
              </a:rPr>
              <a:t>Output: candidate + expected behavior</a:t>
            </a:r>
          </a:p>
          <a:p>
            <a:pPr algn="l">
              <a:lnSpc>
                <a:spcPts val="3915"/>
              </a:lnSpc>
            </a:pPr>
            <a:r>
              <a:rPr lang="en-US" sz="3262">
                <a:solidFill>
                  <a:srgbClr val="000000"/>
                </a:solidFill>
                <a:latin typeface="Montserrat"/>
                <a:ea typeface="Montserrat"/>
                <a:cs typeface="Montserrat"/>
                <a:sym typeface="Montserrat"/>
              </a:rPr>
              <a:t>Human checks the oracle and setup</a:t>
            </a:r>
          </a:p>
        </p:txBody>
      </p:sp>
      <p:grpSp>
        <p:nvGrpSpPr>
          <p:cNvPr name="Group 17" id="17"/>
          <p:cNvGrpSpPr/>
          <p:nvPr/>
        </p:nvGrpSpPr>
        <p:grpSpPr>
          <a:xfrm rot="0">
            <a:off x="685800" y="5786438"/>
            <a:ext cx="16916400" cy="657225"/>
            <a:chOff x="0" y="0"/>
            <a:chExt cx="22555200" cy="876300"/>
          </a:xfrm>
        </p:grpSpPr>
        <p:sp>
          <p:nvSpPr>
            <p:cNvPr name="Freeform 18" id="18"/>
            <p:cNvSpPr/>
            <p:nvPr/>
          </p:nvSpPr>
          <p:spPr>
            <a:xfrm flipH="false" flipV="false" rot="0">
              <a:off x="0" y="0"/>
              <a:ext cx="22555200" cy="876300"/>
            </a:xfrm>
            <a:custGeom>
              <a:avLst/>
              <a:gdLst/>
              <a:ahLst/>
              <a:cxnLst/>
              <a:rect r="r" b="b" t="t" l="l"/>
              <a:pathLst>
                <a:path h="876300" w="22555200">
                  <a:moveTo>
                    <a:pt x="0" y="0"/>
                  </a:moveTo>
                  <a:lnTo>
                    <a:pt x="22555200" y="0"/>
                  </a:lnTo>
                  <a:lnTo>
                    <a:pt x="22555200" y="876300"/>
                  </a:lnTo>
                  <a:lnTo>
                    <a:pt x="0" y="876300"/>
                  </a:lnTo>
                  <a:close/>
                </a:path>
              </a:pathLst>
            </a:custGeom>
            <a:solidFill>
              <a:srgbClr val="1F4E79"/>
            </a:solidFill>
          </p:spPr>
        </p:sp>
      </p:grpSp>
      <p:sp>
        <p:nvSpPr>
          <p:cNvPr name="TextBox 19" id="19"/>
          <p:cNvSpPr txBox="true"/>
          <p:nvPr/>
        </p:nvSpPr>
        <p:spPr>
          <a:xfrm rot="0">
            <a:off x="885825" y="5886450"/>
            <a:ext cx="7608094" cy="457200"/>
          </a:xfrm>
          <a:prstGeom prst="rect">
            <a:avLst/>
          </a:prstGeom>
        </p:spPr>
        <p:txBody>
          <a:bodyPr anchor="t" rtlCol="false" tIns="0" lIns="0" bIns="0" rIns="0">
            <a:spAutoFit/>
          </a:bodyPr>
          <a:lstStyle/>
          <a:p>
            <a:pPr algn="l">
              <a:lnSpc>
                <a:spcPts val="3644"/>
              </a:lnSpc>
            </a:pPr>
            <a:r>
              <a:rPr lang="en-US" sz="3037" b="true">
                <a:solidFill>
                  <a:srgbClr val="FFFFFF"/>
                </a:solidFill>
                <a:latin typeface="Montserrat Bold"/>
                <a:ea typeface="Montserrat Bold"/>
                <a:cs typeface="Montserrat Bold"/>
                <a:sym typeface="Montserrat Bold"/>
              </a:rPr>
              <a:t>Reusable review and verification loop</a:t>
            </a:r>
          </a:p>
        </p:txBody>
      </p:sp>
      <p:sp>
        <p:nvSpPr>
          <p:cNvPr name="TextBox 20" id="20"/>
          <p:cNvSpPr txBox="true"/>
          <p:nvPr/>
        </p:nvSpPr>
        <p:spPr>
          <a:xfrm rot="0">
            <a:off x="914400" y="6715125"/>
            <a:ext cx="13430250" cy="1428750"/>
          </a:xfrm>
          <a:prstGeom prst="rect">
            <a:avLst/>
          </a:prstGeom>
        </p:spPr>
        <p:txBody>
          <a:bodyPr anchor="t" rtlCol="false" tIns="0" lIns="0" bIns="0" rIns="0">
            <a:spAutoFit/>
          </a:bodyPr>
          <a:lstStyle/>
          <a:p>
            <a:pPr algn="l">
              <a:lnSpc>
                <a:spcPts val="3779"/>
              </a:lnSpc>
            </a:pPr>
            <a:r>
              <a:rPr lang="en-US" sz="3150">
                <a:solidFill>
                  <a:srgbClr val="000000"/>
                </a:solidFill>
                <a:latin typeface="Montserrat"/>
                <a:ea typeface="Montserrat"/>
                <a:cs typeface="Montserrat"/>
                <a:sym typeface="Montserrat"/>
              </a:rPr>
              <a:t>1. Explain the survivor and propose an assertion</a:t>
            </a:r>
          </a:p>
          <a:p>
            <a:pPr algn="l">
              <a:lnSpc>
                <a:spcPts val="3779"/>
              </a:lnSpc>
            </a:pPr>
            <a:r>
              <a:rPr lang="en-US" sz="3150">
                <a:solidFill>
                  <a:srgbClr val="000000"/>
                </a:solidFill>
                <a:latin typeface="Montserrat"/>
                <a:ea typeface="Montserrat"/>
                <a:cs typeface="Montserrat"/>
                <a:sym typeface="Montserrat"/>
              </a:rPr>
              <a:t>2. Review against the specification and run on original code</a:t>
            </a:r>
          </a:p>
          <a:p>
            <a:pPr algn="l">
              <a:lnSpc>
                <a:spcPts val="3779"/>
              </a:lnSpc>
            </a:pPr>
            <a:r>
              <a:rPr lang="en-US" sz="3150">
                <a:solidFill>
                  <a:srgbClr val="000000"/>
                </a:solidFill>
                <a:latin typeface="Montserrat"/>
                <a:ea typeface="Montserrat"/>
                <a:cs typeface="Montserrat"/>
                <a:sym typeface="Montserrat"/>
              </a:rPr>
              <a:t>3. Rerun the same mutant and inspect the detecting test</a:t>
            </a:r>
          </a:p>
        </p:txBody>
      </p:sp>
      <p:sp>
        <p:nvSpPr>
          <p:cNvPr name="TextBox 21" id="21"/>
          <p:cNvSpPr txBox="true"/>
          <p:nvPr/>
        </p:nvSpPr>
        <p:spPr>
          <a:xfrm rot="0">
            <a:off x="685800" y="9115425"/>
            <a:ext cx="16916400" cy="409575"/>
          </a:xfrm>
          <a:prstGeom prst="rect">
            <a:avLst/>
          </a:prstGeom>
        </p:spPr>
        <p:txBody>
          <a:bodyPr anchor="t" rtlCol="false" tIns="0" lIns="0" bIns="0" rIns="0">
            <a:spAutoFit/>
          </a:bodyPr>
          <a:lstStyle/>
          <a:p>
            <a:pPr algn="l">
              <a:lnSpc>
                <a:spcPts val="3240"/>
              </a:lnSpc>
            </a:pPr>
            <a:r>
              <a:rPr lang="en-US" b="true" sz="2700">
                <a:solidFill>
                  <a:srgbClr val="000000"/>
                </a:solidFill>
                <a:latin typeface="Montserrat Bold"/>
                <a:ea typeface="Montserrat Bold"/>
                <a:cs typeface="Montserrat Bold"/>
                <a:sym typeface="Montserrat Bold"/>
              </a:rPr>
              <a:t>Keep the production source and configuration fixed. Save prompt, edits and reports.</a:t>
            </a:r>
          </a:p>
        </p:txBody>
      </p:sp>
      <p:grpSp>
        <p:nvGrpSpPr>
          <p:cNvPr name="Group 22" id="22"/>
          <p:cNvGrpSpPr/>
          <p:nvPr/>
        </p:nvGrpSpPr>
        <p:grpSpPr>
          <a:xfrm rot="0">
            <a:off x="15397167" y="6626737"/>
            <a:ext cx="2205033" cy="2305613"/>
            <a:chOff x="0" y="0"/>
            <a:chExt cx="2400300" cy="2509787"/>
          </a:xfrm>
        </p:grpSpPr>
        <p:sp>
          <p:nvSpPr>
            <p:cNvPr name="Freeform 23" id="23"/>
            <p:cNvSpPr/>
            <p:nvPr/>
          </p:nvSpPr>
          <p:spPr>
            <a:xfrm flipH="false" flipV="false" rot="0">
              <a:off x="0" y="0"/>
              <a:ext cx="2400300" cy="2509774"/>
            </a:xfrm>
            <a:custGeom>
              <a:avLst/>
              <a:gdLst/>
              <a:ahLst/>
              <a:cxnLst/>
              <a:rect r="r" b="b" t="t" l="l"/>
              <a:pathLst>
                <a:path h="2509774" w="2400300">
                  <a:moveTo>
                    <a:pt x="0" y="0"/>
                  </a:moveTo>
                  <a:lnTo>
                    <a:pt x="2400300" y="0"/>
                  </a:lnTo>
                  <a:lnTo>
                    <a:pt x="2400300" y="2509774"/>
                  </a:lnTo>
                  <a:lnTo>
                    <a:pt x="0" y="2509774"/>
                  </a:lnTo>
                  <a:lnTo>
                    <a:pt x="0" y="0"/>
                  </a:lnTo>
                  <a:close/>
                </a:path>
              </a:pathLst>
            </a:custGeom>
            <a:blipFill>
              <a:blip r:embed="rId3"/>
              <a:stretch>
                <a:fillRect l="0" t="0" r="0" b="0"/>
              </a:stretch>
            </a:blipFill>
          </p:spPr>
        </p:sp>
      </p:grpSp>
    </p:spTree>
  </p:cSld>
  <p:clrMapOvr>
    <a:masterClrMapping/>
  </p:clrMapOvr>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7571" cy="246888"/>
            <a:chOff x="0" y="0"/>
            <a:chExt cx="24383428" cy="329184"/>
          </a:xfrm>
        </p:grpSpPr>
        <p:sp>
          <p:nvSpPr>
            <p:cNvPr name="Freeform 3" id="3"/>
            <p:cNvSpPr/>
            <p:nvPr/>
          </p:nvSpPr>
          <p:spPr>
            <a:xfrm flipH="false" flipV="false" rot="0">
              <a:off x="0" y="0"/>
              <a:ext cx="24383364" cy="329184"/>
            </a:xfrm>
            <a:custGeom>
              <a:avLst/>
              <a:gdLst/>
              <a:ahLst/>
              <a:cxnLst/>
              <a:rect r="r" b="b" t="t" l="l"/>
              <a:pathLst>
                <a:path h="329184" w="24383364">
                  <a:moveTo>
                    <a:pt x="0" y="0"/>
                  </a:moveTo>
                  <a:lnTo>
                    <a:pt x="24383364" y="0"/>
                  </a:lnTo>
                  <a:lnTo>
                    <a:pt x="24383364" y="329184"/>
                  </a:lnTo>
                  <a:lnTo>
                    <a:pt x="0" y="329184"/>
                  </a:lnTo>
                  <a:close/>
                </a:path>
              </a:pathLst>
            </a:custGeom>
            <a:solidFill>
              <a:srgbClr val="1F4E79"/>
            </a:solidFill>
          </p:spPr>
        </p:sp>
      </p:grpSp>
      <p:grpSp>
        <p:nvGrpSpPr>
          <p:cNvPr name="Group 4" id="4"/>
          <p:cNvGrpSpPr/>
          <p:nvPr/>
        </p:nvGrpSpPr>
        <p:grpSpPr>
          <a:xfrm rot="0">
            <a:off x="0" y="9848088"/>
            <a:ext cx="18287571" cy="438912"/>
            <a:chOff x="0" y="0"/>
            <a:chExt cx="24383428" cy="585216"/>
          </a:xfrm>
        </p:grpSpPr>
        <p:sp>
          <p:nvSpPr>
            <p:cNvPr name="Freeform 5" id="5"/>
            <p:cNvSpPr/>
            <p:nvPr/>
          </p:nvSpPr>
          <p:spPr>
            <a:xfrm flipH="false" flipV="false" rot="0">
              <a:off x="0" y="0"/>
              <a:ext cx="24383364" cy="585216"/>
            </a:xfrm>
            <a:custGeom>
              <a:avLst/>
              <a:gdLst/>
              <a:ahLst/>
              <a:cxnLst/>
              <a:rect r="r" b="b" t="t" l="l"/>
              <a:pathLst>
                <a:path h="585216" w="24383364">
                  <a:moveTo>
                    <a:pt x="0" y="0"/>
                  </a:moveTo>
                  <a:lnTo>
                    <a:pt x="24383364" y="0"/>
                  </a:lnTo>
                  <a:lnTo>
                    <a:pt x="24383364" y="585216"/>
                  </a:lnTo>
                  <a:lnTo>
                    <a:pt x="0" y="585216"/>
                  </a:lnTo>
                  <a:close/>
                </a:path>
              </a:pathLst>
            </a:custGeom>
            <a:solidFill>
              <a:srgbClr val="1F4E79"/>
            </a:solidFill>
          </p:spPr>
        </p:sp>
      </p:grpSp>
      <p:sp>
        <p:nvSpPr>
          <p:cNvPr name="TextBox 6" id="6"/>
          <p:cNvSpPr txBox="true"/>
          <p:nvPr/>
        </p:nvSpPr>
        <p:spPr>
          <a:xfrm rot="0">
            <a:off x="548640" y="301466"/>
            <a:ext cx="17282160" cy="266700"/>
          </a:xfrm>
          <a:prstGeom prst="rect">
            <a:avLst/>
          </a:prstGeom>
        </p:spPr>
        <p:txBody>
          <a:bodyPr anchor="t" rtlCol="false" tIns="0" lIns="0" bIns="0" rIns="0">
            <a:spAutoFit/>
          </a:bodyPr>
          <a:lstStyle/>
          <a:p>
            <a:pPr algn="l">
              <a:lnSpc>
                <a:spcPts val="2160"/>
              </a:lnSpc>
            </a:pPr>
            <a:r>
              <a:rPr lang="en-US" b="true" sz="1800">
                <a:solidFill>
                  <a:srgbClr val="000000"/>
                </a:solidFill>
                <a:latin typeface="Montserrat Bold"/>
                <a:ea typeface="Montserrat Bold"/>
                <a:cs typeface="Montserrat Bold"/>
                <a:sym typeface="Montserrat Bold"/>
              </a:rPr>
              <a:t>2026 AI-First - Seminar T10 - Mutation Testing &amp; Test Effectiveness</a:t>
            </a:r>
          </a:p>
        </p:txBody>
      </p:sp>
      <p:sp>
        <p:nvSpPr>
          <p:cNvPr name="TextBox 7" id="7"/>
          <p:cNvSpPr txBox="true"/>
          <p:nvPr/>
        </p:nvSpPr>
        <p:spPr>
          <a:xfrm rot="0">
            <a:off x="548640" y="822960"/>
            <a:ext cx="17282160" cy="752475"/>
          </a:xfrm>
          <a:prstGeom prst="rect">
            <a:avLst/>
          </a:prstGeom>
        </p:spPr>
        <p:txBody>
          <a:bodyPr anchor="t" rtlCol="false" tIns="0" lIns="0" bIns="0" rIns="0">
            <a:spAutoFit/>
          </a:bodyPr>
          <a:lstStyle/>
          <a:p>
            <a:pPr algn="l">
              <a:lnSpc>
                <a:spcPts val="5940"/>
              </a:lnSpc>
            </a:pPr>
            <a:r>
              <a:rPr lang="en-US" b="true" sz="4950">
                <a:solidFill>
                  <a:srgbClr val="000000"/>
                </a:solidFill>
                <a:latin typeface="Montserrat Bold"/>
                <a:ea typeface="Montserrat Bold"/>
                <a:cs typeface="Montserrat Bold"/>
                <a:sym typeface="Montserrat Bold"/>
              </a:rPr>
              <a:t>EShop experiment design</a:t>
            </a:r>
          </a:p>
        </p:txBody>
      </p:sp>
      <p:sp>
        <p:nvSpPr>
          <p:cNvPr name="TextBox 8" id="8"/>
          <p:cNvSpPr txBox="true"/>
          <p:nvPr/>
        </p:nvSpPr>
        <p:spPr>
          <a:xfrm rot="0">
            <a:off x="548640" y="9938956"/>
            <a:ext cx="17282160" cy="257175"/>
          </a:xfrm>
          <a:prstGeom prst="rect">
            <a:avLst/>
          </a:prstGeom>
        </p:spPr>
        <p:txBody>
          <a:bodyPr anchor="t" rtlCol="false" tIns="0" lIns="0" bIns="0" rIns="0">
            <a:spAutoFit/>
          </a:bodyPr>
          <a:lstStyle/>
          <a:p>
            <a:pPr algn="l">
              <a:lnSpc>
                <a:spcPts val="2025"/>
              </a:lnSpc>
            </a:pPr>
            <a:r>
              <a:rPr lang="en-US" sz="1687" b="true">
                <a:solidFill>
                  <a:srgbClr val="FFFFFF"/>
                </a:solidFill>
                <a:latin typeface="Montserrat Bold"/>
                <a:ea typeface="Montserrat Bold"/>
                <a:cs typeface="Montserrat Bold"/>
                <a:sym typeface="Montserrat Bold"/>
              </a:rPr>
              <a:t>6 / 15 - Controlled comparison</a:t>
            </a:r>
          </a:p>
        </p:txBody>
      </p:sp>
      <p:graphicFrame>
        <p:nvGraphicFramePr>
          <p:cNvPr name="Table 9" id="9"/>
          <p:cNvGraphicFramePr>
            <a:graphicFrameLocks noGrp="true"/>
          </p:cNvGraphicFramePr>
          <p:nvPr/>
        </p:nvGraphicFramePr>
        <p:xfrm>
          <a:off x="685800" y="2257425"/>
          <a:ext cx="16916400" cy="3505200"/>
        </p:xfrm>
        <a:graphic>
          <a:graphicData uri="http://schemas.openxmlformats.org/drawingml/2006/table">
            <a:tbl>
              <a:tblPr/>
              <a:tblGrid>
                <a:gridCol w="5544506"/>
                <a:gridCol w="3451172"/>
                <a:gridCol w="7920722"/>
              </a:tblGrid>
              <a:tr h="876300">
                <a:tc>
                  <a:txBody>
                    <a:bodyPr anchor="t" rtlCol="false"/>
                    <a:lstStyle/>
                    <a:p>
                      <a:pPr algn="l">
                        <a:lnSpc>
                          <a:spcPts val="3779"/>
                        </a:lnSpc>
                        <a:defRPr/>
                      </a:pPr>
                      <a:r>
                        <a:rPr lang="en-US" sz="3150" b="true">
                          <a:solidFill>
                            <a:srgbClr val="FFFFFF"/>
                          </a:solidFill>
                          <a:latin typeface="Montserrat Bold"/>
                          <a:ea typeface="Montserrat Bold"/>
                          <a:cs typeface="Montserrat Bold"/>
                          <a:sym typeface="Montserrat Bold"/>
                        </a:rPr>
                        <a:t>Domain</a:t>
                      </a:r>
                      <a:endParaRPr lang="en-US" sz="1100"/>
                    </a:p>
                  </a:txBody>
                  <a:tcPr marL="91440" marR="91440" marT="91440" marB="9144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1F4E79"/>
                    </a:solidFill>
                  </a:tcPr>
                </a:tc>
                <a:tc>
                  <a:txBody>
                    <a:bodyPr anchor="t" rtlCol="false"/>
                    <a:lstStyle/>
                    <a:p>
                      <a:pPr algn="ctr">
                        <a:lnSpc>
                          <a:spcPts val="3779"/>
                        </a:lnSpc>
                        <a:defRPr/>
                      </a:pPr>
                      <a:r>
                        <a:rPr lang="en-US" sz="3150" b="true">
                          <a:solidFill>
                            <a:srgbClr val="FFFFFF"/>
                          </a:solidFill>
                          <a:latin typeface="Montserrat Bold"/>
                          <a:ea typeface="Montserrat Bold"/>
                          <a:cs typeface="Montserrat Bold"/>
                          <a:sym typeface="Montserrat Bold"/>
                        </a:rPr>
                        <a:t>Baseline tests</a:t>
                      </a:r>
                      <a:endParaRPr lang="en-US" sz="1100"/>
                    </a:p>
                  </a:txBody>
                  <a:tcPr marL="91440" marR="91440" marT="91440" marB="9144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1F4E79"/>
                    </a:solidFill>
                  </a:tcPr>
                </a:tc>
                <a:tc>
                  <a:txBody>
                    <a:bodyPr anchor="t" rtlCol="false"/>
                    <a:lstStyle/>
                    <a:p>
                      <a:pPr algn="ctr">
                        <a:lnSpc>
                          <a:spcPts val="3779"/>
                        </a:lnSpc>
                        <a:defRPr/>
                      </a:pPr>
                      <a:r>
                        <a:rPr lang="en-US" sz="3150" b="true">
                          <a:solidFill>
                            <a:srgbClr val="FFFFFF"/>
                          </a:solidFill>
                          <a:latin typeface="Montserrat Bold"/>
                          <a:ea typeface="Montserrat Bold"/>
                          <a:cs typeface="Montserrat Bold"/>
                          <a:sym typeface="Montserrat Bold"/>
                        </a:rPr>
                        <a:t>Behavior under test</a:t>
                      </a:r>
                      <a:endParaRPr lang="en-US" sz="1100"/>
                    </a:p>
                  </a:txBody>
                  <a:tcPr marL="91440" marR="91440" marT="91440" marB="9144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1F4E79"/>
                    </a:solidFill>
                  </a:tcPr>
                </a:tc>
              </a:tr>
              <a:tr h="876300">
                <a:tc>
                  <a:txBody>
                    <a:bodyPr anchor="t" rtlCol="false"/>
                    <a:lstStyle/>
                    <a:p>
                      <a:pPr algn="l">
                        <a:lnSpc>
                          <a:spcPts val="3779"/>
                        </a:lnSpc>
                        <a:defRPr/>
                      </a:pPr>
                      <a:r>
                        <a:rPr lang="en-US" sz="3150">
                          <a:solidFill>
                            <a:srgbClr val="000000"/>
                          </a:solidFill>
                          <a:latin typeface="Montserrat"/>
                          <a:ea typeface="Montserrat"/>
                          <a:cs typeface="Montserrat"/>
                          <a:sym typeface="Montserrat"/>
                        </a:rPr>
                        <a:t>Cart &amp; Orders</a:t>
                      </a:r>
                      <a:endParaRPr lang="en-US" sz="1100"/>
                    </a:p>
                  </a:txBody>
                  <a:tcPr marL="91440" marR="91440" marT="91440" marB="9144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DAE3F3"/>
                    </a:solidFill>
                  </a:tcPr>
                </a:tc>
                <a:tc>
                  <a:txBody>
                    <a:bodyPr anchor="t" rtlCol="false"/>
                    <a:lstStyle/>
                    <a:p>
                      <a:pPr algn="ctr">
                        <a:lnSpc>
                          <a:spcPts val="3779"/>
                        </a:lnSpc>
                        <a:defRPr/>
                      </a:pPr>
                      <a:r>
                        <a:rPr lang="en-US" sz="3150">
                          <a:solidFill>
                            <a:srgbClr val="000000"/>
                          </a:solidFill>
                          <a:latin typeface="Montserrat"/>
                          <a:ea typeface="Montserrat"/>
                          <a:cs typeface="Montserrat"/>
                          <a:sym typeface="Montserrat"/>
                        </a:rPr>
                        <a:t>36</a:t>
                      </a:r>
                      <a:endParaRPr lang="en-US" sz="1100"/>
                    </a:p>
                  </a:txBody>
                  <a:tcPr marL="91440" marR="91440" marT="91440" marB="9144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DAE3F3"/>
                    </a:solidFill>
                  </a:tcPr>
                </a:tc>
                <a:tc>
                  <a:txBody>
                    <a:bodyPr anchor="t" rtlCol="false"/>
                    <a:lstStyle/>
                    <a:p>
                      <a:pPr algn="ctr">
                        <a:lnSpc>
                          <a:spcPts val="3779"/>
                        </a:lnSpc>
                        <a:defRPr/>
                      </a:pPr>
                      <a:r>
                        <a:rPr lang="en-US" sz="3150">
                          <a:solidFill>
                            <a:srgbClr val="000000"/>
                          </a:solidFill>
                          <a:latin typeface="Montserrat"/>
                          <a:ea typeface="Montserrat"/>
                          <a:cs typeface="Montserrat"/>
                          <a:sym typeface="Montserrat"/>
                        </a:rPr>
                        <a:t>Cart state, checkout and orders</a:t>
                      </a:r>
                      <a:endParaRPr lang="en-US" sz="1100"/>
                    </a:p>
                  </a:txBody>
                  <a:tcPr marL="91440" marR="91440" marT="91440" marB="9144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DAE3F3"/>
                    </a:solidFill>
                  </a:tcPr>
                </a:tc>
              </a:tr>
              <a:tr h="876300">
                <a:tc>
                  <a:txBody>
                    <a:bodyPr anchor="t" rtlCol="false"/>
                    <a:lstStyle/>
                    <a:p>
                      <a:pPr algn="l">
                        <a:lnSpc>
                          <a:spcPts val="3779"/>
                        </a:lnSpc>
                        <a:defRPr/>
                      </a:pPr>
                      <a:r>
                        <a:rPr lang="en-US" sz="3150">
                          <a:solidFill>
                            <a:srgbClr val="000000"/>
                          </a:solidFill>
                          <a:latin typeface="Montserrat"/>
                          <a:ea typeface="Montserrat"/>
                          <a:cs typeface="Montserrat"/>
                          <a:sym typeface="Montserrat"/>
                        </a:rPr>
                        <a:t>Coupons</a:t>
                      </a:r>
                      <a:endParaRPr lang="en-US" sz="1100"/>
                    </a:p>
                  </a:txBody>
                  <a:tcPr marL="91440" marR="91440" marT="91440" marB="9144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F2F2F2"/>
                    </a:solidFill>
                  </a:tcPr>
                </a:tc>
                <a:tc>
                  <a:txBody>
                    <a:bodyPr anchor="t" rtlCol="false"/>
                    <a:lstStyle/>
                    <a:p>
                      <a:pPr algn="ctr">
                        <a:lnSpc>
                          <a:spcPts val="3779"/>
                        </a:lnSpc>
                        <a:defRPr/>
                      </a:pPr>
                      <a:r>
                        <a:rPr lang="en-US" sz="3150">
                          <a:solidFill>
                            <a:srgbClr val="000000"/>
                          </a:solidFill>
                          <a:latin typeface="Montserrat"/>
                          <a:ea typeface="Montserrat"/>
                          <a:cs typeface="Montserrat"/>
                          <a:sym typeface="Montserrat"/>
                        </a:rPr>
                        <a:t>26</a:t>
                      </a:r>
                      <a:endParaRPr lang="en-US" sz="1100"/>
                    </a:p>
                  </a:txBody>
                  <a:tcPr marL="91440" marR="91440" marT="91440" marB="9144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F2F2F2"/>
                    </a:solidFill>
                  </a:tcPr>
                </a:tc>
                <a:tc>
                  <a:txBody>
                    <a:bodyPr anchor="t" rtlCol="false"/>
                    <a:lstStyle/>
                    <a:p>
                      <a:pPr algn="ctr">
                        <a:lnSpc>
                          <a:spcPts val="3779"/>
                        </a:lnSpc>
                        <a:defRPr/>
                      </a:pPr>
                      <a:r>
                        <a:rPr lang="en-US" sz="3150">
                          <a:solidFill>
                            <a:srgbClr val="000000"/>
                          </a:solidFill>
                          <a:latin typeface="Montserrat"/>
                          <a:ea typeface="Montserrat"/>
                          <a:cs typeface="Montserrat"/>
                          <a:sym typeface="Montserrat"/>
                        </a:rPr>
                        <a:t>Discount rules and usage limits</a:t>
                      </a:r>
                      <a:endParaRPr lang="en-US" sz="1100"/>
                    </a:p>
                  </a:txBody>
                  <a:tcPr marL="91440" marR="91440" marT="91440" marB="9144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F2F2F2"/>
                    </a:solidFill>
                  </a:tcPr>
                </a:tc>
              </a:tr>
              <a:tr h="876300">
                <a:tc>
                  <a:txBody>
                    <a:bodyPr anchor="t" rtlCol="false"/>
                    <a:lstStyle/>
                    <a:p>
                      <a:pPr algn="l">
                        <a:lnSpc>
                          <a:spcPts val="3779"/>
                        </a:lnSpc>
                        <a:defRPr/>
                      </a:pPr>
                      <a:r>
                        <a:rPr lang="en-US" sz="3150">
                          <a:solidFill>
                            <a:srgbClr val="000000"/>
                          </a:solidFill>
                          <a:latin typeface="Montserrat"/>
                          <a:ea typeface="Montserrat"/>
                          <a:cs typeface="Montserrat"/>
                          <a:sym typeface="Montserrat"/>
                        </a:rPr>
                        <a:t>Authentication &amp; Users</a:t>
                      </a:r>
                      <a:endParaRPr lang="en-US" sz="1100"/>
                    </a:p>
                  </a:txBody>
                  <a:tcPr marL="91440" marR="91440" marT="91440" marB="9144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DAE3F3"/>
                    </a:solidFill>
                  </a:tcPr>
                </a:tc>
                <a:tc>
                  <a:txBody>
                    <a:bodyPr anchor="t" rtlCol="false"/>
                    <a:lstStyle/>
                    <a:p>
                      <a:pPr algn="ctr">
                        <a:lnSpc>
                          <a:spcPts val="3779"/>
                        </a:lnSpc>
                        <a:defRPr/>
                      </a:pPr>
                      <a:r>
                        <a:rPr lang="en-US" sz="3150">
                          <a:solidFill>
                            <a:srgbClr val="000000"/>
                          </a:solidFill>
                          <a:latin typeface="Montserrat"/>
                          <a:ea typeface="Montserrat"/>
                          <a:cs typeface="Montserrat"/>
                          <a:sym typeface="Montserrat"/>
                        </a:rPr>
                        <a:t>26</a:t>
                      </a:r>
                      <a:endParaRPr lang="en-US" sz="1100"/>
                    </a:p>
                  </a:txBody>
                  <a:tcPr marL="91440" marR="91440" marT="91440" marB="9144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DAE3F3"/>
                    </a:solidFill>
                  </a:tcPr>
                </a:tc>
                <a:tc>
                  <a:txBody>
                    <a:bodyPr anchor="t" rtlCol="false"/>
                    <a:lstStyle/>
                    <a:p>
                      <a:pPr algn="ctr">
                        <a:lnSpc>
                          <a:spcPts val="3779"/>
                        </a:lnSpc>
                        <a:defRPr/>
                      </a:pPr>
                      <a:r>
                        <a:rPr lang="en-US" sz="3150">
                          <a:solidFill>
                            <a:srgbClr val="000000"/>
                          </a:solidFill>
                          <a:latin typeface="Montserrat"/>
                          <a:ea typeface="Montserrat"/>
                          <a:cs typeface="Montserrat"/>
                          <a:sym typeface="Montserrat"/>
                        </a:rPr>
                        <a:t>Login, reset and profile access</a:t>
                      </a:r>
                      <a:endParaRPr lang="en-US" sz="1100"/>
                    </a:p>
                  </a:txBody>
                  <a:tcPr marL="91440" marR="91440" marT="91440" marB="9144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DAE3F3"/>
                    </a:solidFill>
                  </a:tcPr>
                </a:tc>
              </a:tr>
            </a:tbl>
          </a:graphicData>
        </a:graphic>
      </p:graphicFrame>
      <p:grpSp>
        <p:nvGrpSpPr>
          <p:cNvPr name="Group 10" id="10"/>
          <p:cNvGrpSpPr/>
          <p:nvPr/>
        </p:nvGrpSpPr>
        <p:grpSpPr>
          <a:xfrm rot="0">
            <a:off x="685800" y="6172200"/>
            <a:ext cx="16916400" cy="657225"/>
            <a:chOff x="0" y="0"/>
            <a:chExt cx="22555200" cy="876300"/>
          </a:xfrm>
        </p:grpSpPr>
        <p:sp>
          <p:nvSpPr>
            <p:cNvPr name="Freeform 11" id="11"/>
            <p:cNvSpPr/>
            <p:nvPr/>
          </p:nvSpPr>
          <p:spPr>
            <a:xfrm flipH="false" flipV="false" rot="0">
              <a:off x="0" y="0"/>
              <a:ext cx="22555200" cy="876300"/>
            </a:xfrm>
            <a:custGeom>
              <a:avLst/>
              <a:gdLst/>
              <a:ahLst/>
              <a:cxnLst/>
              <a:rect r="r" b="b" t="t" l="l"/>
              <a:pathLst>
                <a:path h="876300" w="22555200">
                  <a:moveTo>
                    <a:pt x="0" y="0"/>
                  </a:moveTo>
                  <a:lnTo>
                    <a:pt x="22555200" y="0"/>
                  </a:lnTo>
                  <a:lnTo>
                    <a:pt x="22555200" y="876300"/>
                  </a:lnTo>
                  <a:lnTo>
                    <a:pt x="0" y="876300"/>
                  </a:lnTo>
                  <a:close/>
                </a:path>
              </a:pathLst>
            </a:custGeom>
            <a:solidFill>
              <a:srgbClr val="1F4E79"/>
            </a:solidFill>
          </p:spPr>
        </p:sp>
      </p:grpSp>
      <p:sp>
        <p:nvSpPr>
          <p:cNvPr name="TextBox 12" id="12"/>
          <p:cNvSpPr txBox="true"/>
          <p:nvPr/>
        </p:nvSpPr>
        <p:spPr>
          <a:xfrm rot="0">
            <a:off x="885825" y="6272212"/>
            <a:ext cx="7461528" cy="457200"/>
          </a:xfrm>
          <a:prstGeom prst="rect">
            <a:avLst/>
          </a:prstGeom>
        </p:spPr>
        <p:txBody>
          <a:bodyPr anchor="t" rtlCol="false" tIns="0" lIns="0" bIns="0" rIns="0">
            <a:spAutoFit/>
          </a:bodyPr>
          <a:lstStyle/>
          <a:p>
            <a:pPr algn="l">
              <a:lnSpc>
                <a:spcPts val="3644"/>
              </a:lnSpc>
            </a:pPr>
            <a:r>
              <a:rPr lang="en-US" sz="3037" b="true">
                <a:solidFill>
                  <a:srgbClr val="FFFFFF"/>
                </a:solidFill>
                <a:latin typeface="Montserrat Bold"/>
                <a:ea typeface="Montserrat Bold"/>
                <a:cs typeface="Montserrat Bold"/>
                <a:sym typeface="Montserrat Bold"/>
              </a:rPr>
              <a:t>Shared production baseline: 806ba19</a:t>
            </a:r>
          </a:p>
        </p:txBody>
      </p:sp>
      <p:sp>
        <p:nvSpPr>
          <p:cNvPr name="TextBox 13" id="13"/>
          <p:cNvSpPr txBox="true"/>
          <p:nvPr/>
        </p:nvSpPr>
        <p:spPr>
          <a:xfrm rot="0">
            <a:off x="914400" y="7129462"/>
            <a:ext cx="16430625" cy="1428750"/>
          </a:xfrm>
          <a:prstGeom prst="rect">
            <a:avLst/>
          </a:prstGeom>
        </p:spPr>
        <p:txBody>
          <a:bodyPr anchor="t" rtlCol="false" tIns="0" lIns="0" bIns="0" rIns="0">
            <a:spAutoFit/>
          </a:bodyPr>
          <a:lstStyle/>
          <a:p>
            <a:pPr algn="l">
              <a:lnSpc>
                <a:spcPts val="3779"/>
              </a:lnSpc>
            </a:pPr>
            <a:r>
              <a:rPr lang="en-US" sz="3150">
                <a:solidFill>
                  <a:srgbClr val="000000"/>
                </a:solidFill>
                <a:latin typeface="Montserrat"/>
                <a:ea typeface="Montserrat"/>
                <a:cs typeface="Montserrat"/>
                <a:sym typeface="Montserrat"/>
              </a:rPr>
              <a:t>395 matching mutant signatures across all three joint runs</a:t>
            </a:r>
          </a:p>
          <a:p>
            <a:pPr algn="l">
              <a:lnSpc>
                <a:spcPts val="3779"/>
              </a:lnSpc>
            </a:pPr>
            <a:r>
              <a:rPr lang="en-US" sz="3150">
                <a:solidFill>
                  <a:srgbClr val="000000"/>
                </a:solidFill>
                <a:latin typeface="Montserrat"/>
                <a:ea typeface="Montserrat"/>
                <a:cs typeface="Montserrat"/>
                <a:sym typeface="Montserrat"/>
              </a:rPr>
              <a:t>Original-code tests: baseline 88/88, manual-analysis 118/118, AI 118/118</a:t>
            </a:r>
          </a:p>
          <a:p>
            <a:pPr algn="l">
              <a:lnSpc>
                <a:spcPts val="3779"/>
              </a:lnSpc>
            </a:pPr>
            <a:r>
              <a:rPr lang="en-US" sz="3150">
                <a:solidFill>
                  <a:srgbClr val="000000"/>
                </a:solidFill>
                <a:latin typeface="Montserrat"/>
                <a:ea typeface="Montserrat"/>
                <a:cs typeface="Montserrat"/>
                <a:sym typeface="Montserrat"/>
              </a:rPr>
              <a:t>Same source, mutation scope, timeout policy and isolated data setup</a:t>
            </a:r>
          </a:p>
        </p:txBody>
      </p:sp>
      <p:sp>
        <p:nvSpPr>
          <p:cNvPr name="TextBox 14" id="14"/>
          <p:cNvSpPr txBox="true"/>
          <p:nvPr/>
        </p:nvSpPr>
        <p:spPr>
          <a:xfrm rot="0">
            <a:off x="685800" y="9258300"/>
            <a:ext cx="16916400" cy="390525"/>
          </a:xfrm>
          <a:prstGeom prst="rect">
            <a:avLst/>
          </a:prstGeom>
        </p:spPr>
        <p:txBody>
          <a:bodyPr anchor="t" rtlCol="false" tIns="0" lIns="0" bIns="0" rIns="0">
            <a:spAutoFit/>
          </a:bodyPr>
          <a:lstStyle/>
          <a:p>
            <a:pPr algn="l">
              <a:lnSpc>
                <a:spcPts val="3104"/>
              </a:lnSpc>
            </a:pPr>
            <a:r>
              <a:rPr lang="en-US" sz="2587" b="true">
                <a:solidFill>
                  <a:srgbClr val="C00000"/>
                </a:solidFill>
                <a:latin typeface="Montserrat Bold"/>
                <a:ea typeface="Montserrat Bold"/>
                <a:cs typeface="Montserrat Bold"/>
                <a:sym typeface="Montserrat Bold"/>
              </a:rPr>
              <a:t>Inputs are handed-over collections. Equal test counts do not imply independent generation.</a:t>
            </a:r>
          </a:p>
        </p:txBody>
      </p:sp>
    </p:spTree>
  </p:cSld>
  <p:clrMapOvr>
    <a:masterClrMapping/>
  </p:clrMapOvr>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7571" cy="246888"/>
            <a:chOff x="0" y="0"/>
            <a:chExt cx="24383428" cy="329184"/>
          </a:xfrm>
        </p:grpSpPr>
        <p:sp>
          <p:nvSpPr>
            <p:cNvPr name="Freeform 3" id="3"/>
            <p:cNvSpPr/>
            <p:nvPr/>
          </p:nvSpPr>
          <p:spPr>
            <a:xfrm flipH="false" flipV="false" rot="0">
              <a:off x="0" y="0"/>
              <a:ext cx="24383364" cy="329184"/>
            </a:xfrm>
            <a:custGeom>
              <a:avLst/>
              <a:gdLst/>
              <a:ahLst/>
              <a:cxnLst/>
              <a:rect r="r" b="b" t="t" l="l"/>
              <a:pathLst>
                <a:path h="329184" w="24383364">
                  <a:moveTo>
                    <a:pt x="0" y="0"/>
                  </a:moveTo>
                  <a:lnTo>
                    <a:pt x="24383364" y="0"/>
                  </a:lnTo>
                  <a:lnTo>
                    <a:pt x="24383364" y="329184"/>
                  </a:lnTo>
                  <a:lnTo>
                    <a:pt x="0" y="329184"/>
                  </a:lnTo>
                  <a:close/>
                </a:path>
              </a:pathLst>
            </a:custGeom>
            <a:solidFill>
              <a:srgbClr val="1F4E79"/>
            </a:solidFill>
          </p:spPr>
        </p:sp>
      </p:grpSp>
      <p:grpSp>
        <p:nvGrpSpPr>
          <p:cNvPr name="Group 4" id="4"/>
          <p:cNvGrpSpPr/>
          <p:nvPr/>
        </p:nvGrpSpPr>
        <p:grpSpPr>
          <a:xfrm rot="0">
            <a:off x="0" y="9848088"/>
            <a:ext cx="18287571" cy="438912"/>
            <a:chOff x="0" y="0"/>
            <a:chExt cx="24383428" cy="585216"/>
          </a:xfrm>
        </p:grpSpPr>
        <p:sp>
          <p:nvSpPr>
            <p:cNvPr name="Freeform 5" id="5"/>
            <p:cNvSpPr/>
            <p:nvPr/>
          </p:nvSpPr>
          <p:spPr>
            <a:xfrm flipH="false" flipV="false" rot="0">
              <a:off x="0" y="0"/>
              <a:ext cx="24383364" cy="585216"/>
            </a:xfrm>
            <a:custGeom>
              <a:avLst/>
              <a:gdLst/>
              <a:ahLst/>
              <a:cxnLst/>
              <a:rect r="r" b="b" t="t" l="l"/>
              <a:pathLst>
                <a:path h="585216" w="24383364">
                  <a:moveTo>
                    <a:pt x="0" y="0"/>
                  </a:moveTo>
                  <a:lnTo>
                    <a:pt x="24383364" y="0"/>
                  </a:lnTo>
                  <a:lnTo>
                    <a:pt x="24383364" y="585216"/>
                  </a:lnTo>
                  <a:lnTo>
                    <a:pt x="0" y="585216"/>
                  </a:lnTo>
                  <a:close/>
                </a:path>
              </a:pathLst>
            </a:custGeom>
            <a:solidFill>
              <a:srgbClr val="1F4E79"/>
            </a:solidFill>
          </p:spPr>
        </p:sp>
      </p:grpSp>
      <p:sp>
        <p:nvSpPr>
          <p:cNvPr name="TextBox 6" id="6"/>
          <p:cNvSpPr txBox="true"/>
          <p:nvPr/>
        </p:nvSpPr>
        <p:spPr>
          <a:xfrm rot="0">
            <a:off x="548640" y="301466"/>
            <a:ext cx="17282160" cy="266700"/>
          </a:xfrm>
          <a:prstGeom prst="rect">
            <a:avLst/>
          </a:prstGeom>
        </p:spPr>
        <p:txBody>
          <a:bodyPr anchor="t" rtlCol="false" tIns="0" lIns="0" bIns="0" rIns="0">
            <a:spAutoFit/>
          </a:bodyPr>
          <a:lstStyle/>
          <a:p>
            <a:pPr algn="l">
              <a:lnSpc>
                <a:spcPts val="2160"/>
              </a:lnSpc>
            </a:pPr>
            <a:r>
              <a:rPr lang="en-US" b="true" sz="1800">
                <a:solidFill>
                  <a:srgbClr val="000000"/>
                </a:solidFill>
                <a:latin typeface="Montserrat Bold"/>
                <a:ea typeface="Montserrat Bold"/>
                <a:cs typeface="Montserrat Bold"/>
                <a:sym typeface="Montserrat Bold"/>
              </a:rPr>
              <a:t>2026 AI-First - Seminar T10 - Mutation Testing &amp; Test Effectiveness</a:t>
            </a:r>
          </a:p>
        </p:txBody>
      </p:sp>
      <p:sp>
        <p:nvSpPr>
          <p:cNvPr name="TextBox 7" id="7"/>
          <p:cNvSpPr txBox="true"/>
          <p:nvPr/>
        </p:nvSpPr>
        <p:spPr>
          <a:xfrm rot="0">
            <a:off x="548640" y="822960"/>
            <a:ext cx="17282160" cy="752475"/>
          </a:xfrm>
          <a:prstGeom prst="rect">
            <a:avLst/>
          </a:prstGeom>
        </p:spPr>
        <p:txBody>
          <a:bodyPr anchor="t" rtlCol="false" tIns="0" lIns="0" bIns="0" rIns="0">
            <a:spAutoFit/>
          </a:bodyPr>
          <a:lstStyle/>
          <a:p>
            <a:pPr algn="l">
              <a:lnSpc>
                <a:spcPts val="5940"/>
              </a:lnSpc>
            </a:pPr>
            <a:r>
              <a:rPr lang="en-US" b="true" sz="4950">
                <a:solidFill>
                  <a:srgbClr val="000000"/>
                </a:solidFill>
                <a:latin typeface="Montserrat Bold"/>
                <a:ea typeface="Montserrat Bold"/>
                <a:cs typeface="Montserrat Bold"/>
                <a:sym typeface="Montserrat Bold"/>
              </a:rPr>
              <a:t>Case 1: the empty-cart oracle</a:t>
            </a:r>
          </a:p>
        </p:txBody>
      </p:sp>
      <p:sp>
        <p:nvSpPr>
          <p:cNvPr name="TextBox 8" id="8"/>
          <p:cNvSpPr txBox="true"/>
          <p:nvPr/>
        </p:nvSpPr>
        <p:spPr>
          <a:xfrm rot="0">
            <a:off x="548640" y="9938956"/>
            <a:ext cx="17282160" cy="257175"/>
          </a:xfrm>
          <a:prstGeom prst="rect">
            <a:avLst/>
          </a:prstGeom>
        </p:spPr>
        <p:txBody>
          <a:bodyPr anchor="t" rtlCol="false" tIns="0" lIns="0" bIns="0" rIns="0">
            <a:spAutoFit/>
          </a:bodyPr>
          <a:lstStyle/>
          <a:p>
            <a:pPr algn="l">
              <a:lnSpc>
                <a:spcPts val="2025"/>
              </a:lnSpc>
            </a:pPr>
            <a:r>
              <a:rPr lang="en-US" sz="1687" b="true">
                <a:solidFill>
                  <a:srgbClr val="FFFFFF"/>
                </a:solidFill>
                <a:latin typeface="Montserrat Bold"/>
                <a:ea typeface="Montserrat Bold"/>
                <a:cs typeface="Montserrat Bold"/>
                <a:sym typeface="Montserrat Bold"/>
              </a:rPr>
              <a:t>7 / 15 - Cart &amp; Orders</a:t>
            </a:r>
          </a:p>
        </p:txBody>
      </p:sp>
      <p:sp>
        <p:nvSpPr>
          <p:cNvPr name="TextBox 9" id="9"/>
          <p:cNvSpPr txBox="true"/>
          <p:nvPr/>
        </p:nvSpPr>
        <p:spPr>
          <a:xfrm rot="0">
            <a:off x="685800" y="2214562"/>
            <a:ext cx="16916400" cy="514350"/>
          </a:xfrm>
          <a:prstGeom prst="rect">
            <a:avLst/>
          </a:prstGeom>
        </p:spPr>
        <p:txBody>
          <a:bodyPr anchor="t" rtlCol="false" tIns="0" lIns="0" bIns="0" rIns="0">
            <a:spAutoFit/>
          </a:bodyPr>
          <a:lstStyle/>
          <a:p>
            <a:pPr algn="l">
              <a:lnSpc>
                <a:spcPts val="4050"/>
              </a:lnSpc>
            </a:pPr>
            <a:r>
              <a:rPr lang="en-US" b="true" sz="3375">
                <a:solidFill>
                  <a:srgbClr val="000000"/>
                </a:solidFill>
                <a:latin typeface="Montserrat Bold"/>
                <a:ea typeface="Montserrat Bold"/>
                <a:cs typeface="Montserrat Bold"/>
                <a:sym typeface="Montserrat Bold"/>
              </a:rPr>
              <a:t>Rule: a newly created cart contains no items.</a:t>
            </a:r>
          </a:p>
        </p:txBody>
      </p:sp>
      <p:grpSp>
        <p:nvGrpSpPr>
          <p:cNvPr name="Group 10" id="10"/>
          <p:cNvGrpSpPr/>
          <p:nvPr/>
        </p:nvGrpSpPr>
        <p:grpSpPr>
          <a:xfrm rot="0">
            <a:off x="685800" y="3171825"/>
            <a:ext cx="8172450" cy="657225"/>
            <a:chOff x="0" y="0"/>
            <a:chExt cx="10896600" cy="876300"/>
          </a:xfrm>
        </p:grpSpPr>
        <p:sp>
          <p:nvSpPr>
            <p:cNvPr name="Freeform 11" id="11"/>
            <p:cNvSpPr/>
            <p:nvPr/>
          </p:nvSpPr>
          <p:spPr>
            <a:xfrm flipH="false" flipV="false" rot="0">
              <a:off x="0" y="0"/>
              <a:ext cx="10896600" cy="876300"/>
            </a:xfrm>
            <a:custGeom>
              <a:avLst/>
              <a:gdLst/>
              <a:ahLst/>
              <a:cxnLst/>
              <a:rect r="r" b="b" t="t" l="l"/>
              <a:pathLst>
                <a:path h="876300" w="10896600">
                  <a:moveTo>
                    <a:pt x="0" y="0"/>
                  </a:moveTo>
                  <a:lnTo>
                    <a:pt x="10896600" y="0"/>
                  </a:lnTo>
                  <a:lnTo>
                    <a:pt x="10896600" y="876300"/>
                  </a:lnTo>
                  <a:lnTo>
                    <a:pt x="0" y="876300"/>
                  </a:lnTo>
                  <a:close/>
                </a:path>
              </a:pathLst>
            </a:custGeom>
            <a:solidFill>
              <a:srgbClr val="1F4E79"/>
            </a:solidFill>
          </p:spPr>
        </p:sp>
      </p:grpSp>
      <p:sp>
        <p:nvSpPr>
          <p:cNvPr name="TextBox 12" id="12"/>
          <p:cNvSpPr txBox="true"/>
          <p:nvPr/>
        </p:nvSpPr>
        <p:spPr>
          <a:xfrm rot="0">
            <a:off x="885825" y="3271838"/>
            <a:ext cx="1614726" cy="457200"/>
          </a:xfrm>
          <a:prstGeom prst="rect">
            <a:avLst/>
          </a:prstGeom>
        </p:spPr>
        <p:txBody>
          <a:bodyPr anchor="t" rtlCol="false" tIns="0" lIns="0" bIns="0" rIns="0">
            <a:spAutoFit/>
          </a:bodyPr>
          <a:lstStyle/>
          <a:p>
            <a:pPr algn="l">
              <a:lnSpc>
                <a:spcPts val="3644"/>
              </a:lnSpc>
            </a:pPr>
            <a:r>
              <a:rPr lang="en-US" sz="3037" b="true">
                <a:solidFill>
                  <a:srgbClr val="FFFFFF"/>
                </a:solidFill>
                <a:latin typeface="Montserrat Bold"/>
                <a:ea typeface="Montserrat Bold"/>
                <a:cs typeface="Montserrat Bold"/>
                <a:sym typeface="Montserrat Bold"/>
              </a:rPr>
              <a:t>Original</a:t>
            </a:r>
          </a:p>
        </p:txBody>
      </p:sp>
      <p:grpSp>
        <p:nvGrpSpPr>
          <p:cNvPr name="Group 13" id="13"/>
          <p:cNvGrpSpPr/>
          <p:nvPr/>
        </p:nvGrpSpPr>
        <p:grpSpPr>
          <a:xfrm rot="0">
            <a:off x="685800" y="3829050"/>
            <a:ext cx="8172450" cy="1485900"/>
            <a:chOff x="0" y="0"/>
            <a:chExt cx="10896600" cy="1981200"/>
          </a:xfrm>
        </p:grpSpPr>
        <p:sp>
          <p:nvSpPr>
            <p:cNvPr name="Freeform 14" id="14"/>
            <p:cNvSpPr/>
            <p:nvPr/>
          </p:nvSpPr>
          <p:spPr>
            <a:xfrm flipH="false" flipV="false" rot="0">
              <a:off x="0" y="0"/>
              <a:ext cx="10896600" cy="1981200"/>
            </a:xfrm>
            <a:custGeom>
              <a:avLst/>
              <a:gdLst/>
              <a:ahLst/>
              <a:cxnLst/>
              <a:rect r="r" b="b" t="t" l="l"/>
              <a:pathLst>
                <a:path h="1981200" w="10896600">
                  <a:moveTo>
                    <a:pt x="0" y="0"/>
                  </a:moveTo>
                  <a:lnTo>
                    <a:pt x="10896600" y="0"/>
                  </a:lnTo>
                  <a:lnTo>
                    <a:pt x="10896600" y="1981200"/>
                  </a:lnTo>
                  <a:lnTo>
                    <a:pt x="0" y="1981200"/>
                  </a:lnTo>
                  <a:close/>
                </a:path>
              </a:pathLst>
            </a:custGeom>
            <a:solidFill>
              <a:srgbClr val="F2F2F2"/>
            </a:solidFill>
          </p:spPr>
        </p:sp>
      </p:grpSp>
      <p:sp>
        <p:nvSpPr>
          <p:cNvPr name="TextBox 15" id="15"/>
          <p:cNvSpPr txBox="true"/>
          <p:nvPr/>
        </p:nvSpPr>
        <p:spPr>
          <a:xfrm rot="0">
            <a:off x="914400" y="4086225"/>
            <a:ext cx="7715250" cy="457200"/>
          </a:xfrm>
          <a:prstGeom prst="rect">
            <a:avLst/>
          </a:prstGeom>
        </p:spPr>
        <p:txBody>
          <a:bodyPr anchor="t" rtlCol="false" tIns="0" lIns="0" bIns="0" rIns="0">
            <a:spAutoFit/>
          </a:bodyPr>
          <a:lstStyle/>
          <a:p>
            <a:pPr algn="l">
              <a:lnSpc>
                <a:spcPts val="3644"/>
              </a:lnSpc>
            </a:pPr>
            <a:r>
              <a:rPr lang="en-US" sz="3037">
                <a:solidFill>
                  <a:srgbClr val="000000"/>
                </a:solidFill>
                <a:latin typeface="Montserrat"/>
                <a:ea typeface="Montserrat"/>
                <a:cs typeface="Montserrat"/>
                <a:sym typeface="Montserrat"/>
              </a:rPr>
              <a:t>userCarts[userId] = [];</a:t>
            </a:r>
          </a:p>
        </p:txBody>
      </p:sp>
      <p:grpSp>
        <p:nvGrpSpPr>
          <p:cNvPr name="Group 16" id="16"/>
          <p:cNvGrpSpPr/>
          <p:nvPr/>
        </p:nvGrpSpPr>
        <p:grpSpPr>
          <a:xfrm rot="0">
            <a:off x="9429750" y="3171825"/>
            <a:ext cx="8172450" cy="657225"/>
            <a:chOff x="0" y="0"/>
            <a:chExt cx="10896600" cy="876300"/>
          </a:xfrm>
        </p:grpSpPr>
        <p:sp>
          <p:nvSpPr>
            <p:cNvPr name="Freeform 17" id="17"/>
            <p:cNvSpPr/>
            <p:nvPr/>
          </p:nvSpPr>
          <p:spPr>
            <a:xfrm flipH="false" flipV="false" rot="0">
              <a:off x="0" y="0"/>
              <a:ext cx="10896600" cy="876300"/>
            </a:xfrm>
            <a:custGeom>
              <a:avLst/>
              <a:gdLst/>
              <a:ahLst/>
              <a:cxnLst/>
              <a:rect r="r" b="b" t="t" l="l"/>
              <a:pathLst>
                <a:path h="876300" w="10896600">
                  <a:moveTo>
                    <a:pt x="0" y="0"/>
                  </a:moveTo>
                  <a:lnTo>
                    <a:pt x="10896600" y="0"/>
                  </a:lnTo>
                  <a:lnTo>
                    <a:pt x="10896600" y="876300"/>
                  </a:lnTo>
                  <a:lnTo>
                    <a:pt x="0" y="876300"/>
                  </a:lnTo>
                  <a:close/>
                </a:path>
              </a:pathLst>
            </a:custGeom>
            <a:solidFill>
              <a:srgbClr val="1F4E79"/>
            </a:solidFill>
          </p:spPr>
        </p:sp>
      </p:grpSp>
      <p:sp>
        <p:nvSpPr>
          <p:cNvPr name="TextBox 18" id="18"/>
          <p:cNvSpPr txBox="true"/>
          <p:nvPr/>
        </p:nvSpPr>
        <p:spPr>
          <a:xfrm rot="0">
            <a:off x="9629775" y="3271838"/>
            <a:ext cx="5131713" cy="457200"/>
          </a:xfrm>
          <a:prstGeom prst="rect">
            <a:avLst/>
          </a:prstGeom>
        </p:spPr>
        <p:txBody>
          <a:bodyPr anchor="t" rtlCol="false" tIns="0" lIns="0" bIns="0" rIns="0">
            <a:spAutoFit/>
          </a:bodyPr>
          <a:lstStyle/>
          <a:p>
            <a:pPr algn="l">
              <a:lnSpc>
                <a:spcPts val="3644"/>
              </a:lnSpc>
            </a:pPr>
            <a:r>
              <a:rPr lang="en-US" sz="3037" b="true">
                <a:solidFill>
                  <a:srgbClr val="FFFFFF"/>
                </a:solidFill>
                <a:latin typeface="Montserrat Bold"/>
                <a:ea typeface="Montserrat Bold"/>
                <a:cs typeface="Montserrat Bold"/>
                <a:sym typeface="Montserrat Bold"/>
              </a:rPr>
              <a:t>Mutant: ArrayDeclaration</a:t>
            </a:r>
          </a:p>
        </p:txBody>
      </p:sp>
      <p:grpSp>
        <p:nvGrpSpPr>
          <p:cNvPr name="Group 19" id="19"/>
          <p:cNvGrpSpPr/>
          <p:nvPr/>
        </p:nvGrpSpPr>
        <p:grpSpPr>
          <a:xfrm rot="0">
            <a:off x="9429750" y="3829050"/>
            <a:ext cx="8172450" cy="1485900"/>
            <a:chOff x="0" y="0"/>
            <a:chExt cx="10896600" cy="1981200"/>
          </a:xfrm>
        </p:grpSpPr>
        <p:sp>
          <p:nvSpPr>
            <p:cNvPr name="Freeform 20" id="20"/>
            <p:cNvSpPr/>
            <p:nvPr/>
          </p:nvSpPr>
          <p:spPr>
            <a:xfrm flipH="false" flipV="false" rot="0">
              <a:off x="0" y="0"/>
              <a:ext cx="10896600" cy="1981200"/>
            </a:xfrm>
            <a:custGeom>
              <a:avLst/>
              <a:gdLst/>
              <a:ahLst/>
              <a:cxnLst/>
              <a:rect r="r" b="b" t="t" l="l"/>
              <a:pathLst>
                <a:path h="1981200" w="10896600">
                  <a:moveTo>
                    <a:pt x="0" y="0"/>
                  </a:moveTo>
                  <a:lnTo>
                    <a:pt x="10896600" y="0"/>
                  </a:lnTo>
                  <a:lnTo>
                    <a:pt x="10896600" y="1981200"/>
                  </a:lnTo>
                  <a:lnTo>
                    <a:pt x="0" y="1981200"/>
                  </a:lnTo>
                  <a:close/>
                </a:path>
              </a:pathLst>
            </a:custGeom>
            <a:solidFill>
              <a:srgbClr val="F2F2F2"/>
            </a:solidFill>
          </p:spPr>
        </p:sp>
      </p:grpSp>
      <p:sp>
        <p:nvSpPr>
          <p:cNvPr name="TextBox 21" id="21"/>
          <p:cNvSpPr txBox="true"/>
          <p:nvPr/>
        </p:nvSpPr>
        <p:spPr>
          <a:xfrm rot="0">
            <a:off x="9658350" y="4086225"/>
            <a:ext cx="7715250" cy="914400"/>
          </a:xfrm>
          <a:prstGeom prst="rect">
            <a:avLst/>
          </a:prstGeom>
        </p:spPr>
        <p:txBody>
          <a:bodyPr anchor="t" rtlCol="false" tIns="0" lIns="0" bIns="0" rIns="0">
            <a:spAutoFit/>
          </a:bodyPr>
          <a:lstStyle/>
          <a:p>
            <a:pPr algn="l">
              <a:lnSpc>
                <a:spcPts val="3644"/>
              </a:lnSpc>
            </a:pPr>
            <a:r>
              <a:rPr lang="en-US" sz="3037">
                <a:solidFill>
                  <a:srgbClr val="000000"/>
                </a:solidFill>
                <a:latin typeface="Montserrat"/>
                <a:ea typeface="Montserrat"/>
                <a:cs typeface="Montserrat"/>
                <a:sym typeface="Montserrat"/>
              </a:rPr>
              <a:t>userCarts[userId] =</a:t>
            </a:r>
          </a:p>
          <a:p>
            <a:pPr algn="l">
              <a:lnSpc>
                <a:spcPts val="3644"/>
              </a:lnSpc>
            </a:pPr>
            <a:r>
              <a:rPr lang="en-US" sz="3037">
                <a:solidFill>
                  <a:srgbClr val="000000"/>
                </a:solidFill>
                <a:latin typeface="Montserrat"/>
                <a:ea typeface="Montserrat"/>
                <a:cs typeface="Montserrat"/>
                <a:sym typeface="Montserrat"/>
              </a:rPr>
              <a:t>["Stryker was here"];</a:t>
            </a:r>
          </a:p>
        </p:txBody>
      </p:sp>
      <p:grpSp>
        <p:nvGrpSpPr>
          <p:cNvPr name="Group 22" id="22"/>
          <p:cNvGrpSpPr/>
          <p:nvPr/>
        </p:nvGrpSpPr>
        <p:grpSpPr>
          <a:xfrm rot="0">
            <a:off x="685800" y="5829300"/>
            <a:ext cx="16916400" cy="657225"/>
            <a:chOff x="0" y="0"/>
            <a:chExt cx="22555200" cy="876300"/>
          </a:xfrm>
        </p:grpSpPr>
        <p:sp>
          <p:nvSpPr>
            <p:cNvPr name="Freeform 23" id="23"/>
            <p:cNvSpPr/>
            <p:nvPr/>
          </p:nvSpPr>
          <p:spPr>
            <a:xfrm flipH="false" flipV="false" rot="0">
              <a:off x="0" y="0"/>
              <a:ext cx="22555200" cy="876300"/>
            </a:xfrm>
            <a:custGeom>
              <a:avLst/>
              <a:gdLst/>
              <a:ahLst/>
              <a:cxnLst/>
              <a:rect r="r" b="b" t="t" l="l"/>
              <a:pathLst>
                <a:path h="876300" w="22555200">
                  <a:moveTo>
                    <a:pt x="0" y="0"/>
                  </a:moveTo>
                  <a:lnTo>
                    <a:pt x="22555200" y="0"/>
                  </a:lnTo>
                  <a:lnTo>
                    <a:pt x="22555200" y="876300"/>
                  </a:lnTo>
                  <a:lnTo>
                    <a:pt x="0" y="876300"/>
                  </a:lnTo>
                  <a:close/>
                </a:path>
              </a:pathLst>
            </a:custGeom>
            <a:solidFill>
              <a:srgbClr val="1F4E79"/>
            </a:solidFill>
          </p:spPr>
        </p:sp>
      </p:grpSp>
      <p:sp>
        <p:nvSpPr>
          <p:cNvPr name="TextBox 24" id="24"/>
          <p:cNvSpPr txBox="true"/>
          <p:nvPr/>
        </p:nvSpPr>
        <p:spPr>
          <a:xfrm rot="0">
            <a:off x="885825" y="5929312"/>
            <a:ext cx="4954667" cy="457200"/>
          </a:xfrm>
          <a:prstGeom prst="rect">
            <a:avLst/>
          </a:prstGeom>
        </p:spPr>
        <p:txBody>
          <a:bodyPr anchor="t" rtlCol="false" tIns="0" lIns="0" bIns="0" rIns="0">
            <a:spAutoFit/>
          </a:bodyPr>
          <a:lstStyle/>
          <a:p>
            <a:pPr algn="l">
              <a:lnSpc>
                <a:spcPts val="3644"/>
              </a:lnSpc>
            </a:pPr>
            <a:r>
              <a:rPr lang="en-US" sz="3037" b="true">
                <a:solidFill>
                  <a:srgbClr val="FFFFFF"/>
                </a:solidFill>
                <a:latin typeface="Montserrat Bold"/>
                <a:ea typeface="Montserrat Bold"/>
                <a:cs typeface="Montserrat Bold"/>
                <a:sym typeface="Montserrat Bold"/>
              </a:rPr>
              <a:t>The missing observation</a:t>
            </a:r>
          </a:p>
        </p:txBody>
      </p:sp>
      <p:sp>
        <p:nvSpPr>
          <p:cNvPr name="TextBox 25" id="25"/>
          <p:cNvSpPr txBox="true"/>
          <p:nvPr/>
        </p:nvSpPr>
        <p:spPr>
          <a:xfrm rot="0">
            <a:off x="914400" y="6786562"/>
            <a:ext cx="16430625" cy="1028700"/>
          </a:xfrm>
          <a:prstGeom prst="rect">
            <a:avLst/>
          </a:prstGeom>
        </p:spPr>
        <p:txBody>
          <a:bodyPr anchor="t" rtlCol="false" tIns="0" lIns="0" bIns="0" rIns="0">
            <a:spAutoFit/>
          </a:bodyPr>
          <a:lstStyle/>
          <a:p>
            <a:pPr algn="l">
              <a:lnSpc>
                <a:spcPts val="4050"/>
              </a:lnSpc>
            </a:pPr>
            <a:r>
              <a:rPr lang="en-US" sz="3375">
                <a:solidFill>
                  <a:srgbClr val="000000"/>
                </a:solidFill>
                <a:latin typeface="Montserrat"/>
                <a:ea typeface="Montserrat"/>
                <a:cs typeface="Montserrat"/>
                <a:sym typeface="Montserrat"/>
              </a:rPr>
              <a:t>Weak check: expect(empty.status).toBe(200)</a:t>
            </a:r>
          </a:p>
          <a:p>
            <a:pPr algn="l">
              <a:lnSpc>
                <a:spcPts val="4050"/>
              </a:lnSpc>
            </a:pPr>
            <a:r>
              <a:rPr lang="en-US" sz="3375">
                <a:solidFill>
                  <a:srgbClr val="000000"/>
                </a:solidFill>
                <a:latin typeface="Montserrat"/>
                <a:ea typeface="Montserrat"/>
                <a:cs typeface="Montserrat"/>
                <a:sym typeface="Montserrat"/>
              </a:rPr>
              <a:t>Stronger check: expect(empty.body).toEqual([])</a:t>
            </a:r>
          </a:p>
        </p:txBody>
      </p:sp>
      <p:grpSp>
        <p:nvGrpSpPr>
          <p:cNvPr name="Group 26" id="26"/>
          <p:cNvGrpSpPr/>
          <p:nvPr/>
        </p:nvGrpSpPr>
        <p:grpSpPr>
          <a:xfrm rot="0">
            <a:off x="685800" y="8715375"/>
            <a:ext cx="16916400" cy="800100"/>
            <a:chOff x="0" y="0"/>
            <a:chExt cx="22555200" cy="1066800"/>
          </a:xfrm>
        </p:grpSpPr>
        <p:sp>
          <p:nvSpPr>
            <p:cNvPr name="Freeform 27" id="27"/>
            <p:cNvSpPr/>
            <p:nvPr/>
          </p:nvSpPr>
          <p:spPr>
            <a:xfrm flipH="false" flipV="false" rot="0">
              <a:off x="0" y="0"/>
              <a:ext cx="22555200" cy="1066800"/>
            </a:xfrm>
            <a:custGeom>
              <a:avLst/>
              <a:gdLst/>
              <a:ahLst/>
              <a:cxnLst/>
              <a:rect r="r" b="b" t="t" l="l"/>
              <a:pathLst>
                <a:path h="1066800" w="22555200">
                  <a:moveTo>
                    <a:pt x="0" y="0"/>
                  </a:moveTo>
                  <a:lnTo>
                    <a:pt x="22555200" y="0"/>
                  </a:lnTo>
                  <a:lnTo>
                    <a:pt x="22555200" y="1066800"/>
                  </a:lnTo>
                  <a:lnTo>
                    <a:pt x="0" y="1066800"/>
                  </a:lnTo>
                  <a:close/>
                </a:path>
              </a:pathLst>
            </a:custGeom>
            <a:solidFill>
              <a:srgbClr val="DAE3F3"/>
            </a:solidFill>
          </p:spPr>
        </p:sp>
      </p:grpSp>
      <p:sp>
        <p:nvSpPr>
          <p:cNvPr name="TextBox 28" id="28"/>
          <p:cNvSpPr txBox="true"/>
          <p:nvPr/>
        </p:nvSpPr>
        <p:spPr>
          <a:xfrm rot="0">
            <a:off x="914400" y="8910637"/>
            <a:ext cx="16430625" cy="419100"/>
          </a:xfrm>
          <a:prstGeom prst="rect">
            <a:avLst/>
          </a:prstGeom>
        </p:spPr>
        <p:txBody>
          <a:bodyPr anchor="t" rtlCol="false" tIns="0" lIns="0" bIns="0" rIns="0">
            <a:spAutoFit/>
          </a:bodyPr>
          <a:lstStyle/>
          <a:p>
            <a:pPr algn="l">
              <a:lnSpc>
                <a:spcPts val="3375"/>
              </a:lnSpc>
            </a:pPr>
            <a:r>
              <a:rPr lang="en-US" b="true" sz="2812">
                <a:solidFill>
                  <a:srgbClr val="000000"/>
                </a:solidFill>
                <a:latin typeface="Montserrat Bold"/>
                <a:ea typeface="Montserrat Bold"/>
                <a:cs typeface="Montserrat Bold"/>
                <a:sym typeface="Montserrat Bold"/>
              </a:rPr>
              <a:t>A successful request can still return incorrect data. Inspect the response body.</a:t>
            </a:r>
          </a:p>
        </p:txBody>
      </p:sp>
    </p:spTree>
  </p:cSld>
  <p:clrMapOvr>
    <a:masterClrMapping/>
  </p:clrMapOvr>
</p:sld>
</file>

<file path=ppt/slides/slide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7571" cy="246888"/>
            <a:chOff x="0" y="0"/>
            <a:chExt cx="24383428" cy="329184"/>
          </a:xfrm>
        </p:grpSpPr>
        <p:sp>
          <p:nvSpPr>
            <p:cNvPr name="Freeform 3" id="3"/>
            <p:cNvSpPr/>
            <p:nvPr/>
          </p:nvSpPr>
          <p:spPr>
            <a:xfrm flipH="false" flipV="false" rot="0">
              <a:off x="0" y="0"/>
              <a:ext cx="24383364" cy="329184"/>
            </a:xfrm>
            <a:custGeom>
              <a:avLst/>
              <a:gdLst/>
              <a:ahLst/>
              <a:cxnLst/>
              <a:rect r="r" b="b" t="t" l="l"/>
              <a:pathLst>
                <a:path h="329184" w="24383364">
                  <a:moveTo>
                    <a:pt x="0" y="0"/>
                  </a:moveTo>
                  <a:lnTo>
                    <a:pt x="24383364" y="0"/>
                  </a:lnTo>
                  <a:lnTo>
                    <a:pt x="24383364" y="329184"/>
                  </a:lnTo>
                  <a:lnTo>
                    <a:pt x="0" y="329184"/>
                  </a:lnTo>
                  <a:close/>
                </a:path>
              </a:pathLst>
            </a:custGeom>
            <a:solidFill>
              <a:srgbClr val="1F4E79"/>
            </a:solidFill>
          </p:spPr>
        </p:sp>
      </p:grpSp>
      <p:grpSp>
        <p:nvGrpSpPr>
          <p:cNvPr name="Group 4" id="4"/>
          <p:cNvGrpSpPr/>
          <p:nvPr/>
        </p:nvGrpSpPr>
        <p:grpSpPr>
          <a:xfrm rot="0">
            <a:off x="0" y="9848088"/>
            <a:ext cx="18287571" cy="438912"/>
            <a:chOff x="0" y="0"/>
            <a:chExt cx="24383428" cy="585216"/>
          </a:xfrm>
        </p:grpSpPr>
        <p:sp>
          <p:nvSpPr>
            <p:cNvPr name="Freeform 5" id="5"/>
            <p:cNvSpPr/>
            <p:nvPr/>
          </p:nvSpPr>
          <p:spPr>
            <a:xfrm flipH="false" flipV="false" rot="0">
              <a:off x="0" y="0"/>
              <a:ext cx="24383364" cy="585216"/>
            </a:xfrm>
            <a:custGeom>
              <a:avLst/>
              <a:gdLst/>
              <a:ahLst/>
              <a:cxnLst/>
              <a:rect r="r" b="b" t="t" l="l"/>
              <a:pathLst>
                <a:path h="585216" w="24383364">
                  <a:moveTo>
                    <a:pt x="0" y="0"/>
                  </a:moveTo>
                  <a:lnTo>
                    <a:pt x="24383364" y="0"/>
                  </a:lnTo>
                  <a:lnTo>
                    <a:pt x="24383364" y="585216"/>
                  </a:lnTo>
                  <a:lnTo>
                    <a:pt x="0" y="585216"/>
                  </a:lnTo>
                  <a:close/>
                </a:path>
              </a:pathLst>
            </a:custGeom>
            <a:solidFill>
              <a:srgbClr val="1F4E79"/>
            </a:solidFill>
          </p:spPr>
        </p:sp>
      </p:grpSp>
      <p:sp>
        <p:nvSpPr>
          <p:cNvPr name="TextBox 6" id="6"/>
          <p:cNvSpPr txBox="true"/>
          <p:nvPr/>
        </p:nvSpPr>
        <p:spPr>
          <a:xfrm rot="0">
            <a:off x="548640" y="301466"/>
            <a:ext cx="17282160" cy="266700"/>
          </a:xfrm>
          <a:prstGeom prst="rect">
            <a:avLst/>
          </a:prstGeom>
        </p:spPr>
        <p:txBody>
          <a:bodyPr anchor="t" rtlCol="false" tIns="0" lIns="0" bIns="0" rIns="0">
            <a:spAutoFit/>
          </a:bodyPr>
          <a:lstStyle/>
          <a:p>
            <a:pPr algn="l">
              <a:lnSpc>
                <a:spcPts val="2160"/>
              </a:lnSpc>
            </a:pPr>
            <a:r>
              <a:rPr lang="en-US" b="true" sz="1800">
                <a:solidFill>
                  <a:srgbClr val="000000"/>
                </a:solidFill>
                <a:latin typeface="Montserrat Bold"/>
                <a:ea typeface="Montserrat Bold"/>
                <a:cs typeface="Montserrat Bold"/>
                <a:sym typeface="Montserrat Bold"/>
              </a:rPr>
              <a:t>2026 AI-First - Seminar T10 - Mutation Testing &amp; Test Effectiveness</a:t>
            </a:r>
          </a:p>
        </p:txBody>
      </p:sp>
      <p:sp>
        <p:nvSpPr>
          <p:cNvPr name="TextBox 7" id="7"/>
          <p:cNvSpPr txBox="true"/>
          <p:nvPr/>
        </p:nvSpPr>
        <p:spPr>
          <a:xfrm rot="0">
            <a:off x="548640" y="822960"/>
            <a:ext cx="17282160" cy="752475"/>
          </a:xfrm>
          <a:prstGeom prst="rect">
            <a:avLst/>
          </a:prstGeom>
        </p:spPr>
        <p:txBody>
          <a:bodyPr anchor="t" rtlCol="false" tIns="0" lIns="0" bIns="0" rIns="0">
            <a:spAutoFit/>
          </a:bodyPr>
          <a:lstStyle/>
          <a:p>
            <a:pPr algn="l">
              <a:lnSpc>
                <a:spcPts val="5940"/>
              </a:lnSpc>
            </a:pPr>
            <a:r>
              <a:rPr lang="en-US" b="true" sz="4950">
                <a:solidFill>
                  <a:srgbClr val="000000"/>
                </a:solidFill>
                <a:latin typeface="Montserrat Bold"/>
                <a:ea typeface="Montserrat Bold"/>
                <a:cs typeface="Montserrat Bold"/>
                <a:sym typeface="Montserrat Bold"/>
              </a:rPr>
              <a:t>Case 2: coupon usage-limit data</a:t>
            </a:r>
          </a:p>
        </p:txBody>
      </p:sp>
      <p:sp>
        <p:nvSpPr>
          <p:cNvPr name="TextBox 8" id="8"/>
          <p:cNvSpPr txBox="true"/>
          <p:nvPr/>
        </p:nvSpPr>
        <p:spPr>
          <a:xfrm rot="0">
            <a:off x="548640" y="9938956"/>
            <a:ext cx="17282160" cy="257175"/>
          </a:xfrm>
          <a:prstGeom prst="rect">
            <a:avLst/>
          </a:prstGeom>
        </p:spPr>
        <p:txBody>
          <a:bodyPr anchor="t" rtlCol="false" tIns="0" lIns="0" bIns="0" rIns="0">
            <a:spAutoFit/>
          </a:bodyPr>
          <a:lstStyle/>
          <a:p>
            <a:pPr algn="l">
              <a:lnSpc>
                <a:spcPts val="2025"/>
              </a:lnSpc>
            </a:pPr>
            <a:r>
              <a:rPr lang="en-US" sz="1687" b="true">
                <a:solidFill>
                  <a:srgbClr val="FFFFFF"/>
                </a:solidFill>
                <a:latin typeface="Montserrat Bold"/>
                <a:ea typeface="Montserrat Bold"/>
                <a:cs typeface="Montserrat Bold"/>
                <a:sym typeface="Montserrat Bold"/>
              </a:rPr>
              <a:t>8 / 15 - Coupons</a:t>
            </a:r>
          </a:p>
        </p:txBody>
      </p:sp>
      <p:grpSp>
        <p:nvGrpSpPr>
          <p:cNvPr name="Group 9" id="9"/>
          <p:cNvGrpSpPr/>
          <p:nvPr/>
        </p:nvGrpSpPr>
        <p:grpSpPr>
          <a:xfrm rot="0">
            <a:off x="685800" y="2243138"/>
            <a:ext cx="8172450" cy="657225"/>
            <a:chOff x="0" y="0"/>
            <a:chExt cx="10896600" cy="876300"/>
          </a:xfrm>
        </p:grpSpPr>
        <p:sp>
          <p:nvSpPr>
            <p:cNvPr name="Freeform 10" id="10"/>
            <p:cNvSpPr/>
            <p:nvPr/>
          </p:nvSpPr>
          <p:spPr>
            <a:xfrm flipH="false" flipV="false" rot="0">
              <a:off x="0" y="0"/>
              <a:ext cx="10896600" cy="876300"/>
            </a:xfrm>
            <a:custGeom>
              <a:avLst/>
              <a:gdLst/>
              <a:ahLst/>
              <a:cxnLst/>
              <a:rect r="r" b="b" t="t" l="l"/>
              <a:pathLst>
                <a:path h="876300" w="10896600">
                  <a:moveTo>
                    <a:pt x="0" y="0"/>
                  </a:moveTo>
                  <a:lnTo>
                    <a:pt x="10896600" y="0"/>
                  </a:lnTo>
                  <a:lnTo>
                    <a:pt x="10896600" y="876300"/>
                  </a:lnTo>
                  <a:lnTo>
                    <a:pt x="0" y="876300"/>
                  </a:lnTo>
                  <a:close/>
                </a:path>
              </a:pathLst>
            </a:custGeom>
            <a:solidFill>
              <a:srgbClr val="1F4E79"/>
            </a:solidFill>
          </p:spPr>
        </p:sp>
      </p:grpSp>
      <p:sp>
        <p:nvSpPr>
          <p:cNvPr name="TextBox 11" id="11"/>
          <p:cNvSpPr txBox="true"/>
          <p:nvPr/>
        </p:nvSpPr>
        <p:spPr>
          <a:xfrm rot="0">
            <a:off x="885825" y="2343150"/>
            <a:ext cx="3917513" cy="457200"/>
          </a:xfrm>
          <a:prstGeom prst="rect">
            <a:avLst/>
          </a:prstGeom>
        </p:spPr>
        <p:txBody>
          <a:bodyPr anchor="t" rtlCol="false" tIns="0" lIns="0" bIns="0" rIns="0">
            <a:spAutoFit/>
          </a:bodyPr>
          <a:lstStyle/>
          <a:p>
            <a:pPr algn="l">
              <a:lnSpc>
                <a:spcPts val="3644"/>
              </a:lnSpc>
            </a:pPr>
            <a:r>
              <a:rPr lang="en-US" sz="3037" b="true">
                <a:solidFill>
                  <a:srgbClr val="FFFFFF"/>
                </a:solidFill>
                <a:latin typeface="Montserrat Bold"/>
                <a:ea typeface="Montserrat Bold"/>
                <a:cs typeface="Montserrat Bold"/>
                <a:sym typeface="Montserrat Bold"/>
              </a:rPr>
              <a:t>Original expression</a:t>
            </a:r>
          </a:p>
        </p:txBody>
      </p:sp>
      <p:grpSp>
        <p:nvGrpSpPr>
          <p:cNvPr name="Group 12" id="12"/>
          <p:cNvGrpSpPr/>
          <p:nvPr/>
        </p:nvGrpSpPr>
        <p:grpSpPr>
          <a:xfrm rot="0">
            <a:off x="685800" y="2900362"/>
            <a:ext cx="8172450" cy="1157288"/>
            <a:chOff x="0" y="0"/>
            <a:chExt cx="10896600" cy="1543050"/>
          </a:xfrm>
        </p:grpSpPr>
        <p:sp>
          <p:nvSpPr>
            <p:cNvPr name="Freeform 13" id="13"/>
            <p:cNvSpPr/>
            <p:nvPr/>
          </p:nvSpPr>
          <p:spPr>
            <a:xfrm flipH="false" flipV="false" rot="0">
              <a:off x="0" y="0"/>
              <a:ext cx="10896600" cy="1543050"/>
            </a:xfrm>
            <a:custGeom>
              <a:avLst/>
              <a:gdLst/>
              <a:ahLst/>
              <a:cxnLst/>
              <a:rect r="r" b="b" t="t" l="l"/>
              <a:pathLst>
                <a:path h="1543050" w="10896600">
                  <a:moveTo>
                    <a:pt x="0" y="0"/>
                  </a:moveTo>
                  <a:lnTo>
                    <a:pt x="10896600" y="0"/>
                  </a:lnTo>
                  <a:lnTo>
                    <a:pt x="10896600" y="1543050"/>
                  </a:lnTo>
                  <a:lnTo>
                    <a:pt x="0" y="1543050"/>
                  </a:lnTo>
                  <a:close/>
                </a:path>
              </a:pathLst>
            </a:custGeom>
            <a:solidFill>
              <a:srgbClr val="F2F2F2"/>
            </a:solidFill>
          </p:spPr>
        </p:sp>
      </p:grpSp>
      <p:sp>
        <p:nvSpPr>
          <p:cNvPr name="TextBox 14" id="14"/>
          <p:cNvSpPr txBox="true"/>
          <p:nvPr/>
        </p:nvSpPr>
        <p:spPr>
          <a:xfrm rot="0">
            <a:off x="914400" y="3157538"/>
            <a:ext cx="7715250" cy="457200"/>
          </a:xfrm>
          <a:prstGeom prst="rect">
            <a:avLst/>
          </a:prstGeom>
        </p:spPr>
        <p:txBody>
          <a:bodyPr anchor="t" rtlCol="false" tIns="0" lIns="0" bIns="0" rIns="0">
            <a:spAutoFit/>
          </a:bodyPr>
          <a:lstStyle/>
          <a:p>
            <a:pPr algn="l">
              <a:lnSpc>
                <a:spcPts val="3644"/>
              </a:lnSpc>
            </a:pPr>
            <a:r>
              <a:rPr lang="en-US" sz="3037">
                <a:solidFill>
                  <a:srgbClr val="000000"/>
                </a:solidFill>
                <a:latin typeface="Montserrat"/>
                <a:ea typeface="Montserrat"/>
                <a:cs typeface="Montserrat"/>
                <a:sym typeface="Montserrat"/>
              </a:rPr>
              <a:t>max_uses_per_user || 1</a:t>
            </a:r>
          </a:p>
        </p:txBody>
      </p:sp>
      <p:grpSp>
        <p:nvGrpSpPr>
          <p:cNvPr name="Group 15" id="15"/>
          <p:cNvGrpSpPr/>
          <p:nvPr/>
        </p:nvGrpSpPr>
        <p:grpSpPr>
          <a:xfrm rot="0">
            <a:off x="9429750" y="2243138"/>
            <a:ext cx="8172450" cy="657225"/>
            <a:chOff x="0" y="0"/>
            <a:chExt cx="10896600" cy="876300"/>
          </a:xfrm>
        </p:grpSpPr>
        <p:sp>
          <p:nvSpPr>
            <p:cNvPr name="Freeform 16" id="16"/>
            <p:cNvSpPr/>
            <p:nvPr/>
          </p:nvSpPr>
          <p:spPr>
            <a:xfrm flipH="false" flipV="false" rot="0">
              <a:off x="0" y="0"/>
              <a:ext cx="10896600" cy="876300"/>
            </a:xfrm>
            <a:custGeom>
              <a:avLst/>
              <a:gdLst/>
              <a:ahLst/>
              <a:cxnLst/>
              <a:rect r="r" b="b" t="t" l="l"/>
              <a:pathLst>
                <a:path h="876300" w="10896600">
                  <a:moveTo>
                    <a:pt x="0" y="0"/>
                  </a:moveTo>
                  <a:lnTo>
                    <a:pt x="10896600" y="0"/>
                  </a:lnTo>
                  <a:lnTo>
                    <a:pt x="10896600" y="876300"/>
                  </a:lnTo>
                  <a:lnTo>
                    <a:pt x="0" y="876300"/>
                  </a:lnTo>
                  <a:close/>
                </a:path>
              </a:pathLst>
            </a:custGeom>
            <a:solidFill>
              <a:srgbClr val="1F4E79"/>
            </a:solidFill>
          </p:spPr>
        </p:sp>
      </p:grpSp>
      <p:sp>
        <p:nvSpPr>
          <p:cNvPr name="TextBox 17" id="17"/>
          <p:cNvSpPr txBox="true"/>
          <p:nvPr/>
        </p:nvSpPr>
        <p:spPr>
          <a:xfrm rot="0">
            <a:off x="9629775" y="2343150"/>
            <a:ext cx="4166235" cy="457200"/>
          </a:xfrm>
          <a:prstGeom prst="rect">
            <a:avLst/>
          </a:prstGeom>
        </p:spPr>
        <p:txBody>
          <a:bodyPr anchor="t" rtlCol="false" tIns="0" lIns="0" bIns="0" rIns="0">
            <a:spAutoFit/>
          </a:bodyPr>
          <a:lstStyle/>
          <a:p>
            <a:pPr algn="l">
              <a:lnSpc>
                <a:spcPts val="3644"/>
              </a:lnSpc>
            </a:pPr>
            <a:r>
              <a:rPr lang="en-US" sz="3037" b="true">
                <a:solidFill>
                  <a:srgbClr val="FFFFFF"/>
                </a:solidFill>
                <a:latin typeface="Montserrat Bold"/>
                <a:ea typeface="Montserrat Bold"/>
                <a:cs typeface="Montserrat Bold"/>
                <a:sym typeface="Montserrat Bold"/>
              </a:rPr>
              <a:t>Mutant replacement</a:t>
            </a:r>
          </a:p>
        </p:txBody>
      </p:sp>
      <p:grpSp>
        <p:nvGrpSpPr>
          <p:cNvPr name="Group 18" id="18"/>
          <p:cNvGrpSpPr/>
          <p:nvPr/>
        </p:nvGrpSpPr>
        <p:grpSpPr>
          <a:xfrm rot="0">
            <a:off x="9429750" y="2900362"/>
            <a:ext cx="8172450" cy="1157288"/>
            <a:chOff x="0" y="0"/>
            <a:chExt cx="10896600" cy="1543050"/>
          </a:xfrm>
        </p:grpSpPr>
        <p:sp>
          <p:nvSpPr>
            <p:cNvPr name="Freeform 19" id="19"/>
            <p:cNvSpPr/>
            <p:nvPr/>
          </p:nvSpPr>
          <p:spPr>
            <a:xfrm flipH="false" flipV="false" rot="0">
              <a:off x="0" y="0"/>
              <a:ext cx="10896600" cy="1543050"/>
            </a:xfrm>
            <a:custGeom>
              <a:avLst/>
              <a:gdLst/>
              <a:ahLst/>
              <a:cxnLst/>
              <a:rect r="r" b="b" t="t" l="l"/>
              <a:pathLst>
                <a:path h="1543050" w="10896600">
                  <a:moveTo>
                    <a:pt x="0" y="0"/>
                  </a:moveTo>
                  <a:lnTo>
                    <a:pt x="10896600" y="0"/>
                  </a:lnTo>
                  <a:lnTo>
                    <a:pt x="10896600" y="1543050"/>
                  </a:lnTo>
                  <a:lnTo>
                    <a:pt x="0" y="1543050"/>
                  </a:lnTo>
                  <a:close/>
                </a:path>
              </a:pathLst>
            </a:custGeom>
            <a:solidFill>
              <a:srgbClr val="F2F2F2"/>
            </a:solidFill>
          </p:spPr>
        </p:sp>
      </p:grpSp>
      <p:sp>
        <p:nvSpPr>
          <p:cNvPr name="TextBox 20" id="20"/>
          <p:cNvSpPr txBox="true"/>
          <p:nvPr/>
        </p:nvSpPr>
        <p:spPr>
          <a:xfrm rot="0">
            <a:off x="9658350" y="3157538"/>
            <a:ext cx="7715250" cy="457200"/>
          </a:xfrm>
          <a:prstGeom prst="rect">
            <a:avLst/>
          </a:prstGeom>
        </p:spPr>
        <p:txBody>
          <a:bodyPr anchor="t" rtlCol="false" tIns="0" lIns="0" bIns="0" rIns="0">
            <a:spAutoFit/>
          </a:bodyPr>
          <a:lstStyle/>
          <a:p>
            <a:pPr algn="l">
              <a:lnSpc>
                <a:spcPts val="3644"/>
              </a:lnSpc>
            </a:pPr>
            <a:r>
              <a:rPr lang="en-US" sz="3037">
                <a:solidFill>
                  <a:srgbClr val="000000"/>
                </a:solidFill>
                <a:latin typeface="Montserrat"/>
                <a:ea typeface="Montserrat"/>
                <a:cs typeface="Montserrat"/>
                <a:sym typeface="Montserrat"/>
              </a:rPr>
              <a:t>max_uses_per_user &amp;&amp; 1</a:t>
            </a:r>
          </a:p>
        </p:txBody>
      </p:sp>
      <p:graphicFrame>
        <p:nvGraphicFramePr>
          <p:cNvPr name="Table 21" id="21"/>
          <p:cNvGraphicFramePr>
            <a:graphicFrameLocks noGrp="true"/>
          </p:cNvGraphicFramePr>
          <p:nvPr/>
        </p:nvGraphicFramePr>
        <p:xfrm>
          <a:off x="685800" y="4500562"/>
          <a:ext cx="16878300" cy="2533650"/>
        </p:xfrm>
        <a:graphic>
          <a:graphicData uri="http://schemas.openxmlformats.org/drawingml/2006/table">
            <a:tbl>
              <a:tblPr/>
              <a:tblGrid>
                <a:gridCol w="4275836"/>
                <a:gridCol w="3783552"/>
                <a:gridCol w="3783552"/>
                <a:gridCol w="5035359"/>
              </a:tblGrid>
              <a:tr h="844550">
                <a:tc>
                  <a:txBody>
                    <a:bodyPr anchor="t" rtlCol="false"/>
                    <a:lstStyle/>
                    <a:p>
                      <a:pPr algn="l">
                        <a:lnSpc>
                          <a:spcPts val="3779"/>
                        </a:lnSpc>
                        <a:defRPr/>
                      </a:pPr>
                      <a:r>
                        <a:rPr lang="en-US" sz="3150" b="true">
                          <a:solidFill>
                            <a:srgbClr val="FFFFFF"/>
                          </a:solidFill>
                          <a:latin typeface="Montserrat Bold"/>
                          <a:ea typeface="Montserrat Bold"/>
                          <a:cs typeface="Montserrat Bold"/>
                          <a:sym typeface="Montserrat Bold"/>
                        </a:rPr>
                        <a:t>Admin input</a:t>
                      </a:r>
                      <a:endParaRPr lang="en-US" sz="1100"/>
                    </a:p>
                  </a:txBody>
                  <a:tcPr marL="91440" marR="91440" marT="91440" marB="9144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1F4E79"/>
                    </a:solidFill>
                  </a:tcPr>
                </a:tc>
                <a:tc>
                  <a:txBody>
                    <a:bodyPr anchor="t" rtlCol="false"/>
                    <a:lstStyle/>
                    <a:p>
                      <a:pPr algn="ctr">
                        <a:lnSpc>
                          <a:spcPts val="3779"/>
                        </a:lnSpc>
                        <a:defRPr/>
                      </a:pPr>
                      <a:r>
                        <a:rPr lang="en-US" sz="3150" b="true">
                          <a:solidFill>
                            <a:srgbClr val="FFFFFF"/>
                          </a:solidFill>
                          <a:latin typeface="Montserrat Bold"/>
                          <a:ea typeface="Montserrat Bold"/>
                          <a:cs typeface="Montserrat Bold"/>
                          <a:sym typeface="Montserrat Bold"/>
                        </a:rPr>
                        <a:t>Original stores</a:t>
                      </a:r>
                      <a:endParaRPr lang="en-US" sz="1100"/>
                    </a:p>
                  </a:txBody>
                  <a:tcPr marL="91440" marR="91440" marT="91440" marB="9144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1F4E79"/>
                    </a:solidFill>
                  </a:tcPr>
                </a:tc>
                <a:tc>
                  <a:txBody>
                    <a:bodyPr anchor="t" rtlCol="false"/>
                    <a:lstStyle/>
                    <a:p>
                      <a:pPr algn="ctr">
                        <a:lnSpc>
                          <a:spcPts val="3779"/>
                        </a:lnSpc>
                        <a:defRPr/>
                      </a:pPr>
                      <a:r>
                        <a:rPr lang="en-US" sz="3150" b="true">
                          <a:solidFill>
                            <a:srgbClr val="FFFFFF"/>
                          </a:solidFill>
                          <a:latin typeface="Montserrat Bold"/>
                          <a:ea typeface="Montserrat Bold"/>
                          <a:cs typeface="Montserrat Bold"/>
                          <a:sym typeface="Montserrat Bold"/>
                        </a:rPr>
                        <a:t>Mutant stores</a:t>
                      </a:r>
                      <a:endParaRPr lang="en-US" sz="1100"/>
                    </a:p>
                  </a:txBody>
                  <a:tcPr marL="91440" marR="91440" marT="91440" marB="9144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1F4E79"/>
                    </a:solidFill>
                  </a:tcPr>
                </a:tc>
                <a:tc>
                  <a:txBody>
                    <a:bodyPr anchor="t" rtlCol="false"/>
                    <a:lstStyle/>
                    <a:p>
                      <a:pPr algn="ctr">
                        <a:lnSpc>
                          <a:spcPts val="3779"/>
                        </a:lnSpc>
                        <a:defRPr/>
                      </a:pPr>
                      <a:r>
                        <a:rPr lang="en-US" sz="3150" b="true">
                          <a:solidFill>
                            <a:srgbClr val="FFFFFF"/>
                          </a:solidFill>
                          <a:latin typeface="Montserrat Bold"/>
                          <a:ea typeface="Montserrat Bold"/>
                          <a:cs typeface="Montserrat Bold"/>
                          <a:sym typeface="Montserrat Bold"/>
                        </a:rPr>
                        <a:t>Test distinguishes?</a:t>
                      </a:r>
                      <a:endParaRPr lang="en-US" sz="1100"/>
                    </a:p>
                  </a:txBody>
                  <a:tcPr marL="91440" marR="91440" marT="91440" marB="9144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1F4E79"/>
                    </a:solidFill>
                  </a:tcPr>
                </a:tc>
              </a:tr>
              <a:tr h="844550">
                <a:tc>
                  <a:txBody>
                    <a:bodyPr anchor="t" rtlCol="false"/>
                    <a:lstStyle/>
                    <a:p>
                      <a:pPr algn="ctr">
                        <a:lnSpc>
                          <a:spcPts val="3779"/>
                        </a:lnSpc>
                        <a:defRPr/>
                      </a:pPr>
                      <a:r>
                        <a:rPr lang="en-US" sz="3150">
                          <a:solidFill>
                            <a:srgbClr val="000000"/>
                          </a:solidFill>
                          <a:latin typeface="Montserrat"/>
                          <a:ea typeface="Montserrat"/>
                          <a:cs typeface="Montserrat"/>
                          <a:sym typeface="Montserrat"/>
                        </a:rPr>
                        <a:t>1</a:t>
                      </a:r>
                      <a:endParaRPr lang="en-US" sz="1100"/>
                    </a:p>
                  </a:txBody>
                  <a:tcPr marL="91440" marR="91440" marT="91440" marB="9144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DAE3F3"/>
                    </a:solidFill>
                  </a:tcPr>
                </a:tc>
                <a:tc>
                  <a:txBody>
                    <a:bodyPr anchor="t" rtlCol="false"/>
                    <a:lstStyle/>
                    <a:p>
                      <a:pPr algn="ctr">
                        <a:lnSpc>
                          <a:spcPts val="3779"/>
                        </a:lnSpc>
                        <a:defRPr/>
                      </a:pPr>
                      <a:r>
                        <a:rPr lang="en-US" sz="3150">
                          <a:solidFill>
                            <a:srgbClr val="000000"/>
                          </a:solidFill>
                          <a:latin typeface="Montserrat"/>
                          <a:ea typeface="Montserrat"/>
                          <a:cs typeface="Montserrat"/>
                          <a:sym typeface="Montserrat"/>
                        </a:rPr>
                        <a:t>1</a:t>
                      </a:r>
                      <a:endParaRPr lang="en-US" sz="1100"/>
                    </a:p>
                  </a:txBody>
                  <a:tcPr marL="91440" marR="91440" marT="91440" marB="9144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DAE3F3"/>
                    </a:solidFill>
                  </a:tcPr>
                </a:tc>
                <a:tc>
                  <a:txBody>
                    <a:bodyPr anchor="t" rtlCol="false"/>
                    <a:lstStyle/>
                    <a:p>
                      <a:pPr algn="ctr">
                        <a:lnSpc>
                          <a:spcPts val="3779"/>
                        </a:lnSpc>
                        <a:defRPr/>
                      </a:pPr>
                      <a:r>
                        <a:rPr lang="en-US" sz="3150">
                          <a:solidFill>
                            <a:srgbClr val="000000"/>
                          </a:solidFill>
                          <a:latin typeface="Montserrat"/>
                          <a:ea typeface="Montserrat"/>
                          <a:cs typeface="Montserrat"/>
                          <a:sym typeface="Montserrat"/>
                        </a:rPr>
                        <a:t>1</a:t>
                      </a:r>
                      <a:endParaRPr lang="en-US" sz="1100"/>
                    </a:p>
                  </a:txBody>
                  <a:tcPr marL="91440" marR="91440" marT="91440" marB="9144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DAE3F3"/>
                    </a:solidFill>
                  </a:tcPr>
                </a:tc>
                <a:tc>
                  <a:txBody>
                    <a:bodyPr anchor="t" rtlCol="false"/>
                    <a:lstStyle/>
                    <a:p>
                      <a:pPr algn="ctr">
                        <a:lnSpc>
                          <a:spcPts val="3779"/>
                        </a:lnSpc>
                        <a:defRPr/>
                      </a:pPr>
                      <a:r>
                        <a:rPr lang="en-US" sz="3150">
                          <a:solidFill>
                            <a:srgbClr val="000000"/>
                          </a:solidFill>
                          <a:latin typeface="Montserrat"/>
                          <a:ea typeface="Montserrat"/>
                          <a:cs typeface="Montserrat"/>
                          <a:sym typeface="Montserrat"/>
                        </a:rPr>
                        <a:t>No</a:t>
                      </a:r>
                      <a:endParaRPr lang="en-US" sz="1100"/>
                    </a:p>
                  </a:txBody>
                  <a:tcPr marL="91440" marR="91440" marT="91440" marB="9144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DAE3F3"/>
                    </a:solidFill>
                  </a:tcPr>
                </a:tc>
              </a:tr>
              <a:tr h="844550">
                <a:tc>
                  <a:txBody>
                    <a:bodyPr anchor="t" rtlCol="false"/>
                    <a:lstStyle/>
                    <a:p>
                      <a:pPr algn="ctr">
                        <a:lnSpc>
                          <a:spcPts val="3779"/>
                        </a:lnSpc>
                        <a:defRPr/>
                      </a:pPr>
                      <a:r>
                        <a:rPr lang="en-US" sz="3150">
                          <a:solidFill>
                            <a:srgbClr val="000000"/>
                          </a:solidFill>
                          <a:latin typeface="Montserrat"/>
                          <a:ea typeface="Montserrat"/>
                          <a:cs typeface="Montserrat"/>
                          <a:sym typeface="Montserrat"/>
                        </a:rPr>
                        <a:t>3</a:t>
                      </a:r>
                      <a:endParaRPr lang="en-US" sz="1100"/>
                    </a:p>
                  </a:txBody>
                  <a:tcPr marL="91440" marR="91440" marT="91440" marB="9144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F2F2F2"/>
                    </a:solidFill>
                  </a:tcPr>
                </a:tc>
                <a:tc>
                  <a:txBody>
                    <a:bodyPr anchor="t" rtlCol="false"/>
                    <a:lstStyle/>
                    <a:p>
                      <a:pPr algn="ctr">
                        <a:lnSpc>
                          <a:spcPts val="3779"/>
                        </a:lnSpc>
                        <a:defRPr/>
                      </a:pPr>
                      <a:r>
                        <a:rPr lang="en-US" sz="3150">
                          <a:solidFill>
                            <a:srgbClr val="000000"/>
                          </a:solidFill>
                          <a:latin typeface="Montserrat"/>
                          <a:ea typeface="Montserrat"/>
                          <a:cs typeface="Montserrat"/>
                          <a:sym typeface="Montserrat"/>
                        </a:rPr>
                        <a:t>3</a:t>
                      </a:r>
                      <a:endParaRPr lang="en-US" sz="1100"/>
                    </a:p>
                  </a:txBody>
                  <a:tcPr marL="91440" marR="91440" marT="91440" marB="9144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F2F2F2"/>
                    </a:solidFill>
                  </a:tcPr>
                </a:tc>
                <a:tc>
                  <a:txBody>
                    <a:bodyPr anchor="t" rtlCol="false"/>
                    <a:lstStyle/>
                    <a:p>
                      <a:pPr algn="ctr">
                        <a:lnSpc>
                          <a:spcPts val="3779"/>
                        </a:lnSpc>
                        <a:defRPr/>
                      </a:pPr>
                      <a:r>
                        <a:rPr lang="en-US" sz="3150">
                          <a:solidFill>
                            <a:srgbClr val="000000"/>
                          </a:solidFill>
                          <a:latin typeface="Montserrat"/>
                          <a:ea typeface="Montserrat"/>
                          <a:cs typeface="Montserrat"/>
                          <a:sym typeface="Montserrat"/>
                        </a:rPr>
                        <a:t>1</a:t>
                      </a:r>
                      <a:endParaRPr lang="en-US" sz="1100"/>
                    </a:p>
                  </a:txBody>
                  <a:tcPr marL="91440" marR="91440" marT="91440" marB="9144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F2F2F2"/>
                    </a:solidFill>
                  </a:tcPr>
                </a:tc>
                <a:tc>
                  <a:txBody>
                    <a:bodyPr anchor="t" rtlCol="false"/>
                    <a:lstStyle/>
                    <a:p>
                      <a:pPr algn="ctr">
                        <a:lnSpc>
                          <a:spcPts val="3779"/>
                        </a:lnSpc>
                        <a:defRPr/>
                      </a:pPr>
                      <a:r>
                        <a:rPr lang="en-US" sz="3150">
                          <a:solidFill>
                            <a:srgbClr val="000000"/>
                          </a:solidFill>
                          <a:latin typeface="Montserrat"/>
                          <a:ea typeface="Montserrat"/>
                          <a:cs typeface="Montserrat"/>
                          <a:sym typeface="Montserrat"/>
                        </a:rPr>
                        <a:t>Yes</a:t>
                      </a:r>
                      <a:endParaRPr lang="en-US" sz="1100"/>
                    </a:p>
                  </a:txBody>
                  <a:tcPr marL="91440" marR="91440" marT="91440" marB="9144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F2F2F2"/>
                    </a:solidFill>
                  </a:tcPr>
                </a:tc>
              </a:tr>
            </a:tbl>
          </a:graphicData>
        </a:graphic>
      </p:graphicFrame>
      <p:sp>
        <p:nvSpPr>
          <p:cNvPr name="TextBox 22" id="22"/>
          <p:cNvSpPr txBox="true"/>
          <p:nvPr/>
        </p:nvSpPr>
        <p:spPr>
          <a:xfrm rot="0">
            <a:off x="685800" y="7472362"/>
            <a:ext cx="16916400" cy="952500"/>
          </a:xfrm>
          <a:prstGeom prst="rect">
            <a:avLst/>
          </a:prstGeom>
        </p:spPr>
        <p:txBody>
          <a:bodyPr anchor="t" rtlCol="false" tIns="0" lIns="0" bIns="0" rIns="0">
            <a:spAutoFit/>
          </a:bodyPr>
          <a:lstStyle/>
          <a:p>
            <a:pPr algn="l">
              <a:lnSpc>
                <a:spcPts val="3779"/>
              </a:lnSpc>
            </a:pPr>
            <a:r>
              <a:rPr lang="en-US" sz="3150">
                <a:solidFill>
                  <a:srgbClr val="000000"/>
                </a:solidFill>
                <a:latin typeface="Montserrat"/>
                <a:ea typeface="Montserrat"/>
                <a:cs typeface="Montserrat"/>
                <a:sym typeface="Montserrat"/>
              </a:rPr>
              <a:t>MF-01 reads the created coupon back:</a:t>
            </a:r>
          </a:p>
          <a:p>
            <a:pPr algn="l">
              <a:lnSpc>
                <a:spcPts val="3779"/>
              </a:lnSpc>
            </a:pPr>
            <a:r>
              <a:rPr lang="en-US" sz="3150">
                <a:solidFill>
                  <a:srgbClr val="000000"/>
                </a:solidFill>
                <a:latin typeface="Montserrat"/>
                <a:ea typeface="Montserrat"/>
                <a:cs typeface="Montserrat"/>
                <a:sym typeface="Montserrat"/>
              </a:rPr>
              <a:t>expect(listed.body[0].max_uses_per_user).toBe(3)</a:t>
            </a:r>
          </a:p>
        </p:txBody>
      </p:sp>
      <p:grpSp>
        <p:nvGrpSpPr>
          <p:cNvPr name="Group 23" id="23"/>
          <p:cNvGrpSpPr/>
          <p:nvPr/>
        </p:nvGrpSpPr>
        <p:grpSpPr>
          <a:xfrm rot="0">
            <a:off x="685800" y="8915400"/>
            <a:ext cx="16916400" cy="800100"/>
            <a:chOff x="0" y="0"/>
            <a:chExt cx="22555200" cy="1066800"/>
          </a:xfrm>
        </p:grpSpPr>
        <p:sp>
          <p:nvSpPr>
            <p:cNvPr name="Freeform 24" id="24"/>
            <p:cNvSpPr/>
            <p:nvPr/>
          </p:nvSpPr>
          <p:spPr>
            <a:xfrm flipH="false" flipV="false" rot="0">
              <a:off x="0" y="0"/>
              <a:ext cx="22555200" cy="1066800"/>
            </a:xfrm>
            <a:custGeom>
              <a:avLst/>
              <a:gdLst/>
              <a:ahLst/>
              <a:cxnLst/>
              <a:rect r="r" b="b" t="t" l="l"/>
              <a:pathLst>
                <a:path h="1066800" w="22555200">
                  <a:moveTo>
                    <a:pt x="0" y="0"/>
                  </a:moveTo>
                  <a:lnTo>
                    <a:pt x="22555200" y="0"/>
                  </a:lnTo>
                  <a:lnTo>
                    <a:pt x="22555200" y="1066800"/>
                  </a:lnTo>
                  <a:lnTo>
                    <a:pt x="0" y="1066800"/>
                  </a:lnTo>
                  <a:close/>
                </a:path>
              </a:pathLst>
            </a:custGeom>
            <a:solidFill>
              <a:srgbClr val="DAE3F3"/>
            </a:solidFill>
          </p:spPr>
        </p:sp>
      </p:grpSp>
      <p:sp>
        <p:nvSpPr>
          <p:cNvPr name="TextBox 25" id="25"/>
          <p:cNvSpPr txBox="true"/>
          <p:nvPr/>
        </p:nvSpPr>
        <p:spPr>
          <a:xfrm rot="0">
            <a:off x="914400" y="9110663"/>
            <a:ext cx="16430625" cy="419100"/>
          </a:xfrm>
          <a:prstGeom prst="rect">
            <a:avLst/>
          </a:prstGeom>
        </p:spPr>
        <p:txBody>
          <a:bodyPr anchor="t" rtlCol="false" tIns="0" lIns="0" bIns="0" rIns="0">
            <a:spAutoFit/>
          </a:bodyPr>
          <a:lstStyle/>
          <a:p>
            <a:pPr algn="l">
              <a:lnSpc>
                <a:spcPts val="3375"/>
              </a:lnSpc>
            </a:pPr>
            <a:r>
              <a:rPr lang="en-US" b="true" sz="2812">
                <a:solidFill>
                  <a:srgbClr val="000000"/>
                </a:solidFill>
                <a:latin typeface="Montserrat Bold"/>
                <a:ea typeface="Montserrat Bold"/>
                <a:cs typeface="Montserrat Bold"/>
                <a:sym typeface="Montserrat Bold"/>
              </a:rPr>
              <a:t>Domain reports: two related survivors became Killed. More cases added no further kills.</a:t>
            </a:r>
          </a:p>
        </p:txBody>
      </p:sp>
    </p:spTree>
  </p:cSld>
  <p:clrMapOvr>
    <a:masterClrMapping/>
  </p:clrMapOvr>
</p:sld>
</file>

<file path=ppt/slides/slide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7571" cy="246888"/>
            <a:chOff x="0" y="0"/>
            <a:chExt cx="24383428" cy="329184"/>
          </a:xfrm>
        </p:grpSpPr>
        <p:sp>
          <p:nvSpPr>
            <p:cNvPr name="Freeform 3" id="3"/>
            <p:cNvSpPr/>
            <p:nvPr/>
          </p:nvSpPr>
          <p:spPr>
            <a:xfrm flipH="false" flipV="false" rot="0">
              <a:off x="0" y="0"/>
              <a:ext cx="24383364" cy="329184"/>
            </a:xfrm>
            <a:custGeom>
              <a:avLst/>
              <a:gdLst/>
              <a:ahLst/>
              <a:cxnLst/>
              <a:rect r="r" b="b" t="t" l="l"/>
              <a:pathLst>
                <a:path h="329184" w="24383364">
                  <a:moveTo>
                    <a:pt x="0" y="0"/>
                  </a:moveTo>
                  <a:lnTo>
                    <a:pt x="24383364" y="0"/>
                  </a:lnTo>
                  <a:lnTo>
                    <a:pt x="24383364" y="329184"/>
                  </a:lnTo>
                  <a:lnTo>
                    <a:pt x="0" y="329184"/>
                  </a:lnTo>
                  <a:close/>
                </a:path>
              </a:pathLst>
            </a:custGeom>
            <a:solidFill>
              <a:srgbClr val="1F4E79"/>
            </a:solidFill>
          </p:spPr>
        </p:sp>
      </p:grpSp>
      <p:grpSp>
        <p:nvGrpSpPr>
          <p:cNvPr name="Group 4" id="4"/>
          <p:cNvGrpSpPr/>
          <p:nvPr/>
        </p:nvGrpSpPr>
        <p:grpSpPr>
          <a:xfrm rot="0">
            <a:off x="0" y="9848088"/>
            <a:ext cx="18287571" cy="438912"/>
            <a:chOff x="0" y="0"/>
            <a:chExt cx="24383428" cy="585216"/>
          </a:xfrm>
        </p:grpSpPr>
        <p:sp>
          <p:nvSpPr>
            <p:cNvPr name="Freeform 5" id="5"/>
            <p:cNvSpPr/>
            <p:nvPr/>
          </p:nvSpPr>
          <p:spPr>
            <a:xfrm flipH="false" flipV="false" rot="0">
              <a:off x="0" y="0"/>
              <a:ext cx="24383364" cy="585216"/>
            </a:xfrm>
            <a:custGeom>
              <a:avLst/>
              <a:gdLst/>
              <a:ahLst/>
              <a:cxnLst/>
              <a:rect r="r" b="b" t="t" l="l"/>
              <a:pathLst>
                <a:path h="585216" w="24383364">
                  <a:moveTo>
                    <a:pt x="0" y="0"/>
                  </a:moveTo>
                  <a:lnTo>
                    <a:pt x="24383364" y="0"/>
                  </a:lnTo>
                  <a:lnTo>
                    <a:pt x="24383364" y="585216"/>
                  </a:lnTo>
                  <a:lnTo>
                    <a:pt x="0" y="585216"/>
                  </a:lnTo>
                  <a:close/>
                </a:path>
              </a:pathLst>
            </a:custGeom>
            <a:solidFill>
              <a:srgbClr val="1F4E79"/>
            </a:solidFill>
          </p:spPr>
        </p:sp>
      </p:grpSp>
      <p:sp>
        <p:nvSpPr>
          <p:cNvPr name="TextBox 6" id="6"/>
          <p:cNvSpPr txBox="true"/>
          <p:nvPr/>
        </p:nvSpPr>
        <p:spPr>
          <a:xfrm rot="0">
            <a:off x="548640" y="301466"/>
            <a:ext cx="17282160" cy="266700"/>
          </a:xfrm>
          <a:prstGeom prst="rect">
            <a:avLst/>
          </a:prstGeom>
        </p:spPr>
        <p:txBody>
          <a:bodyPr anchor="t" rtlCol="false" tIns="0" lIns="0" bIns="0" rIns="0">
            <a:spAutoFit/>
          </a:bodyPr>
          <a:lstStyle/>
          <a:p>
            <a:pPr algn="l">
              <a:lnSpc>
                <a:spcPts val="2160"/>
              </a:lnSpc>
            </a:pPr>
            <a:r>
              <a:rPr lang="en-US" b="true" sz="1800">
                <a:solidFill>
                  <a:srgbClr val="000000"/>
                </a:solidFill>
                <a:latin typeface="Montserrat Bold"/>
                <a:ea typeface="Montserrat Bold"/>
                <a:cs typeface="Montserrat Bold"/>
                <a:sym typeface="Montserrat Bold"/>
              </a:rPr>
              <a:t>2026 AI-First - Seminar T10 - Mutation Testing &amp; Test Effectiveness</a:t>
            </a:r>
          </a:p>
        </p:txBody>
      </p:sp>
      <p:sp>
        <p:nvSpPr>
          <p:cNvPr name="TextBox 7" id="7"/>
          <p:cNvSpPr txBox="true"/>
          <p:nvPr/>
        </p:nvSpPr>
        <p:spPr>
          <a:xfrm rot="0">
            <a:off x="548640" y="822960"/>
            <a:ext cx="17282160" cy="752475"/>
          </a:xfrm>
          <a:prstGeom prst="rect">
            <a:avLst/>
          </a:prstGeom>
        </p:spPr>
        <p:txBody>
          <a:bodyPr anchor="t" rtlCol="false" tIns="0" lIns="0" bIns="0" rIns="0">
            <a:spAutoFit/>
          </a:bodyPr>
          <a:lstStyle/>
          <a:p>
            <a:pPr algn="l">
              <a:lnSpc>
                <a:spcPts val="5940"/>
              </a:lnSpc>
            </a:pPr>
            <a:r>
              <a:rPr lang="en-US" b="true" sz="4950">
                <a:solidFill>
                  <a:srgbClr val="000000"/>
                </a:solidFill>
                <a:latin typeface="Montserrat Bold"/>
                <a:ea typeface="Montserrat Bold"/>
                <a:cs typeface="Montserrat Bold"/>
                <a:sym typeface="Montserrat Bold"/>
              </a:rPr>
              <a:t>Case 3: a profile update keeps the role</a:t>
            </a:r>
          </a:p>
        </p:txBody>
      </p:sp>
      <p:sp>
        <p:nvSpPr>
          <p:cNvPr name="TextBox 8" id="8"/>
          <p:cNvSpPr txBox="true"/>
          <p:nvPr/>
        </p:nvSpPr>
        <p:spPr>
          <a:xfrm rot="0">
            <a:off x="548640" y="9938956"/>
            <a:ext cx="17282160" cy="257175"/>
          </a:xfrm>
          <a:prstGeom prst="rect">
            <a:avLst/>
          </a:prstGeom>
        </p:spPr>
        <p:txBody>
          <a:bodyPr anchor="t" rtlCol="false" tIns="0" lIns="0" bIns="0" rIns="0">
            <a:spAutoFit/>
          </a:bodyPr>
          <a:lstStyle/>
          <a:p>
            <a:pPr algn="l">
              <a:lnSpc>
                <a:spcPts val="2025"/>
              </a:lnSpc>
            </a:pPr>
            <a:r>
              <a:rPr lang="en-US" sz="1687" b="true">
                <a:solidFill>
                  <a:srgbClr val="FFFFFF"/>
                </a:solidFill>
                <a:latin typeface="Montserrat Bold"/>
                <a:ea typeface="Montserrat Bold"/>
                <a:cs typeface="Montserrat Bold"/>
                <a:sym typeface="Montserrat Bold"/>
              </a:rPr>
              <a:t>9 / 15 - Authentication &amp; Users</a:t>
            </a:r>
          </a:p>
        </p:txBody>
      </p:sp>
      <p:sp>
        <p:nvSpPr>
          <p:cNvPr name="TextBox 9" id="9"/>
          <p:cNvSpPr txBox="true"/>
          <p:nvPr/>
        </p:nvSpPr>
        <p:spPr>
          <a:xfrm rot="0">
            <a:off x="685800" y="2214562"/>
            <a:ext cx="16916400" cy="514350"/>
          </a:xfrm>
          <a:prstGeom prst="rect">
            <a:avLst/>
          </a:prstGeom>
        </p:spPr>
        <p:txBody>
          <a:bodyPr anchor="t" rtlCol="false" tIns="0" lIns="0" bIns="0" rIns="0">
            <a:spAutoFit/>
          </a:bodyPr>
          <a:lstStyle/>
          <a:p>
            <a:pPr algn="l">
              <a:lnSpc>
                <a:spcPts val="4050"/>
              </a:lnSpc>
            </a:pPr>
            <a:r>
              <a:rPr lang="en-US" b="true" sz="3375">
                <a:solidFill>
                  <a:srgbClr val="000000"/>
                </a:solidFill>
                <a:latin typeface="Montserrat Bold"/>
                <a:ea typeface="Montserrat Bold"/>
                <a:cs typeface="Montserrat Bold"/>
                <a:sym typeface="Montserrat Bold"/>
              </a:rPr>
              <a:t>Rule: a profile update without a role field preserves the stored role.</a:t>
            </a:r>
          </a:p>
        </p:txBody>
      </p:sp>
      <p:grpSp>
        <p:nvGrpSpPr>
          <p:cNvPr name="Group 10" id="10"/>
          <p:cNvGrpSpPr/>
          <p:nvPr/>
        </p:nvGrpSpPr>
        <p:grpSpPr>
          <a:xfrm rot="0">
            <a:off x="685800" y="3543300"/>
            <a:ext cx="8172450" cy="657225"/>
            <a:chOff x="0" y="0"/>
            <a:chExt cx="10896600" cy="876300"/>
          </a:xfrm>
        </p:grpSpPr>
        <p:sp>
          <p:nvSpPr>
            <p:cNvPr name="Freeform 11" id="11"/>
            <p:cNvSpPr/>
            <p:nvPr/>
          </p:nvSpPr>
          <p:spPr>
            <a:xfrm flipH="false" flipV="false" rot="0">
              <a:off x="0" y="0"/>
              <a:ext cx="10896600" cy="876300"/>
            </a:xfrm>
            <a:custGeom>
              <a:avLst/>
              <a:gdLst/>
              <a:ahLst/>
              <a:cxnLst/>
              <a:rect r="r" b="b" t="t" l="l"/>
              <a:pathLst>
                <a:path h="876300" w="10896600">
                  <a:moveTo>
                    <a:pt x="0" y="0"/>
                  </a:moveTo>
                  <a:lnTo>
                    <a:pt x="10896600" y="0"/>
                  </a:lnTo>
                  <a:lnTo>
                    <a:pt x="10896600" y="876300"/>
                  </a:lnTo>
                  <a:lnTo>
                    <a:pt x="0" y="876300"/>
                  </a:lnTo>
                  <a:close/>
                </a:path>
              </a:pathLst>
            </a:custGeom>
            <a:solidFill>
              <a:srgbClr val="1F4E79"/>
            </a:solidFill>
          </p:spPr>
        </p:sp>
      </p:grpSp>
      <p:sp>
        <p:nvSpPr>
          <p:cNvPr name="TextBox 12" id="12"/>
          <p:cNvSpPr txBox="true"/>
          <p:nvPr/>
        </p:nvSpPr>
        <p:spPr>
          <a:xfrm rot="0">
            <a:off x="885825" y="3643312"/>
            <a:ext cx="3657124" cy="457200"/>
          </a:xfrm>
          <a:prstGeom prst="rect">
            <a:avLst/>
          </a:prstGeom>
        </p:spPr>
        <p:txBody>
          <a:bodyPr anchor="t" rtlCol="false" tIns="0" lIns="0" bIns="0" rIns="0">
            <a:spAutoFit/>
          </a:bodyPr>
          <a:lstStyle/>
          <a:p>
            <a:pPr algn="l">
              <a:lnSpc>
                <a:spcPts val="3644"/>
              </a:lnSpc>
            </a:pPr>
            <a:r>
              <a:rPr lang="en-US" sz="3037" b="true">
                <a:solidFill>
                  <a:srgbClr val="FFFFFF"/>
                </a:solidFill>
                <a:latin typeface="Montserrat Bold"/>
                <a:ea typeface="Montserrat Bold"/>
                <a:cs typeface="Montserrat Bold"/>
                <a:sym typeface="Montserrat Bold"/>
              </a:rPr>
              <a:t>Original condition</a:t>
            </a:r>
          </a:p>
        </p:txBody>
      </p:sp>
      <p:grpSp>
        <p:nvGrpSpPr>
          <p:cNvPr name="Group 13" id="13"/>
          <p:cNvGrpSpPr/>
          <p:nvPr/>
        </p:nvGrpSpPr>
        <p:grpSpPr>
          <a:xfrm rot="0">
            <a:off x="685800" y="4200525"/>
            <a:ext cx="8172450" cy="1171575"/>
            <a:chOff x="0" y="0"/>
            <a:chExt cx="10896600" cy="1562100"/>
          </a:xfrm>
        </p:grpSpPr>
        <p:sp>
          <p:nvSpPr>
            <p:cNvPr name="Freeform 14" id="14"/>
            <p:cNvSpPr/>
            <p:nvPr/>
          </p:nvSpPr>
          <p:spPr>
            <a:xfrm flipH="false" flipV="false" rot="0">
              <a:off x="0" y="0"/>
              <a:ext cx="10896600" cy="1562100"/>
            </a:xfrm>
            <a:custGeom>
              <a:avLst/>
              <a:gdLst/>
              <a:ahLst/>
              <a:cxnLst/>
              <a:rect r="r" b="b" t="t" l="l"/>
              <a:pathLst>
                <a:path h="1562100" w="10896600">
                  <a:moveTo>
                    <a:pt x="0" y="0"/>
                  </a:moveTo>
                  <a:lnTo>
                    <a:pt x="10896600" y="0"/>
                  </a:lnTo>
                  <a:lnTo>
                    <a:pt x="10896600" y="1562100"/>
                  </a:lnTo>
                  <a:lnTo>
                    <a:pt x="0" y="1562100"/>
                  </a:lnTo>
                  <a:close/>
                </a:path>
              </a:pathLst>
            </a:custGeom>
            <a:solidFill>
              <a:srgbClr val="F2F2F2"/>
            </a:solidFill>
          </p:spPr>
        </p:sp>
      </p:grpSp>
      <p:sp>
        <p:nvSpPr>
          <p:cNvPr name="TextBox 15" id="15"/>
          <p:cNvSpPr txBox="true"/>
          <p:nvPr/>
        </p:nvSpPr>
        <p:spPr>
          <a:xfrm rot="0">
            <a:off x="914400" y="4457700"/>
            <a:ext cx="7715250" cy="457200"/>
          </a:xfrm>
          <a:prstGeom prst="rect">
            <a:avLst/>
          </a:prstGeom>
        </p:spPr>
        <p:txBody>
          <a:bodyPr anchor="t" rtlCol="false" tIns="0" lIns="0" bIns="0" rIns="0">
            <a:spAutoFit/>
          </a:bodyPr>
          <a:lstStyle/>
          <a:p>
            <a:pPr algn="l">
              <a:lnSpc>
                <a:spcPts val="3644"/>
              </a:lnSpc>
            </a:pPr>
            <a:r>
              <a:rPr lang="en-US" sz="3037">
                <a:solidFill>
                  <a:srgbClr val="000000"/>
                </a:solidFill>
                <a:latin typeface="Montserrat"/>
                <a:ea typeface="Montserrat"/>
                <a:cs typeface="Montserrat"/>
                <a:sym typeface="Montserrat"/>
              </a:rPr>
              <a:t>if (role) { ... }</a:t>
            </a:r>
          </a:p>
        </p:txBody>
      </p:sp>
      <p:grpSp>
        <p:nvGrpSpPr>
          <p:cNvPr name="Group 16" id="16"/>
          <p:cNvGrpSpPr/>
          <p:nvPr/>
        </p:nvGrpSpPr>
        <p:grpSpPr>
          <a:xfrm rot="0">
            <a:off x="9429750" y="3543300"/>
            <a:ext cx="8172450" cy="657225"/>
            <a:chOff x="0" y="0"/>
            <a:chExt cx="10896600" cy="876300"/>
          </a:xfrm>
        </p:grpSpPr>
        <p:sp>
          <p:nvSpPr>
            <p:cNvPr name="Freeform 17" id="17"/>
            <p:cNvSpPr/>
            <p:nvPr/>
          </p:nvSpPr>
          <p:spPr>
            <a:xfrm flipH="false" flipV="false" rot="0">
              <a:off x="0" y="0"/>
              <a:ext cx="10896600" cy="876300"/>
            </a:xfrm>
            <a:custGeom>
              <a:avLst/>
              <a:gdLst/>
              <a:ahLst/>
              <a:cxnLst/>
              <a:rect r="r" b="b" t="t" l="l"/>
              <a:pathLst>
                <a:path h="876300" w="10896600">
                  <a:moveTo>
                    <a:pt x="0" y="0"/>
                  </a:moveTo>
                  <a:lnTo>
                    <a:pt x="10896600" y="0"/>
                  </a:lnTo>
                  <a:lnTo>
                    <a:pt x="10896600" y="876300"/>
                  </a:lnTo>
                  <a:lnTo>
                    <a:pt x="0" y="876300"/>
                  </a:lnTo>
                  <a:close/>
                </a:path>
              </a:pathLst>
            </a:custGeom>
            <a:solidFill>
              <a:srgbClr val="1F4E79"/>
            </a:solidFill>
          </p:spPr>
        </p:sp>
      </p:grpSp>
      <p:sp>
        <p:nvSpPr>
          <p:cNvPr name="TextBox 18" id="18"/>
          <p:cNvSpPr txBox="true"/>
          <p:nvPr/>
        </p:nvSpPr>
        <p:spPr>
          <a:xfrm rot="0">
            <a:off x="9629775" y="3643312"/>
            <a:ext cx="7534394" cy="457200"/>
          </a:xfrm>
          <a:prstGeom prst="rect">
            <a:avLst/>
          </a:prstGeom>
        </p:spPr>
        <p:txBody>
          <a:bodyPr anchor="t" rtlCol="false" tIns="0" lIns="0" bIns="0" rIns="0">
            <a:spAutoFit/>
          </a:bodyPr>
          <a:lstStyle/>
          <a:p>
            <a:pPr algn="l">
              <a:lnSpc>
                <a:spcPts val="3644"/>
              </a:lnSpc>
            </a:pPr>
            <a:r>
              <a:rPr lang="en-US" sz="3037" b="true">
                <a:solidFill>
                  <a:srgbClr val="FFFFFF"/>
                </a:solidFill>
                <a:latin typeface="Montserrat Bold"/>
                <a:ea typeface="Montserrat Bold"/>
                <a:cs typeface="Montserrat Bold"/>
                <a:sym typeface="Montserrat Bold"/>
              </a:rPr>
              <a:t>Mutant: force the role-update branch</a:t>
            </a:r>
          </a:p>
        </p:txBody>
      </p:sp>
      <p:grpSp>
        <p:nvGrpSpPr>
          <p:cNvPr name="Group 19" id="19"/>
          <p:cNvGrpSpPr/>
          <p:nvPr/>
        </p:nvGrpSpPr>
        <p:grpSpPr>
          <a:xfrm rot="0">
            <a:off x="9429750" y="4200525"/>
            <a:ext cx="8172450" cy="1171575"/>
            <a:chOff x="0" y="0"/>
            <a:chExt cx="10896600" cy="1562100"/>
          </a:xfrm>
        </p:grpSpPr>
        <p:sp>
          <p:nvSpPr>
            <p:cNvPr name="Freeform 20" id="20"/>
            <p:cNvSpPr/>
            <p:nvPr/>
          </p:nvSpPr>
          <p:spPr>
            <a:xfrm flipH="false" flipV="false" rot="0">
              <a:off x="0" y="0"/>
              <a:ext cx="10896600" cy="1562100"/>
            </a:xfrm>
            <a:custGeom>
              <a:avLst/>
              <a:gdLst/>
              <a:ahLst/>
              <a:cxnLst/>
              <a:rect r="r" b="b" t="t" l="l"/>
              <a:pathLst>
                <a:path h="1562100" w="10896600">
                  <a:moveTo>
                    <a:pt x="0" y="0"/>
                  </a:moveTo>
                  <a:lnTo>
                    <a:pt x="10896600" y="0"/>
                  </a:lnTo>
                  <a:lnTo>
                    <a:pt x="10896600" y="1562100"/>
                  </a:lnTo>
                  <a:lnTo>
                    <a:pt x="0" y="1562100"/>
                  </a:lnTo>
                  <a:close/>
                </a:path>
              </a:pathLst>
            </a:custGeom>
            <a:solidFill>
              <a:srgbClr val="F2F2F2"/>
            </a:solidFill>
          </p:spPr>
        </p:sp>
      </p:grpSp>
      <p:sp>
        <p:nvSpPr>
          <p:cNvPr name="TextBox 21" id="21"/>
          <p:cNvSpPr txBox="true"/>
          <p:nvPr/>
        </p:nvSpPr>
        <p:spPr>
          <a:xfrm rot="0">
            <a:off x="9658350" y="4457700"/>
            <a:ext cx="7715250" cy="457200"/>
          </a:xfrm>
          <a:prstGeom prst="rect">
            <a:avLst/>
          </a:prstGeom>
        </p:spPr>
        <p:txBody>
          <a:bodyPr anchor="t" rtlCol="false" tIns="0" lIns="0" bIns="0" rIns="0">
            <a:spAutoFit/>
          </a:bodyPr>
          <a:lstStyle/>
          <a:p>
            <a:pPr algn="l">
              <a:lnSpc>
                <a:spcPts val="3644"/>
              </a:lnSpc>
            </a:pPr>
            <a:r>
              <a:rPr lang="en-US" sz="3037">
                <a:solidFill>
                  <a:srgbClr val="000000"/>
                </a:solidFill>
                <a:latin typeface="Montserrat"/>
                <a:ea typeface="Montserrat"/>
                <a:cs typeface="Montserrat"/>
                <a:sym typeface="Montserrat"/>
              </a:rPr>
              <a:t>if (true) { ... }</a:t>
            </a:r>
          </a:p>
        </p:txBody>
      </p:sp>
      <p:grpSp>
        <p:nvGrpSpPr>
          <p:cNvPr name="Group 22" id="22"/>
          <p:cNvGrpSpPr/>
          <p:nvPr/>
        </p:nvGrpSpPr>
        <p:grpSpPr>
          <a:xfrm rot="0">
            <a:off x="685800" y="5829300"/>
            <a:ext cx="16916400" cy="657225"/>
            <a:chOff x="0" y="0"/>
            <a:chExt cx="22555200" cy="876300"/>
          </a:xfrm>
        </p:grpSpPr>
        <p:sp>
          <p:nvSpPr>
            <p:cNvPr name="Freeform 23" id="23"/>
            <p:cNvSpPr/>
            <p:nvPr/>
          </p:nvSpPr>
          <p:spPr>
            <a:xfrm flipH="false" flipV="false" rot="0">
              <a:off x="0" y="0"/>
              <a:ext cx="22555200" cy="876300"/>
            </a:xfrm>
            <a:custGeom>
              <a:avLst/>
              <a:gdLst/>
              <a:ahLst/>
              <a:cxnLst/>
              <a:rect r="r" b="b" t="t" l="l"/>
              <a:pathLst>
                <a:path h="876300" w="22555200">
                  <a:moveTo>
                    <a:pt x="0" y="0"/>
                  </a:moveTo>
                  <a:lnTo>
                    <a:pt x="22555200" y="0"/>
                  </a:lnTo>
                  <a:lnTo>
                    <a:pt x="22555200" y="876300"/>
                  </a:lnTo>
                  <a:lnTo>
                    <a:pt x="0" y="876300"/>
                  </a:lnTo>
                  <a:close/>
                </a:path>
              </a:pathLst>
            </a:custGeom>
            <a:solidFill>
              <a:srgbClr val="1F4E79"/>
            </a:solidFill>
          </p:spPr>
        </p:sp>
      </p:grpSp>
      <p:sp>
        <p:nvSpPr>
          <p:cNvPr name="TextBox 24" id="24"/>
          <p:cNvSpPr txBox="true"/>
          <p:nvPr/>
        </p:nvSpPr>
        <p:spPr>
          <a:xfrm rot="0">
            <a:off x="885825" y="5929312"/>
            <a:ext cx="9051131" cy="457200"/>
          </a:xfrm>
          <a:prstGeom prst="rect">
            <a:avLst/>
          </a:prstGeom>
        </p:spPr>
        <p:txBody>
          <a:bodyPr anchor="t" rtlCol="false" tIns="0" lIns="0" bIns="0" rIns="0">
            <a:spAutoFit/>
          </a:bodyPr>
          <a:lstStyle/>
          <a:p>
            <a:pPr algn="l">
              <a:lnSpc>
                <a:spcPts val="3644"/>
              </a:lnSpc>
            </a:pPr>
            <a:r>
              <a:rPr lang="en-US" sz="3037" b="true">
                <a:solidFill>
                  <a:srgbClr val="FFFFFF"/>
                </a:solidFill>
                <a:latin typeface="Montserrat Bold"/>
                <a:ea typeface="Montserrat Bold"/>
                <a:cs typeface="Montserrat Bold"/>
                <a:sym typeface="Montserrat Bold"/>
              </a:rPr>
              <a:t>AM-01 checks database state and API output</a:t>
            </a:r>
          </a:p>
        </p:txBody>
      </p:sp>
      <p:sp>
        <p:nvSpPr>
          <p:cNvPr name="TextBox 25" id="25"/>
          <p:cNvSpPr txBox="true"/>
          <p:nvPr/>
        </p:nvSpPr>
        <p:spPr>
          <a:xfrm rot="0">
            <a:off x="914400" y="6829425"/>
            <a:ext cx="16430625" cy="1371600"/>
          </a:xfrm>
          <a:prstGeom prst="rect">
            <a:avLst/>
          </a:prstGeom>
        </p:spPr>
        <p:txBody>
          <a:bodyPr anchor="t" rtlCol="false" tIns="0" lIns="0" bIns="0" rIns="0">
            <a:spAutoFit/>
          </a:bodyPr>
          <a:lstStyle/>
          <a:p>
            <a:pPr algn="l">
              <a:lnSpc>
                <a:spcPts val="3644"/>
              </a:lnSpc>
            </a:pPr>
            <a:r>
              <a:rPr lang="en-US" sz="3037">
                <a:solidFill>
                  <a:srgbClr val="000000"/>
                </a:solidFill>
                <a:latin typeface="Montserrat"/>
                <a:ea typeface="Montserrat"/>
                <a:cs typeface="Montserrat"/>
                <a:sym typeface="Montserrat"/>
              </a:rPr>
              <a:t>expect((await testApi.userByEmail(ALICE.email)).role)</a:t>
            </a:r>
          </a:p>
          <a:p>
            <a:pPr algn="l">
              <a:lnSpc>
                <a:spcPts val="3644"/>
              </a:lnSpc>
            </a:pPr>
            <a:r>
              <a:rPr lang="en-US" sz="3037">
                <a:solidFill>
                  <a:srgbClr val="000000"/>
                </a:solidFill>
                <a:latin typeface="Montserrat"/>
                <a:ea typeface="Montserrat"/>
                <a:cs typeface="Montserrat"/>
                <a:sym typeface="Montserrat"/>
              </a:rPr>
              <a:t>  .toBe('user');</a:t>
            </a:r>
          </a:p>
          <a:p>
            <a:pPr algn="l">
              <a:lnSpc>
                <a:spcPts val="3644"/>
              </a:lnSpc>
            </a:pPr>
            <a:r>
              <a:rPr lang="en-US" sz="3037">
                <a:solidFill>
                  <a:srgbClr val="000000"/>
                </a:solidFill>
                <a:latin typeface="Montserrat"/>
                <a:ea typeface="Montserrat"/>
                <a:cs typeface="Montserrat"/>
                <a:sym typeface="Montserrat"/>
              </a:rPr>
              <a:t>expect((await me(token)).body.role).toBe('user');</a:t>
            </a:r>
          </a:p>
        </p:txBody>
      </p:sp>
      <p:grpSp>
        <p:nvGrpSpPr>
          <p:cNvPr name="Group 26" id="26"/>
          <p:cNvGrpSpPr/>
          <p:nvPr/>
        </p:nvGrpSpPr>
        <p:grpSpPr>
          <a:xfrm rot="0">
            <a:off x="685800" y="8915400"/>
            <a:ext cx="16916400" cy="800100"/>
            <a:chOff x="0" y="0"/>
            <a:chExt cx="22555200" cy="1066800"/>
          </a:xfrm>
        </p:grpSpPr>
        <p:sp>
          <p:nvSpPr>
            <p:cNvPr name="Freeform 27" id="27"/>
            <p:cNvSpPr/>
            <p:nvPr/>
          </p:nvSpPr>
          <p:spPr>
            <a:xfrm flipH="false" flipV="false" rot="0">
              <a:off x="0" y="0"/>
              <a:ext cx="22555200" cy="1066800"/>
            </a:xfrm>
            <a:custGeom>
              <a:avLst/>
              <a:gdLst/>
              <a:ahLst/>
              <a:cxnLst/>
              <a:rect r="r" b="b" t="t" l="l"/>
              <a:pathLst>
                <a:path h="1066800" w="22555200">
                  <a:moveTo>
                    <a:pt x="0" y="0"/>
                  </a:moveTo>
                  <a:lnTo>
                    <a:pt x="22555200" y="0"/>
                  </a:lnTo>
                  <a:lnTo>
                    <a:pt x="22555200" y="1066800"/>
                  </a:lnTo>
                  <a:lnTo>
                    <a:pt x="0" y="1066800"/>
                  </a:lnTo>
                  <a:close/>
                </a:path>
              </a:pathLst>
            </a:custGeom>
            <a:solidFill>
              <a:srgbClr val="DAE3F3"/>
            </a:solidFill>
          </p:spPr>
        </p:sp>
      </p:grpSp>
      <p:sp>
        <p:nvSpPr>
          <p:cNvPr name="TextBox 28" id="28"/>
          <p:cNvSpPr txBox="true"/>
          <p:nvPr/>
        </p:nvSpPr>
        <p:spPr>
          <a:xfrm rot="0">
            <a:off x="914400" y="9110663"/>
            <a:ext cx="16430625" cy="419100"/>
          </a:xfrm>
          <a:prstGeom prst="rect">
            <a:avLst/>
          </a:prstGeom>
        </p:spPr>
        <p:txBody>
          <a:bodyPr anchor="t" rtlCol="false" tIns="0" lIns="0" bIns="0" rIns="0">
            <a:spAutoFit/>
          </a:bodyPr>
          <a:lstStyle/>
          <a:p>
            <a:pPr algn="l">
              <a:lnSpc>
                <a:spcPts val="3375"/>
              </a:lnSpc>
            </a:pPr>
            <a:r>
              <a:rPr lang="en-US" b="true" sz="2812">
                <a:solidFill>
                  <a:srgbClr val="000000"/>
                </a:solidFill>
                <a:latin typeface="Montserrat Bold"/>
                <a:ea typeface="Montserrat Bold"/>
                <a:cs typeface="Montserrat Bold"/>
                <a:sym typeface="Montserrat Bold"/>
              </a:rPr>
              <a:t>Auth domain report: mutant #132 changed from Survived to Killed.</a:t>
            </a:r>
          </a:p>
        </p:txBody>
      </p:sp>
    </p:spTree>
  </p:cSld>
  <p:clrMapOvr>
    <a:masterClrMapping/>
  </p:clrMapOvr>
</p:sld>
</file>

<file path=ppt/slides/slide1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7571" cy="246888"/>
            <a:chOff x="0" y="0"/>
            <a:chExt cx="24383428" cy="329184"/>
          </a:xfrm>
        </p:grpSpPr>
        <p:sp>
          <p:nvSpPr>
            <p:cNvPr name="Freeform 3" id="3"/>
            <p:cNvSpPr/>
            <p:nvPr/>
          </p:nvSpPr>
          <p:spPr>
            <a:xfrm flipH="false" flipV="false" rot="0">
              <a:off x="0" y="0"/>
              <a:ext cx="24383364" cy="329184"/>
            </a:xfrm>
            <a:custGeom>
              <a:avLst/>
              <a:gdLst/>
              <a:ahLst/>
              <a:cxnLst/>
              <a:rect r="r" b="b" t="t" l="l"/>
              <a:pathLst>
                <a:path h="329184" w="24383364">
                  <a:moveTo>
                    <a:pt x="0" y="0"/>
                  </a:moveTo>
                  <a:lnTo>
                    <a:pt x="24383364" y="0"/>
                  </a:lnTo>
                  <a:lnTo>
                    <a:pt x="24383364" y="329184"/>
                  </a:lnTo>
                  <a:lnTo>
                    <a:pt x="0" y="329184"/>
                  </a:lnTo>
                  <a:close/>
                </a:path>
              </a:pathLst>
            </a:custGeom>
            <a:solidFill>
              <a:srgbClr val="1F4E79"/>
            </a:solidFill>
          </p:spPr>
        </p:sp>
      </p:grpSp>
      <p:grpSp>
        <p:nvGrpSpPr>
          <p:cNvPr name="Group 4" id="4"/>
          <p:cNvGrpSpPr/>
          <p:nvPr/>
        </p:nvGrpSpPr>
        <p:grpSpPr>
          <a:xfrm rot="0">
            <a:off x="0" y="9848088"/>
            <a:ext cx="18287571" cy="438912"/>
            <a:chOff x="0" y="0"/>
            <a:chExt cx="24383428" cy="585216"/>
          </a:xfrm>
        </p:grpSpPr>
        <p:sp>
          <p:nvSpPr>
            <p:cNvPr name="Freeform 5" id="5"/>
            <p:cNvSpPr/>
            <p:nvPr/>
          </p:nvSpPr>
          <p:spPr>
            <a:xfrm flipH="false" flipV="false" rot="0">
              <a:off x="0" y="0"/>
              <a:ext cx="24383364" cy="585216"/>
            </a:xfrm>
            <a:custGeom>
              <a:avLst/>
              <a:gdLst/>
              <a:ahLst/>
              <a:cxnLst/>
              <a:rect r="r" b="b" t="t" l="l"/>
              <a:pathLst>
                <a:path h="585216" w="24383364">
                  <a:moveTo>
                    <a:pt x="0" y="0"/>
                  </a:moveTo>
                  <a:lnTo>
                    <a:pt x="24383364" y="0"/>
                  </a:lnTo>
                  <a:lnTo>
                    <a:pt x="24383364" y="585216"/>
                  </a:lnTo>
                  <a:lnTo>
                    <a:pt x="0" y="585216"/>
                  </a:lnTo>
                  <a:close/>
                </a:path>
              </a:pathLst>
            </a:custGeom>
            <a:solidFill>
              <a:srgbClr val="1F4E79"/>
            </a:solidFill>
          </p:spPr>
        </p:sp>
      </p:grpSp>
      <p:sp>
        <p:nvSpPr>
          <p:cNvPr name="TextBox 6" id="6"/>
          <p:cNvSpPr txBox="true"/>
          <p:nvPr/>
        </p:nvSpPr>
        <p:spPr>
          <a:xfrm rot="0">
            <a:off x="548640" y="301466"/>
            <a:ext cx="17282160" cy="266700"/>
          </a:xfrm>
          <a:prstGeom prst="rect">
            <a:avLst/>
          </a:prstGeom>
        </p:spPr>
        <p:txBody>
          <a:bodyPr anchor="t" rtlCol="false" tIns="0" lIns="0" bIns="0" rIns="0">
            <a:spAutoFit/>
          </a:bodyPr>
          <a:lstStyle/>
          <a:p>
            <a:pPr algn="l">
              <a:lnSpc>
                <a:spcPts val="2160"/>
              </a:lnSpc>
            </a:pPr>
            <a:r>
              <a:rPr lang="en-US" b="true" sz="1800">
                <a:solidFill>
                  <a:srgbClr val="000000"/>
                </a:solidFill>
                <a:latin typeface="Montserrat Bold"/>
                <a:ea typeface="Montserrat Bold"/>
                <a:cs typeface="Montserrat Bold"/>
                <a:sym typeface="Montserrat Bold"/>
              </a:rPr>
              <a:t>2026 AI-First - Seminar T10 - Mutation Testing &amp; Test Effectiveness</a:t>
            </a:r>
          </a:p>
        </p:txBody>
      </p:sp>
      <p:sp>
        <p:nvSpPr>
          <p:cNvPr name="TextBox 7" id="7"/>
          <p:cNvSpPr txBox="true"/>
          <p:nvPr/>
        </p:nvSpPr>
        <p:spPr>
          <a:xfrm rot="0">
            <a:off x="548640" y="822960"/>
            <a:ext cx="17282160" cy="752475"/>
          </a:xfrm>
          <a:prstGeom prst="rect">
            <a:avLst/>
          </a:prstGeom>
        </p:spPr>
        <p:txBody>
          <a:bodyPr anchor="t" rtlCol="false" tIns="0" lIns="0" bIns="0" rIns="0">
            <a:spAutoFit/>
          </a:bodyPr>
          <a:lstStyle/>
          <a:p>
            <a:pPr algn="l">
              <a:lnSpc>
                <a:spcPts val="5940"/>
              </a:lnSpc>
            </a:pPr>
            <a:r>
              <a:rPr lang="en-US" b="true" sz="4950">
                <a:solidFill>
                  <a:srgbClr val="000000"/>
                </a:solidFill>
                <a:latin typeface="Montserrat Bold"/>
                <a:ea typeface="Montserrat Bold"/>
                <a:cs typeface="Montserrat Bold"/>
                <a:sym typeface="Montserrat Bold"/>
              </a:rPr>
              <a:t>Joint results on 395 matching mutants</a:t>
            </a:r>
          </a:p>
        </p:txBody>
      </p:sp>
      <p:sp>
        <p:nvSpPr>
          <p:cNvPr name="TextBox 8" id="8"/>
          <p:cNvSpPr txBox="true"/>
          <p:nvPr/>
        </p:nvSpPr>
        <p:spPr>
          <a:xfrm rot="0">
            <a:off x="548640" y="9938956"/>
            <a:ext cx="17282160" cy="257175"/>
          </a:xfrm>
          <a:prstGeom prst="rect">
            <a:avLst/>
          </a:prstGeom>
        </p:spPr>
        <p:txBody>
          <a:bodyPr anchor="t" rtlCol="false" tIns="0" lIns="0" bIns="0" rIns="0">
            <a:spAutoFit/>
          </a:bodyPr>
          <a:lstStyle/>
          <a:p>
            <a:pPr algn="l">
              <a:lnSpc>
                <a:spcPts val="2025"/>
              </a:lnSpc>
            </a:pPr>
            <a:r>
              <a:rPr lang="en-US" sz="1687" b="true">
                <a:solidFill>
                  <a:srgbClr val="FFFFFF"/>
                </a:solidFill>
                <a:latin typeface="Montserrat Bold"/>
                <a:ea typeface="Montserrat Bold"/>
                <a:cs typeface="Montserrat Bold"/>
                <a:sym typeface="Montserrat Bold"/>
              </a:rPr>
              <a:t>10 / 15 - Measured results</a:t>
            </a:r>
          </a:p>
        </p:txBody>
      </p:sp>
      <p:graphicFrame>
        <p:nvGraphicFramePr>
          <p:cNvPr name="Table 9" id="9"/>
          <p:cNvGraphicFramePr>
            <a:graphicFrameLocks noGrp="true"/>
          </p:cNvGraphicFramePr>
          <p:nvPr/>
        </p:nvGraphicFramePr>
        <p:xfrm>
          <a:off x="685800" y="2328862"/>
          <a:ext cx="16878300" cy="3352800"/>
        </p:xfrm>
        <a:graphic>
          <a:graphicData uri="http://schemas.openxmlformats.org/drawingml/2006/table">
            <a:tbl>
              <a:tblPr/>
              <a:tblGrid>
                <a:gridCol w="3914211"/>
                <a:gridCol w="1443539"/>
                <a:gridCol w="1693382"/>
                <a:gridCol w="1832184"/>
                <a:gridCol w="1943225"/>
                <a:gridCol w="1693382"/>
                <a:gridCol w="1610101"/>
                <a:gridCol w="2748276"/>
              </a:tblGrid>
              <a:tr h="838200">
                <a:tc>
                  <a:txBody>
                    <a:bodyPr anchor="t" rtlCol="false"/>
                    <a:lstStyle/>
                    <a:p>
                      <a:pPr algn="l">
                        <a:lnSpc>
                          <a:spcPts val="3240"/>
                        </a:lnSpc>
                        <a:defRPr/>
                      </a:pPr>
                      <a:r>
                        <a:rPr lang="en-US" sz="2700" b="true">
                          <a:solidFill>
                            <a:srgbClr val="FFFFFF"/>
                          </a:solidFill>
                          <a:latin typeface="Montserrat Bold"/>
                          <a:ea typeface="Montserrat Bold"/>
                          <a:cs typeface="Montserrat Bold"/>
                          <a:sym typeface="Montserrat Bold"/>
                        </a:rPr>
                        <a:t>Collection</a:t>
                      </a:r>
                      <a:endParaRPr lang="en-US" sz="1100"/>
                    </a:p>
                  </a:txBody>
                  <a:tcPr marL="91440" marR="91440" marT="91440" marB="9144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1F4E79"/>
                    </a:solidFill>
                  </a:tcPr>
                </a:tc>
                <a:tc>
                  <a:txBody>
                    <a:bodyPr anchor="t" rtlCol="false"/>
                    <a:lstStyle/>
                    <a:p>
                      <a:pPr algn="ctr">
                        <a:lnSpc>
                          <a:spcPts val="3240"/>
                        </a:lnSpc>
                        <a:defRPr/>
                      </a:pPr>
                      <a:r>
                        <a:rPr lang="en-US" sz="2700" b="true">
                          <a:solidFill>
                            <a:srgbClr val="FFFFFF"/>
                          </a:solidFill>
                          <a:latin typeface="Montserrat Bold"/>
                          <a:ea typeface="Montserrat Bold"/>
                          <a:cs typeface="Montserrat Bold"/>
                          <a:sym typeface="Montserrat Bold"/>
                        </a:rPr>
                        <a:t>Tests</a:t>
                      </a:r>
                      <a:endParaRPr lang="en-US" sz="1100"/>
                    </a:p>
                  </a:txBody>
                  <a:tcPr marL="91440" marR="91440" marT="91440" marB="9144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1F4E79"/>
                    </a:solidFill>
                  </a:tcPr>
                </a:tc>
                <a:tc>
                  <a:txBody>
                    <a:bodyPr anchor="t" rtlCol="false"/>
                    <a:lstStyle/>
                    <a:p>
                      <a:pPr algn="ctr">
                        <a:lnSpc>
                          <a:spcPts val="3240"/>
                        </a:lnSpc>
                        <a:defRPr/>
                      </a:pPr>
                      <a:r>
                        <a:rPr lang="en-US" sz="2700" b="true">
                          <a:solidFill>
                            <a:srgbClr val="FFFFFF"/>
                          </a:solidFill>
                          <a:latin typeface="Montserrat Bold"/>
                          <a:ea typeface="Montserrat Bold"/>
                          <a:cs typeface="Montserrat Bold"/>
                          <a:sym typeface="Montserrat Bold"/>
                        </a:rPr>
                        <a:t>Killed</a:t>
                      </a:r>
                      <a:endParaRPr lang="en-US" sz="1100"/>
                    </a:p>
                  </a:txBody>
                  <a:tcPr marL="91440" marR="91440" marT="91440" marB="9144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1F4E79"/>
                    </a:solidFill>
                  </a:tcPr>
                </a:tc>
                <a:tc>
                  <a:txBody>
                    <a:bodyPr anchor="t" rtlCol="false"/>
                    <a:lstStyle/>
                    <a:p>
                      <a:pPr algn="ctr">
                        <a:lnSpc>
                          <a:spcPts val="3240"/>
                        </a:lnSpc>
                        <a:defRPr/>
                      </a:pPr>
                      <a:r>
                        <a:rPr lang="en-US" sz="2700" b="true">
                          <a:solidFill>
                            <a:srgbClr val="FFFFFF"/>
                          </a:solidFill>
                          <a:latin typeface="Montserrat Bold"/>
                          <a:ea typeface="Montserrat Bold"/>
                          <a:cs typeface="Montserrat Bold"/>
                          <a:sym typeface="Montserrat Bold"/>
                        </a:rPr>
                        <a:t>Timeout</a:t>
                      </a:r>
                      <a:endParaRPr lang="en-US" sz="1100"/>
                    </a:p>
                  </a:txBody>
                  <a:tcPr marL="91440" marR="91440" marT="91440" marB="9144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1F4E79"/>
                    </a:solidFill>
                  </a:tcPr>
                </a:tc>
                <a:tc>
                  <a:txBody>
                    <a:bodyPr anchor="t" rtlCol="false"/>
                    <a:lstStyle/>
                    <a:p>
                      <a:pPr algn="ctr">
                        <a:lnSpc>
                          <a:spcPts val="3240"/>
                        </a:lnSpc>
                        <a:defRPr/>
                      </a:pPr>
                      <a:r>
                        <a:rPr lang="en-US" sz="2700" b="true">
                          <a:solidFill>
                            <a:srgbClr val="FFFFFF"/>
                          </a:solidFill>
                          <a:latin typeface="Montserrat Bold"/>
                          <a:ea typeface="Montserrat Bold"/>
                          <a:cs typeface="Montserrat Bold"/>
                          <a:sym typeface="Montserrat Bold"/>
                        </a:rPr>
                        <a:t>Survived</a:t>
                      </a:r>
                      <a:endParaRPr lang="en-US" sz="1100"/>
                    </a:p>
                  </a:txBody>
                  <a:tcPr marL="91440" marR="91440" marT="91440" marB="9144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1F4E79"/>
                    </a:solidFill>
                  </a:tcPr>
                </a:tc>
                <a:tc>
                  <a:txBody>
                    <a:bodyPr anchor="t" rtlCol="false"/>
                    <a:lstStyle/>
                    <a:p>
                      <a:pPr algn="ctr">
                        <a:lnSpc>
                          <a:spcPts val="3240"/>
                        </a:lnSpc>
                        <a:defRPr/>
                      </a:pPr>
                      <a:r>
                        <a:rPr lang="en-US" sz="2700" b="true">
                          <a:solidFill>
                            <a:srgbClr val="FFFFFF"/>
                          </a:solidFill>
                          <a:latin typeface="Montserrat Bold"/>
                          <a:ea typeface="Montserrat Bold"/>
                          <a:cs typeface="Montserrat Bold"/>
                          <a:sym typeface="Montserrat Bold"/>
                        </a:rPr>
                        <a:t>NoCov.</a:t>
                      </a:r>
                      <a:endParaRPr lang="en-US" sz="1100"/>
                    </a:p>
                  </a:txBody>
                  <a:tcPr marL="91440" marR="91440" marT="91440" marB="9144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1F4E79"/>
                    </a:solidFill>
                  </a:tcPr>
                </a:tc>
                <a:tc>
                  <a:txBody>
                    <a:bodyPr anchor="t" rtlCol="false"/>
                    <a:lstStyle/>
                    <a:p>
                      <a:pPr algn="ctr">
                        <a:lnSpc>
                          <a:spcPts val="3240"/>
                        </a:lnSpc>
                        <a:defRPr/>
                      </a:pPr>
                      <a:r>
                        <a:rPr lang="en-US" sz="2700" b="true">
                          <a:solidFill>
                            <a:srgbClr val="FFFFFF"/>
                          </a:solidFill>
                          <a:latin typeface="Montserrat Bold"/>
                          <a:ea typeface="Montserrat Bold"/>
                          <a:cs typeface="Montserrat Bold"/>
                          <a:sym typeface="Montserrat Bold"/>
                        </a:rPr>
                        <a:t>Error</a:t>
                      </a:r>
                      <a:endParaRPr lang="en-US" sz="1100"/>
                    </a:p>
                  </a:txBody>
                  <a:tcPr marL="91440" marR="91440" marT="91440" marB="9144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1F4E79"/>
                    </a:solidFill>
                  </a:tcPr>
                </a:tc>
                <a:tc>
                  <a:txBody>
                    <a:bodyPr anchor="t" rtlCol="false"/>
                    <a:lstStyle/>
                    <a:p>
                      <a:pPr algn="ctr">
                        <a:lnSpc>
                          <a:spcPts val="3240"/>
                        </a:lnSpc>
                        <a:defRPr/>
                      </a:pPr>
                      <a:r>
                        <a:rPr lang="en-US" sz="2700" b="true">
                          <a:solidFill>
                            <a:srgbClr val="FFFFFF"/>
                          </a:solidFill>
                          <a:latin typeface="Montserrat Bold"/>
                          <a:ea typeface="Montserrat Bold"/>
                          <a:cs typeface="Montserrat Bold"/>
                          <a:sym typeface="Montserrat Bold"/>
                        </a:rPr>
                        <a:t>Score</a:t>
                      </a:r>
                      <a:endParaRPr lang="en-US" sz="1100"/>
                    </a:p>
                  </a:txBody>
                  <a:tcPr marL="91440" marR="91440" marT="91440" marB="9144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1F4E79"/>
                    </a:solidFill>
                  </a:tcPr>
                </a:tc>
              </a:tr>
              <a:tr h="838200">
                <a:tc>
                  <a:txBody>
                    <a:bodyPr anchor="t" rtlCol="false"/>
                    <a:lstStyle/>
                    <a:p>
                      <a:pPr algn="l">
                        <a:lnSpc>
                          <a:spcPts val="3240"/>
                        </a:lnSpc>
                        <a:defRPr/>
                      </a:pPr>
                      <a:r>
                        <a:rPr lang="en-US" sz="2700">
                          <a:solidFill>
                            <a:srgbClr val="000000"/>
                          </a:solidFill>
                          <a:latin typeface="Montserrat"/>
                          <a:ea typeface="Montserrat"/>
                          <a:cs typeface="Montserrat"/>
                          <a:sym typeface="Montserrat"/>
                        </a:rPr>
                        <a:t>Baseline</a:t>
                      </a:r>
                      <a:endParaRPr lang="en-US" sz="1100"/>
                    </a:p>
                  </a:txBody>
                  <a:tcPr marL="91440" marR="91440" marT="91440" marB="9144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DAE3F3"/>
                    </a:solidFill>
                  </a:tcPr>
                </a:tc>
                <a:tc>
                  <a:txBody>
                    <a:bodyPr anchor="t" rtlCol="false"/>
                    <a:lstStyle/>
                    <a:p>
                      <a:pPr algn="ctr">
                        <a:lnSpc>
                          <a:spcPts val="3240"/>
                        </a:lnSpc>
                        <a:defRPr/>
                      </a:pPr>
                      <a:r>
                        <a:rPr lang="en-US" sz="2700">
                          <a:solidFill>
                            <a:srgbClr val="000000"/>
                          </a:solidFill>
                          <a:latin typeface="Montserrat"/>
                          <a:ea typeface="Montserrat"/>
                          <a:cs typeface="Montserrat"/>
                          <a:sym typeface="Montserrat"/>
                        </a:rPr>
                        <a:t>88</a:t>
                      </a:r>
                      <a:endParaRPr lang="en-US" sz="1100"/>
                    </a:p>
                  </a:txBody>
                  <a:tcPr marL="91440" marR="91440" marT="91440" marB="9144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DAE3F3"/>
                    </a:solidFill>
                  </a:tcPr>
                </a:tc>
                <a:tc>
                  <a:txBody>
                    <a:bodyPr anchor="t" rtlCol="false"/>
                    <a:lstStyle/>
                    <a:p>
                      <a:pPr algn="ctr">
                        <a:lnSpc>
                          <a:spcPts val="3240"/>
                        </a:lnSpc>
                        <a:defRPr/>
                      </a:pPr>
                      <a:r>
                        <a:rPr lang="en-US" sz="2700">
                          <a:solidFill>
                            <a:srgbClr val="000000"/>
                          </a:solidFill>
                          <a:latin typeface="Montserrat"/>
                          <a:ea typeface="Montserrat"/>
                          <a:cs typeface="Montserrat"/>
                          <a:sym typeface="Montserrat"/>
                        </a:rPr>
                        <a:t>191</a:t>
                      </a:r>
                      <a:endParaRPr lang="en-US" sz="1100"/>
                    </a:p>
                  </a:txBody>
                  <a:tcPr marL="91440" marR="91440" marT="91440" marB="9144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DAE3F3"/>
                    </a:solidFill>
                  </a:tcPr>
                </a:tc>
                <a:tc>
                  <a:txBody>
                    <a:bodyPr anchor="t" rtlCol="false"/>
                    <a:lstStyle/>
                    <a:p>
                      <a:pPr algn="ctr">
                        <a:lnSpc>
                          <a:spcPts val="3240"/>
                        </a:lnSpc>
                        <a:defRPr/>
                      </a:pPr>
                      <a:r>
                        <a:rPr lang="en-US" sz="2700">
                          <a:solidFill>
                            <a:srgbClr val="000000"/>
                          </a:solidFill>
                          <a:latin typeface="Montserrat"/>
                          <a:ea typeface="Montserrat"/>
                          <a:cs typeface="Montserrat"/>
                          <a:sym typeface="Montserrat"/>
                        </a:rPr>
                        <a:t>61</a:t>
                      </a:r>
                      <a:endParaRPr lang="en-US" sz="1100"/>
                    </a:p>
                  </a:txBody>
                  <a:tcPr marL="91440" marR="91440" marT="91440" marB="9144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DAE3F3"/>
                    </a:solidFill>
                  </a:tcPr>
                </a:tc>
                <a:tc>
                  <a:txBody>
                    <a:bodyPr anchor="t" rtlCol="false"/>
                    <a:lstStyle/>
                    <a:p>
                      <a:pPr algn="ctr">
                        <a:lnSpc>
                          <a:spcPts val="3240"/>
                        </a:lnSpc>
                        <a:defRPr/>
                      </a:pPr>
                      <a:r>
                        <a:rPr lang="en-US" sz="2700">
                          <a:solidFill>
                            <a:srgbClr val="000000"/>
                          </a:solidFill>
                          <a:latin typeface="Montserrat"/>
                          <a:ea typeface="Montserrat"/>
                          <a:cs typeface="Montserrat"/>
                          <a:sym typeface="Montserrat"/>
                        </a:rPr>
                        <a:t>87</a:t>
                      </a:r>
                      <a:endParaRPr lang="en-US" sz="1100"/>
                    </a:p>
                  </a:txBody>
                  <a:tcPr marL="91440" marR="91440" marT="91440" marB="9144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DAE3F3"/>
                    </a:solidFill>
                  </a:tcPr>
                </a:tc>
                <a:tc>
                  <a:txBody>
                    <a:bodyPr anchor="t" rtlCol="false"/>
                    <a:lstStyle/>
                    <a:p>
                      <a:pPr algn="ctr">
                        <a:lnSpc>
                          <a:spcPts val="3240"/>
                        </a:lnSpc>
                        <a:defRPr/>
                      </a:pPr>
                      <a:r>
                        <a:rPr lang="en-US" sz="2700">
                          <a:solidFill>
                            <a:srgbClr val="000000"/>
                          </a:solidFill>
                          <a:latin typeface="Montserrat"/>
                          <a:ea typeface="Montserrat"/>
                          <a:cs typeface="Montserrat"/>
                          <a:sym typeface="Montserrat"/>
                        </a:rPr>
                        <a:t>34</a:t>
                      </a:r>
                      <a:endParaRPr lang="en-US" sz="1100"/>
                    </a:p>
                  </a:txBody>
                  <a:tcPr marL="91440" marR="91440" marT="91440" marB="9144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DAE3F3"/>
                    </a:solidFill>
                  </a:tcPr>
                </a:tc>
                <a:tc>
                  <a:txBody>
                    <a:bodyPr anchor="t" rtlCol="false"/>
                    <a:lstStyle/>
                    <a:p>
                      <a:pPr algn="ctr">
                        <a:lnSpc>
                          <a:spcPts val="3240"/>
                        </a:lnSpc>
                        <a:defRPr/>
                      </a:pPr>
                      <a:r>
                        <a:rPr lang="en-US" sz="2700">
                          <a:solidFill>
                            <a:srgbClr val="000000"/>
                          </a:solidFill>
                          <a:latin typeface="Montserrat"/>
                          <a:ea typeface="Montserrat"/>
                          <a:cs typeface="Montserrat"/>
                          <a:sym typeface="Montserrat"/>
                        </a:rPr>
                        <a:t>22</a:t>
                      </a:r>
                      <a:endParaRPr lang="en-US" sz="1100"/>
                    </a:p>
                  </a:txBody>
                  <a:tcPr marL="91440" marR="91440" marT="91440" marB="9144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DAE3F3"/>
                    </a:solidFill>
                  </a:tcPr>
                </a:tc>
                <a:tc>
                  <a:txBody>
                    <a:bodyPr anchor="t" rtlCol="false"/>
                    <a:lstStyle/>
                    <a:p>
                      <a:pPr algn="ctr">
                        <a:lnSpc>
                          <a:spcPts val="3240"/>
                        </a:lnSpc>
                        <a:defRPr/>
                      </a:pPr>
                      <a:r>
                        <a:rPr lang="en-US" sz="2700">
                          <a:solidFill>
                            <a:srgbClr val="000000"/>
                          </a:solidFill>
                          <a:latin typeface="Montserrat"/>
                          <a:ea typeface="Montserrat"/>
                          <a:cs typeface="Montserrat"/>
                          <a:sym typeface="Montserrat"/>
                        </a:rPr>
                        <a:t>67.56%</a:t>
                      </a:r>
                      <a:endParaRPr lang="en-US" sz="1100"/>
                    </a:p>
                  </a:txBody>
                  <a:tcPr marL="91440" marR="91440" marT="91440" marB="9144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DAE3F3"/>
                    </a:solidFill>
                  </a:tcPr>
                </a:tc>
              </a:tr>
              <a:tr h="838200">
                <a:tc>
                  <a:txBody>
                    <a:bodyPr anchor="t" rtlCol="false"/>
                    <a:lstStyle/>
                    <a:p>
                      <a:pPr algn="l">
                        <a:lnSpc>
                          <a:spcPts val="3240"/>
                        </a:lnSpc>
                        <a:defRPr/>
                      </a:pPr>
                      <a:r>
                        <a:rPr lang="en-US" sz="2700">
                          <a:solidFill>
                            <a:srgbClr val="000000"/>
                          </a:solidFill>
                          <a:latin typeface="Montserrat"/>
                          <a:ea typeface="Montserrat"/>
                          <a:cs typeface="Montserrat"/>
                          <a:sym typeface="Montserrat"/>
                        </a:rPr>
                        <a:t>Manual-analysis</a:t>
                      </a:r>
                      <a:endParaRPr lang="en-US" sz="1100"/>
                    </a:p>
                  </a:txBody>
                  <a:tcPr marL="91440" marR="91440" marT="91440" marB="9144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F2F2F2"/>
                    </a:solidFill>
                  </a:tcPr>
                </a:tc>
                <a:tc>
                  <a:txBody>
                    <a:bodyPr anchor="t" rtlCol="false"/>
                    <a:lstStyle/>
                    <a:p>
                      <a:pPr algn="ctr">
                        <a:lnSpc>
                          <a:spcPts val="3240"/>
                        </a:lnSpc>
                        <a:defRPr/>
                      </a:pPr>
                      <a:r>
                        <a:rPr lang="en-US" sz="2700">
                          <a:solidFill>
                            <a:srgbClr val="000000"/>
                          </a:solidFill>
                          <a:latin typeface="Montserrat"/>
                          <a:ea typeface="Montserrat"/>
                          <a:cs typeface="Montserrat"/>
                          <a:sym typeface="Montserrat"/>
                        </a:rPr>
                        <a:t>118</a:t>
                      </a:r>
                      <a:endParaRPr lang="en-US" sz="1100"/>
                    </a:p>
                  </a:txBody>
                  <a:tcPr marL="91440" marR="91440" marT="91440" marB="9144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F2F2F2"/>
                    </a:solidFill>
                  </a:tcPr>
                </a:tc>
                <a:tc>
                  <a:txBody>
                    <a:bodyPr anchor="t" rtlCol="false"/>
                    <a:lstStyle/>
                    <a:p>
                      <a:pPr algn="ctr">
                        <a:lnSpc>
                          <a:spcPts val="3240"/>
                        </a:lnSpc>
                        <a:defRPr/>
                      </a:pPr>
                      <a:r>
                        <a:rPr lang="en-US" sz="2700">
                          <a:solidFill>
                            <a:srgbClr val="000000"/>
                          </a:solidFill>
                          <a:latin typeface="Montserrat"/>
                          <a:ea typeface="Montserrat"/>
                          <a:cs typeface="Montserrat"/>
                          <a:sym typeface="Montserrat"/>
                        </a:rPr>
                        <a:t>238</a:t>
                      </a:r>
                      <a:endParaRPr lang="en-US" sz="1100"/>
                    </a:p>
                  </a:txBody>
                  <a:tcPr marL="91440" marR="91440" marT="91440" marB="9144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F2F2F2"/>
                    </a:solidFill>
                  </a:tcPr>
                </a:tc>
                <a:tc>
                  <a:txBody>
                    <a:bodyPr anchor="t" rtlCol="false"/>
                    <a:lstStyle/>
                    <a:p>
                      <a:pPr algn="ctr">
                        <a:lnSpc>
                          <a:spcPts val="3240"/>
                        </a:lnSpc>
                        <a:defRPr/>
                      </a:pPr>
                      <a:r>
                        <a:rPr lang="en-US" sz="2700">
                          <a:solidFill>
                            <a:srgbClr val="000000"/>
                          </a:solidFill>
                          <a:latin typeface="Montserrat"/>
                          <a:ea typeface="Montserrat"/>
                          <a:cs typeface="Montserrat"/>
                          <a:sym typeface="Montserrat"/>
                        </a:rPr>
                        <a:t>64</a:t>
                      </a:r>
                      <a:endParaRPr lang="en-US" sz="1100"/>
                    </a:p>
                  </a:txBody>
                  <a:tcPr marL="91440" marR="91440" marT="91440" marB="9144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F2F2F2"/>
                    </a:solidFill>
                  </a:tcPr>
                </a:tc>
                <a:tc>
                  <a:txBody>
                    <a:bodyPr anchor="t" rtlCol="false"/>
                    <a:lstStyle/>
                    <a:p>
                      <a:pPr algn="ctr">
                        <a:lnSpc>
                          <a:spcPts val="3240"/>
                        </a:lnSpc>
                        <a:defRPr/>
                      </a:pPr>
                      <a:r>
                        <a:rPr lang="en-US" sz="2700">
                          <a:solidFill>
                            <a:srgbClr val="000000"/>
                          </a:solidFill>
                          <a:latin typeface="Montserrat"/>
                          <a:ea typeface="Montserrat"/>
                          <a:cs typeface="Montserrat"/>
                          <a:sym typeface="Montserrat"/>
                        </a:rPr>
                        <a:t>43</a:t>
                      </a:r>
                      <a:endParaRPr lang="en-US" sz="1100"/>
                    </a:p>
                  </a:txBody>
                  <a:tcPr marL="91440" marR="91440" marT="91440" marB="9144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F2F2F2"/>
                    </a:solidFill>
                  </a:tcPr>
                </a:tc>
                <a:tc>
                  <a:txBody>
                    <a:bodyPr anchor="t" rtlCol="false"/>
                    <a:lstStyle/>
                    <a:p>
                      <a:pPr algn="ctr">
                        <a:lnSpc>
                          <a:spcPts val="3240"/>
                        </a:lnSpc>
                        <a:defRPr/>
                      </a:pPr>
                      <a:r>
                        <a:rPr lang="en-US" sz="2700">
                          <a:solidFill>
                            <a:srgbClr val="000000"/>
                          </a:solidFill>
                          <a:latin typeface="Montserrat"/>
                          <a:ea typeface="Montserrat"/>
                          <a:cs typeface="Montserrat"/>
                          <a:sym typeface="Montserrat"/>
                        </a:rPr>
                        <a:t>30</a:t>
                      </a:r>
                      <a:endParaRPr lang="en-US" sz="1100"/>
                    </a:p>
                  </a:txBody>
                  <a:tcPr marL="91440" marR="91440" marT="91440" marB="9144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F2F2F2"/>
                    </a:solidFill>
                  </a:tcPr>
                </a:tc>
                <a:tc>
                  <a:txBody>
                    <a:bodyPr anchor="t" rtlCol="false"/>
                    <a:lstStyle/>
                    <a:p>
                      <a:pPr algn="ctr">
                        <a:lnSpc>
                          <a:spcPts val="3240"/>
                        </a:lnSpc>
                        <a:defRPr/>
                      </a:pPr>
                      <a:r>
                        <a:rPr lang="en-US" sz="2700">
                          <a:solidFill>
                            <a:srgbClr val="000000"/>
                          </a:solidFill>
                          <a:latin typeface="Montserrat"/>
                          <a:ea typeface="Montserrat"/>
                          <a:cs typeface="Montserrat"/>
                          <a:sym typeface="Montserrat"/>
                        </a:rPr>
                        <a:t>20</a:t>
                      </a:r>
                      <a:endParaRPr lang="en-US" sz="1100"/>
                    </a:p>
                  </a:txBody>
                  <a:tcPr marL="91440" marR="91440" marT="91440" marB="9144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F2F2F2"/>
                    </a:solidFill>
                  </a:tcPr>
                </a:tc>
                <a:tc>
                  <a:txBody>
                    <a:bodyPr anchor="t" rtlCol="false"/>
                    <a:lstStyle/>
                    <a:p>
                      <a:pPr algn="ctr">
                        <a:lnSpc>
                          <a:spcPts val="3240"/>
                        </a:lnSpc>
                        <a:defRPr/>
                      </a:pPr>
                      <a:r>
                        <a:rPr lang="en-US" sz="2700">
                          <a:solidFill>
                            <a:srgbClr val="000000"/>
                          </a:solidFill>
                          <a:latin typeface="Montserrat"/>
                          <a:ea typeface="Montserrat"/>
                          <a:cs typeface="Montserrat"/>
                          <a:sym typeface="Montserrat"/>
                        </a:rPr>
                        <a:t>80.53%</a:t>
                      </a:r>
                      <a:endParaRPr lang="en-US" sz="1100"/>
                    </a:p>
                  </a:txBody>
                  <a:tcPr marL="91440" marR="91440" marT="91440" marB="9144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F2F2F2"/>
                    </a:solidFill>
                  </a:tcPr>
                </a:tc>
              </a:tr>
              <a:tr h="838200">
                <a:tc>
                  <a:txBody>
                    <a:bodyPr anchor="t" rtlCol="false"/>
                    <a:lstStyle/>
                    <a:p>
                      <a:pPr algn="l">
                        <a:lnSpc>
                          <a:spcPts val="3240"/>
                        </a:lnSpc>
                        <a:defRPr/>
                      </a:pPr>
                      <a:r>
                        <a:rPr lang="en-US" sz="2700">
                          <a:solidFill>
                            <a:srgbClr val="000000"/>
                          </a:solidFill>
                          <a:latin typeface="Montserrat"/>
                          <a:ea typeface="Montserrat"/>
                          <a:cs typeface="Montserrat"/>
                          <a:sym typeface="Montserrat"/>
                        </a:rPr>
                        <a:t>Reviewed AI</a:t>
                      </a:r>
                      <a:endParaRPr lang="en-US" sz="1100"/>
                    </a:p>
                  </a:txBody>
                  <a:tcPr marL="91440" marR="91440" marT="91440" marB="9144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DAE3F3"/>
                    </a:solidFill>
                  </a:tcPr>
                </a:tc>
                <a:tc>
                  <a:txBody>
                    <a:bodyPr anchor="t" rtlCol="false"/>
                    <a:lstStyle/>
                    <a:p>
                      <a:pPr algn="ctr">
                        <a:lnSpc>
                          <a:spcPts val="3240"/>
                        </a:lnSpc>
                        <a:defRPr/>
                      </a:pPr>
                      <a:r>
                        <a:rPr lang="en-US" sz="2700">
                          <a:solidFill>
                            <a:srgbClr val="000000"/>
                          </a:solidFill>
                          <a:latin typeface="Montserrat"/>
                          <a:ea typeface="Montserrat"/>
                          <a:cs typeface="Montserrat"/>
                          <a:sym typeface="Montserrat"/>
                        </a:rPr>
                        <a:t>118</a:t>
                      </a:r>
                      <a:endParaRPr lang="en-US" sz="1100"/>
                    </a:p>
                  </a:txBody>
                  <a:tcPr marL="91440" marR="91440" marT="91440" marB="9144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DAE3F3"/>
                    </a:solidFill>
                  </a:tcPr>
                </a:tc>
                <a:tc>
                  <a:txBody>
                    <a:bodyPr anchor="t" rtlCol="false"/>
                    <a:lstStyle/>
                    <a:p>
                      <a:pPr algn="ctr">
                        <a:lnSpc>
                          <a:spcPts val="3240"/>
                        </a:lnSpc>
                        <a:defRPr/>
                      </a:pPr>
                      <a:r>
                        <a:rPr lang="en-US" sz="2700">
                          <a:solidFill>
                            <a:srgbClr val="000000"/>
                          </a:solidFill>
                          <a:latin typeface="Montserrat"/>
                          <a:ea typeface="Montserrat"/>
                          <a:cs typeface="Montserrat"/>
                          <a:sym typeface="Montserrat"/>
                        </a:rPr>
                        <a:t>211</a:t>
                      </a:r>
                      <a:endParaRPr lang="en-US" sz="1100"/>
                    </a:p>
                  </a:txBody>
                  <a:tcPr marL="91440" marR="91440" marT="91440" marB="9144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DAE3F3"/>
                    </a:solidFill>
                  </a:tcPr>
                </a:tc>
                <a:tc>
                  <a:txBody>
                    <a:bodyPr anchor="t" rtlCol="false"/>
                    <a:lstStyle/>
                    <a:p>
                      <a:pPr algn="ctr">
                        <a:lnSpc>
                          <a:spcPts val="3240"/>
                        </a:lnSpc>
                        <a:defRPr/>
                      </a:pPr>
                      <a:r>
                        <a:rPr lang="en-US" sz="2700">
                          <a:solidFill>
                            <a:srgbClr val="000000"/>
                          </a:solidFill>
                          <a:latin typeface="Montserrat"/>
                          <a:ea typeface="Montserrat"/>
                          <a:cs typeface="Montserrat"/>
                          <a:sym typeface="Montserrat"/>
                        </a:rPr>
                        <a:t>72</a:t>
                      </a:r>
                      <a:endParaRPr lang="en-US" sz="1100"/>
                    </a:p>
                  </a:txBody>
                  <a:tcPr marL="91440" marR="91440" marT="91440" marB="9144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DAE3F3"/>
                    </a:solidFill>
                  </a:tcPr>
                </a:tc>
                <a:tc>
                  <a:txBody>
                    <a:bodyPr anchor="t" rtlCol="false"/>
                    <a:lstStyle/>
                    <a:p>
                      <a:pPr algn="ctr">
                        <a:lnSpc>
                          <a:spcPts val="3240"/>
                        </a:lnSpc>
                        <a:defRPr/>
                      </a:pPr>
                      <a:r>
                        <a:rPr lang="en-US" sz="2700">
                          <a:solidFill>
                            <a:srgbClr val="000000"/>
                          </a:solidFill>
                          <a:latin typeface="Montserrat"/>
                          <a:ea typeface="Montserrat"/>
                          <a:cs typeface="Montserrat"/>
                          <a:sym typeface="Montserrat"/>
                        </a:rPr>
                        <a:t>62</a:t>
                      </a:r>
                      <a:endParaRPr lang="en-US" sz="1100"/>
                    </a:p>
                  </a:txBody>
                  <a:tcPr marL="91440" marR="91440" marT="91440" marB="9144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DAE3F3"/>
                    </a:solidFill>
                  </a:tcPr>
                </a:tc>
                <a:tc>
                  <a:txBody>
                    <a:bodyPr anchor="t" rtlCol="false"/>
                    <a:lstStyle/>
                    <a:p>
                      <a:pPr algn="ctr">
                        <a:lnSpc>
                          <a:spcPts val="3240"/>
                        </a:lnSpc>
                        <a:defRPr/>
                      </a:pPr>
                      <a:r>
                        <a:rPr lang="en-US" sz="2700">
                          <a:solidFill>
                            <a:srgbClr val="000000"/>
                          </a:solidFill>
                          <a:latin typeface="Montserrat"/>
                          <a:ea typeface="Montserrat"/>
                          <a:cs typeface="Montserrat"/>
                          <a:sym typeface="Montserrat"/>
                        </a:rPr>
                        <a:t>30</a:t>
                      </a:r>
                      <a:endParaRPr lang="en-US" sz="1100"/>
                    </a:p>
                  </a:txBody>
                  <a:tcPr marL="91440" marR="91440" marT="91440" marB="9144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DAE3F3"/>
                    </a:solidFill>
                  </a:tcPr>
                </a:tc>
                <a:tc>
                  <a:txBody>
                    <a:bodyPr anchor="t" rtlCol="false"/>
                    <a:lstStyle/>
                    <a:p>
                      <a:pPr algn="ctr">
                        <a:lnSpc>
                          <a:spcPts val="3240"/>
                        </a:lnSpc>
                        <a:defRPr/>
                      </a:pPr>
                      <a:r>
                        <a:rPr lang="en-US" sz="2700">
                          <a:solidFill>
                            <a:srgbClr val="000000"/>
                          </a:solidFill>
                          <a:latin typeface="Montserrat"/>
                          <a:ea typeface="Montserrat"/>
                          <a:cs typeface="Montserrat"/>
                          <a:sym typeface="Montserrat"/>
                        </a:rPr>
                        <a:t>20</a:t>
                      </a:r>
                      <a:endParaRPr lang="en-US" sz="1100"/>
                    </a:p>
                  </a:txBody>
                  <a:tcPr marL="91440" marR="91440" marT="91440" marB="9144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DAE3F3"/>
                    </a:solidFill>
                  </a:tcPr>
                </a:tc>
                <a:tc>
                  <a:txBody>
                    <a:bodyPr anchor="t" rtlCol="false"/>
                    <a:lstStyle/>
                    <a:p>
                      <a:pPr algn="ctr">
                        <a:lnSpc>
                          <a:spcPts val="3240"/>
                        </a:lnSpc>
                        <a:defRPr/>
                      </a:pPr>
                      <a:r>
                        <a:rPr lang="en-US" sz="2700">
                          <a:solidFill>
                            <a:srgbClr val="000000"/>
                          </a:solidFill>
                          <a:latin typeface="Montserrat"/>
                          <a:ea typeface="Montserrat"/>
                          <a:cs typeface="Montserrat"/>
                          <a:sym typeface="Montserrat"/>
                        </a:rPr>
                        <a:t>75.47%</a:t>
                      </a:r>
                      <a:endParaRPr lang="en-US" sz="1100"/>
                    </a:p>
                  </a:txBody>
                  <a:tcPr marL="91440" marR="91440" marT="91440" marB="9144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DAE3F3"/>
                    </a:solidFill>
                  </a:tcPr>
                </a:tc>
              </a:tr>
            </a:tbl>
          </a:graphicData>
        </a:graphic>
      </p:graphicFrame>
      <p:sp>
        <p:nvSpPr>
          <p:cNvPr name="TextBox 10" id="10"/>
          <p:cNvSpPr txBox="true"/>
          <p:nvPr/>
        </p:nvSpPr>
        <p:spPr>
          <a:xfrm rot="0">
            <a:off x="685800" y="6067425"/>
            <a:ext cx="16916400" cy="847725"/>
          </a:xfrm>
          <a:prstGeom prst="rect">
            <a:avLst/>
          </a:prstGeom>
        </p:spPr>
        <p:txBody>
          <a:bodyPr anchor="t" rtlCol="false" tIns="0" lIns="0" bIns="0" rIns="0">
            <a:spAutoFit/>
          </a:bodyPr>
          <a:lstStyle/>
          <a:p>
            <a:pPr algn="l">
              <a:lnSpc>
                <a:spcPts val="3375"/>
              </a:lnSpc>
            </a:pPr>
            <a:r>
              <a:rPr lang="en-US" sz="2812">
                <a:solidFill>
                  <a:srgbClr val="000000"/>
                </a:solidFill>
                <a:latin typeface="Montserrat"/>
                <a:ea typeface="Montserrat"/>
                <a:cs typeface="Montserrat"/>
                <a:sym typeface="Montserrat"/>
              </a:rPr>
              <a:t>Score = (Killed + Timeout) / valid mutants. Error = RuntimeError.</a:t>
            </a:r>
          </a:p>
          <a:p>
            <a:pPr algn="l">
              <a:lnSpc>
                <a:spcPts val="3375"/>
              </a:lnSpc>
            </a:pPr>
            <a:r>
              <a:rPr lang="en-US" sz="2812">
                <a:solidFill>
                  <a:srgbClr val="000000"/>
                </a:solidFill>
                <a:latin typeface="Montserrat"/>
                <a:ea typeface="Montserrat"/>
                <a:cs typeface="Montserrat"/>
                <a:sym typeface="Montserrat"/>
              </a:rPr>
              <a:t>Valid denominators: 373, 375, 375. CompileError / Ignored / Pending: 0.</a:t>
            </a:r>
          </a:p>
        </p:txBody>
      </p:sp>
      <p:grpSp>
        <p:nvGrpSpPr>
          <p:cNvPr name="Group 11" id="11"/>
          <p:cNvGrpSpPr/>
          <p:nvPr/>
        </p:nvGrpSpPr>
        <p:grpSpPr>
          <a:xfrm rot="0">
            <a:off x="685800" y="7415212"/>
            <a:ext cx="16916400" cy="657225"/>
            <a:chOff x="0" y="0"/>
            <a:chExt cx="22555200" cy="876300"/>
          </a:xfrm>
        </p:grpSpPr>
        <p:sp>
          <p:nvSpPr>
            <p:cNvPr name="Freeform 12" id="12"/>
            <p:cNvSpPr/>
            <p:nvPr/>
          </p:nvSpPr>
          <p:spPr>
            <a:xfrm flipH="false" flipV="false" rot="0">
              <a:off x="0" y="0"/>
              <a:ext cx="22555200" cy="876300"/>
            </a:xfrm>
            <a:custGeom>
              <a:avLst/>
              <a:gdLst/>
              <a:ahLst/>
              <a:cxnLst/>
              <a:rect r="r" b="b" t="t" l="l"/>
              <a:pathLst>
                <a:path h="876300" w="22555200">
                  <a:moveTo>
                    <a:pt x="0" y="0"/>
                  </a:moveTo>
                  <a:lnTo>
                    <a:pt x="22555200" y="0"/>
                  </a:lnTo>
                  <a:lnTo>
                    <a:pt x="22555200" y="876300"/>
                  </a:lnTo>
                  <a:lnTo>
                    <a:pt x="0" y="876300"/>
                  </a:lnTo>
                  <a:close/>
                </a:path>
              </a:pathLst>
            </a:custGeom>
            <a:solidFill>
              <a:srgbClr val="1F4E79"/>
            </a:solidFill>
          </p:spPr>
        </p:sp>
      </p:grpSp>
      <p:sp>
        <p:nvSpPr>
          <p:cNvPr name="TextBox 13" id="13"/>
          <p:cNvSpPr txBox="true"/>
          <p:nvPr/>
        </p:nvSpPr>
        <p:spPr>
          <a:xfrm rot="0">
            <a:off x="885825" y="7515225"/>
            <a:ext cx="10058162" cy="457200"/>
          </a:xfrm>
          <a:prstGeom prst="rect">
            <a:avLst/>
          </a:prstGeom>
        </p:spPr>
        <p:txBody>
          <a:bodyPr anchor="t" rtlCol="false" tIns="0" lIns="0" bIns="0" rIns="0">
            <a:spAutoFit/>
          </a:bodyPr>
          <a:lstStyle/>
          <a:p>
            <a:pPr algn="l">
              <a:lnSpc>
                <a:spcPts val="3644"/>
              </a:lnSpc>
            </a:pPr>
            <a:r>
              <a:rPr lang="en-US" sz="3037" b="true">
                <a:solidFill>
                  <a:srgbClr val="FFFFFF"/>
                </a:solidFill>
                <a:latin typeface="Montserrat Bold"/>
                <a:ea typeface="Montserrat Bold"/>
                <a:cs typeface="Montserrat Bold"/>
                <a:sym typeface="Montserrat Bold"/>
              </a:rPr>
              <a:t>New Killed from baseline Survived or NoCoverage</a:t>
            </a:r>
          </a:p>
        </p:txBody>
      </p:sp>
      <p:sp>
        <p:nvSpPr>
          <p:cNvPr name="TextBox 14" id="14"/>
          <p:cNvSpPr txBox="true"/>
          <p:nvPr/>
        </p:nvSpPr>
        <p:spPr>
          <a:xfrm rot="0">
            <a:off x="971550" y="8367713"/>
            <a:ext cx="7658100" cy="600075"/>
          </a:xfrm>
          <a:prstGeom prst="rect">
            <a:avLst/>
          </a:prstGeom>
        </p:spPr>
        <p:txBody>
          <a:bodyPr anchor="t" rtlCol="false" tIns="0" lIns="0" bIns="0" rIns="0">
            <a:spAutoFit/>
          </a:bodyPr>
          <a:lstStyle/>
          <a:p>
            <a:pPr algn="l">
              <a:lnSpc>
                <a:spcPts val="4860"/>
              </a:lnSpc>
            </a:pPr>
            <a:r>
              <a:rPr lang="en-US" b="true" sz="4050">
                <a:solidFill>
                  <a:srgbClr val="000000"/>
                </a:solidFill>
                <a:latin typeface="Montserrat Bold"/>
                <a:ea typeface="Montserrat Bold"/>
                <a:cs typeface="Montserrat Bold"/>
                <a:sym typeface="Montserrat Bold"/>
              </a:rPr>
              <a:t>48 manual-analysis</a:t>
            </a:r>
          </a:p>
        </p:txBody>
      </p:sp>
      <p:sp>
        <p:nvSpPr>
          <p:cNvPr name="TextBox 15" id="15"/>
          <p:cNvSpPr txBox="true"/>
          <p:nvPr/>
        </p:nvSpPr>
        <p:spPr>
          <a:xfrm rot="0">
            <a:off x="9715500" y="8367713"/>
            <a:ext cx="7515225" cy="600075"/>
          </a:xfrm>
          <a:prstGeom prst="rect">
            <a:avLst/>
          </a:prstGeom>
        </p:spPr>
        <p:txBody>
          <a:bodyPr anchor="t" rtlCol="false" tIns="0" lIns="0" bIns="0" rIns="0">
            <a:spAutoFit/>
          </a:bodyPr>
          <a:lstStyle/>
          <a:p>
            <a:pPr algn="l">
              <a:lnSpc>
                <a:spcPts val="4860"/>
              </a:lnSpc>
            </a:pPr>
            <a:r>
              <a:rPr lang="en-US" sz="4050" b="true">
                <a:solidFill>
                  <a:srgbClr val="C00000"/>
                </a:solidFill>
                <a:latin typeface="Montserrat Bold"/>
                <a:ea typeface="Montserrat Bold"/>
                <a:cs typeface="Montserrat Bold"/>
                <a:sym typeface="Montserrat Bold"/>
              </a:rPr>
              <a:t>28 reviewed AI</a:t>
            </a:r>
          </a:p>
        </p:txBody>
      </p:sp>
      <p:sp>
        <p:nvSpPr>
          <p:cNvPr name="TextBox 16" id="16"/>
          <p:cNvSpPr txBox="true"/>
          <p:nvPr/>
        </p:nvSpPr>
        <p:spPr>
          <a:xfrm rot="0">
            <a:off x="685800" y="9244012"/>
            <a:ext cx="16916400" cy="409575"/>
          </a:xfrm>
          <a:prstGeom prst="rect">
            <a:avLst/>
          </a:prstGeom>
        </p:spPr>
        <p:txBody>
          <a:bodyPr anchor="t" rtlCol="false" tIns="0" lIns="0" bIns="0" rIns="0">
            <a:spAutoFit/>
          </a:bodyPr>
          <a:lstStyle/>
          <a:p>
            <a:pPr algn="l">
              <a:lnSpc>
                <a:spcPts val="3240"/>
              </a:lnSpc>
            </a:pPr>
            <a:r>
              <a:rPr lang="en-US" b="true" sz="2700">
                <a:solidFill>
                  <a:srgbClr val="000000"/>
                </a:solidFill>
                <a:latin typeface="Montserrat Bold"/>
                <a:ea typeface="Montserrat Bold"/>
                <a:cs typeface="Montserrat Bold"/>
                <a:sym typeface="Montserrat Bold"/>
              </a:rPr>
              <a:t>K / V: 51.21% baseline, 63.47% manual-analysis, 56.27% reviewed AI</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7543" cy="246888"/>
            <a:chOff x="0" y="0"/>
            <a:chExt cx="24383390" cy="329184"/>
          </a:xfrm>
        </p:grpSpPr>
        <p:sp>
          <p:nvSpPr>
            <p:cNvPr name="Freeform 3" id="3"/>
            <p:cNvSpPr/>
            <p:nvPr/>
          </p:nvSpPr>
          <p:spPr>
            <a:xfrm flipH="false" flipV="false" rot="0">
              <a:off x="0" y="0"/>
              <a:ext cx="24383364" cy="329184"/>
            </a:xfrm>
            <a:custGeom>
              <a:avLst/>
              <a:gdLst/>
              <a:ahLst/>
              <a:cxnLst/>
              <a:rect r="r" b="b" t="t" l="l"/>
              <a:pathLst>
                <a:path h="329184" w="24383364">
                  <a:moveTo>
                    <a:pt x="0" y="0"/>
                  </a:moveTo>
                  <a:lnTo>
                    <a:pt x="24383364" y="0"/>
                  </a:lnTo>
                  <a:lnTo>
                    <a:pt x="24383364" y="329184"/>
                  </a:lnTo>
                  <a:lnTo>
                    <a:pt x="0" y="329184"/>
                  </a:lnTo>
                  <a:close/>
                </a:path>
              </a:pathLst>
            </a:custGeom>
            <a:solidFill>
              <a:srgbClr val="1F4E79"/>
            </a:solidFill>
          </p:spPr>
        </p:sp>
      </p:grpSp>
      <p:sp>
        <p:nvSpPr>
          <p:cNvPr name="TextBox 4" id="4"/>
          <p:cNvSpPr txBox="true"/>
          <p:nvPr/>
        </p:nvSpPr>
        <p:spPr>
          <a:xfrm rot="0">
            <a:off x="548640" y="301752"/>
            <a:ext cx="7910512" cy="266700"/>
          </a:xfrm>
          <a:prstGeom prst="rect">
            <a:avLst/>
          </a:prstGeom>
        </p:spPr>
        <p:txBody>
          <a:bodyPr anchor="t" rtlCol="false" tIns="0" lIns="0" bIns="0" rIns="0">
            <a:spAutoFit/>
          </a:bodyPr>
          <a:lstStyle/>
          <a:p>
            <a:pPr algn="l">
              <a:lnSpc>
                <a:spcPts val="2160"/>
              </a:lnSpc>
            </a:pPr>
            <a:r>
              <a:rPr lang="en-US" b="true" sz="1800">
                <a:solidFill>
                  <a:srgbClr val="000000"/>
                </a:solidFill>
                <a:latin typeface="Montserrat Bold"/>
                <a:ea typeface="Montserrat Bold"/>
                <a:cs typeface="Montserrat Bold"/>
                <a:sym typeface="Montserrat Bold"/>
              </a:rPr>
              <a:t>2026 AI-First - Seminar T10 - Mutation Testing &amp; Test Effectiveness</a:t>
            </a:r>
          </a:p>
        </p:txBody>
      </p:sp>
      <p:sp>
        <p:nvSpPr>
          <p:cNvPr name="TextBox 5" id="5"/>
          <p:cNvSpPr txBox="true"/>
          <p:nvPr/>
        </p:nvSpPr>
        <p:spPr>
          <a:xfrm rot="0">
            <a:off x="548640" y="822960"/>
            <a:ext cx="17282160" cy="752475"/>
          </a:xfrm>
          <a:prstGeom prst="rect">
            <a:avLst/>
          </a:prstGeom>
        </p:spPr>
        <p:txBody>
          <a:bodyPr anchor="t" rtlCol="false" tIns="0" lIns="0" bIns="0" rIns="0">
            <a:spAutoFit/>
          </a:bodyPr>
          <a:lstStyle/>
          <a:p>
            <a:pPr algn="l">
              <a:lnSpc>
                <a:spcPts val="5940"/>
              </a:lnSpc>
            </a:pPr>
            <a:r>
              <a:rPr lang="en-US" b="true" sz="4950">
                <a:solidFill>
                  <a:srgbClr val="000000"/>
                </a:solidFill>
                <a:latin typeface="Montserrat Bold"/>
                <a:ea typeface="Montserrat Bold"/>
                <a:cs typeface="Montserrat Bold"/>
                <a:sym typeface="Montserrat Bold"/>
              </a:rPr>
              <a:t>Equivalent mutants and limits</a:t>
            </a:r>
          </a:p>
        </p:txBody>
      </p:sp>
      <p:grpSp>
        <p:nvGrpSpPr>
          <p:cNvPr name="Group 6" id="6"/>
          <p:cNvGrpSpPr/>
          <p:nvPr/>
        </p:nvGrpSpPr>
        <p:grpSpPr>
          <a:xfrm rot="0">
            <a:off x="0" y="9848088"/>
            <a:ext cx="18287543" cy="438912"/>
            <a:chOff x="0" y="0"/>
            <a:chExt cx="24383390" cy="585216"/>
          </a:xfrm>
        </p:grpSpPr>
        <p:sp>
          <p:nvSpPr>
            <p:cNvPr name="Freeform 7" id="7"/>
            <p:cNvSpPr/>
            <p:nvPr/>
          </p:nvSpPr>
          <p:spPr>
            <a:xfrm flipH="false" flipV="false" rot="0">
              <a:off x="0" y="0"/>
              <a:ext cx="24383364" cy="585216"/>
            </a:xfrm>
            <a:custGeom>
              <a:avLst/>
              <a:gdLst/>
              <a:ahLst/>
              <a:cxnLst/>
              <a:rect r="r" b="b" t="t" l="l"/>
              <a:pathLst>
                <a:path h="585216" w="24383364">
                  <a:moveTo>
                    <a:pt x="0" y="0"/>
                  </a:moveTo>
                  <a:lnTo>
                    <a:pt x="24383364" y="0"/>
                  </a:lnTo>
                  <a:lnTo>
                    <a:pt x="24383364" y="585216"/>
                  </a:lnTo>
                  <a:lnTo>
                    <a:pt x="0" y="585216"/>
                  </a:lnTo>
                  <a:close/>
                </a:path>
              </a:pathLst>
            </a:custGeom>
            <a:solidFill>
              <a:srgbClr val="1F4E79"/>
            </a:solidFill>
          </p:spPr>
        </p:sp>
      </p:grpSp>
      <p:sp>
        <p:nvSpPr>
          <p:cNvPr name="TextBox 8" id="8"/>
          <p:cNvSpPr txBox="true"/>
          <p:nvPr/>
        </p:nvSpPr>
        <p:spPr>
          <a:xfrm rot="0">
            <a:off x="548640" y="9938956"/>
            <a:ext cx="2374821" cy="257175"/>
          </a:xfrm>
          <a:prstGeom prst="rect">
            <a:avLst/>
          </a:prstGeom>
        </p:spPr>
        <p:txBody>
          <a:bodyPr anchor="t" rtlCol="false" tIns="0" lIns="0" bIns="0" rIns="0">
            <a:spAutoFit/>
          </a:bodyPr>
          <a:lstStyle/>
          <a:p>
            <a:pPr algn="l">
              <a:lnSpc>
                <a:spcPts val="2025"/>
              </a:lnSpc>
            </a:pPr>
            <a:r>
              <a:rPr lang="en-US" sz="1687" b="true">
                <a:solidFill>
                  <a:srgbClr val="FFFFFF"/>
                </a:solidFill>
                <a:latin typeface="Montserrat Bold"/>
                <a:ea typeface="Montserrat Bold"/>
                <a:cs typeface="Montserrat Bold"/>
                <a:sym typeface="Montserrat Bold"/>
              </a:rPr>
              <a:t>11 / 15 - Interpretation</a:t>
            </a:r>
          </a:p>
        </p:txBody>
      </p:sp>
      <p:grpSp>
        <p:nvGrpSpPr>
          <p:cNvPr name="Group 9" id="9"/>
          <p:cNvGrpSpPr/>
          <p:nvPr/>
        </p:nvGrpSpPr>
        <p:grpSpPr>
          <a:xfrm rot="0">
            <a:off x="685800" y="2257425"/>
            <a:ext cx="12430125" cy="657225"/>
            <a:chOff x="0" y="0"/>
            <a:chExt cx="16573500" cy="876300"/>
          </a:xfrm>
        </p:grpSpPr>
        <p:sp>
          <p:nvSpPr>
            <p:cNvPr name="Freeform 10" id="10"/>
            <p:cNvSpPr/>
            <p:nvPr/>
          </p:nvSpPr>
          <p:spPr>
            <a:xfrm flipH="false" flipV="false" rot="0">
              <a:off x="0" y="0"/>
              <a:ext cx="16573500" cy="876300"/>
            </a:xfrm>
            <a:custGeom>
              <a:avLst/>
              <a:gdLst/>
              <a:ahLst/>
              <a:cxnLst/>
              <a:rect r="r" b="b" t="t" l="l"/>
              <a:pathLst>
                <a:path h="876300" w="16573500">
                  <a:moveTo>
                    <a:pt x="0" y="0"/>
                  </a:moveTo>
                  <a:lnTo>
                    <a:pt x="16573500" y="0"/>
                  </a:lnTo>
                  <a:lnTo>
                    <a:pt x="16573500" y="876300"/>
                  </a:lnTo>
                  <a:lnTo>
                    <a:pt x="0" y="876300"/>
                  </a:lnTo>
                  <a:close/>
                </a:path>
              </a:pathLst>
            </a:custGeom>
            <a:solidFill>
              <a:srgbClr val="1F4E79"/>
            </a:solidFill>
          </p:spPr>
        </p:sp>
      </p:grpSp>
      <p:sp>
        <p:nvSpPr>
          <p:cNvPr name="TextBox 11" id="11"/>
          <p:cNvSpPr txBox="true"/>
          <p:nvPr/>
        </p:nvSpPr>
        <p:spPr>
          <a:xfrm rot="0">
            <a:off x="885825" y="2357438"/>
            <a:ext cx="5546765" cy="457200"/>
          </a:xfrm>
          <a:prstGeom prst="rect">
            <a:avLst/>
          </a:prstGeom>
        </p:spPr>
        <p:txBody>
          <a:bodyPr anchor="t" rtlCol="false" tIns="0" lIns="0" bIns="0" rIns="0">
            <a:spAutoFit/>
          </a:bodyPr>
          <a:lstStyle/>
          <a:p>
            <a:pPr algn="l">
              <a:lnSpc>
                <a:spcPts val="3644"/>
              </a:lnSpc>
            </a:pPr>
            <a:r>
              <a:rPr lang="en-US" sz="3037" b="true">
                <a:solidFill>
                  <a:srgbClr val="FFFFFF"/>
                </a:solidFill>
                <a:latin typeface="Montserrat Bold"/>
                <a:ea typeface="Montserrat Bold"/>
                <a:cs typeface="Montserrat Bold"/>
                <a:sym typeface="Montserrat Bold"/>
              </a:rPr>
              <a:t>Why can a mutant survive?</a:t>
            </a:r>
          </a:p>
        </p:txBody>
      </p:sp>
      <p:sp>
        <p:nvSpPr>
          <p:cNvPr name="TextBox 12" id="12"/>
          <p:cNvSpPr txBox="true"/>
          <p:nvPr/>
        </p:nvSpPr>
        <p:spPr>
          <a:xfrm rot="0">
            <a:off x="914400" y="3186112"/>
            <a:ext cx="11930062" cy="1428750"/>
          </a:xfrm>
          <a:prstGeom prst="rect">
            <a:avLst/>
          </a:prstGeom>
        </p:spPr>
        <p:txBody>
          <a:bodyPr anchor="t" rtlCol="false" tIns="0" lIns="0" bIns="0" rIns="0">
            <a:spAutoFit/>
          </a:bodyPr>
          <a:lstStyle/>
          <a:p>
            <a:pPr algn="l">
              <a:lnSpc>
                <a:spcPts val="3779"/>
              </a:lnSpc>
            </a:pPr>
            <a:r>
              <a:rPr lang="en-US" sz="3150">
                <a:solidFill>
                  <a:srgbClr val="000000"/>
                </a:solidFill>
                <a:latin typeface="Montserrat"/>
                <a:ea typeface="Montserrat"/>
                <a:cs typeface="Montserrat"/>
                <a:sym typeface="Montserrat"/>
              </a:rPr>
              <a:t>Missing input or check: add a spec-based test.</a:t>
            </a:r>
          </a:p>
          <a:p>
            <a:pPr algn="l">
              <a:lnSpc>
                <a:spcPts val="3779"/>
              </a:lnSpc>
            </a:pPr>
            <a:r>
              <a:rPr lang="en-US" sz="3150">
                <a:solidFill>
                  <a:srgbClr val="000000"/>
                </a:solidFill>
                <a:latin typeface="Montserrat"/>
                <a:ea typeface="Montserrat"/>
                <a:cs typeface="Montserrat"/>
                <a:sym typeface="Montserrat"/>
              </a:rPr>
              <a:t>Equivalent: same observations for all valid inputs.</a:t>
            </a:r>
          </a:p>
          <a:p>
            <a:pPr algn="l">
              <a:lnSpc>
                <a:spcPts val="3779"/>
              </a:lnSpc>
            </a:pPr>
            <a:r>
              <a:rPr lang="en-US" sz="3150">
                <a:solidFill>
                  <a:srgbClr val="000000"/>
                </a:solidFill>
                <a:latin typeface="Montserrat"/>
                <a:ea typeface="Montserrat"/>
                <a:cs typeface="Montserrat"/>
                <a:sym typeface="Montserrat"/>
              </a:rPr>
              <a:t>Auth candidate: counts 0, 2, 4 mask &gt;= 3 vs &gt; 3.</a:t>
            </a:r>
          </a:p>
        </p:txBody>
      </p:sp>
      <p:grpSp>
        <p:nvGrpSpPr>
          <p:cNvPr name="Group 13" id="13"/>
          <p:cNvGrpSpPr/>
          <p:nvPr/>
        </p:nvGrpSpPr>
        <p:grpSpPr>
          <a:xfrm rot="0">
            <a:off x="685800" y="5572125"/>
            <a:ext cx="12430125" cy="657225"/>
            <a:chOff x="0" y="0"/>
            <a:chExt cx="16573500" cy="876300"/>
          </a:xfrm>
        </p:grpSpPr>
        <p:sp>
          <p:nvSpPr>
            <p:cNvPr name="Freeform 14" id="14"/>
            <p:cNvSpPr/>
            <p:nvPr/>
          </p:nvSpPr>
          <p:spPr>
            <a:xfrm flipH="false" flipV="false" rot="0">
              <a:off x="0" y="0"/>
              <a:ext cx="16573500" cy="876300"/>
            </a:xfrm>
            <a:custGeom>
              <a:avLst/>
              <a:gdLst/>
              <a:ahLst/>
              <a:cxnLst/>
              <a:rect r="r" b="b" t="t" l="l"/>
              <a:pathLst>
                <a:path h="876300" w="16573500">
                  <a:moveTo>
                    <a:pt x="0" y="0"/>
                  </a:moveTo>
                  <a:lnTo>
                    <a:pt x="16573500" y="0"/>
                  </a:lnTo>
                  <a:lnTo>
                    <a:pt x="16573500" y="876300"/>
                  </a:lnTo>
                  <a:lnTo>
                    <a:pt x="0" y="876300"/>
                  </a:lnTo>
                  <a:close/>
                </a:path>
              </a:pathLst>
            </a:custGeom>
            <a:solidFill>
              <a:srgbClr val="C00000"/>
            </a:solidFill>
          </p:spPr>
        </p:sp>
      </p:grpSp>
      <p:sp>
        <p:nvSpPr>
          <p:cNvPr name="TextBox 15" id="15"/>
          <p:cNvSpPr txBox="true"/>
          <p:nvPr/>
        </p:nvSpPr>
        <p:spPr>
          <a:xfrm rot="0">
            <a:off x="885825" y="5672138"/>
            <a:ext cx="4742497" cy="457200"/>
          </a:xfrm>
          <a:prstGeom prst="rect">
            <a:avLst/>
          </a:prstGeom>
        </p:spPr>
        <p:txBody>
          <a:bodyPr anchor="t" rtlCol="false" tIns="0" lIns="0" bIns="0" rIns="0">
            <a:spAutoFit/>
          </a:bodyPr>
          <a:lstStyle/>
          <a:p>
            <a:pPr algn="l">
              <a:lnSpc>
                <a:spcPts val="3644"/>
              </a:lnSpc>
            </a:pPr>
            <a:r>
              <a:rPr lang="en-US" sz="3037" b="true">
                <a:solidFill>
                  <a:srgbClr val="FFFFFF"/>
                </a:solidFill>
                <a:latin typeface="Montserrat Bold"/>
                <a:ea typeface="Montserrat Bold"/>
                <a:cs typeface="Montserrat Bold"/>
                <a:sym typeface="Montserrat Bold"/>
              </a:rPr>
              <a:t>What AI can contribute</a:t>
            </a:r>
          </a:p>
        </p:txBody>
      </p:sp>
      <p:sp>
        <p:nvSpPr>
          <p:cNvPr name="TextBox 16" id="16"/>
          <p:cNvSpPr txBox="true"/>
          <p:nvPr/>
        </p:nvSpPr>
        <p:spPr>
          <a:xfrm rot="0">
            <a:off x="914400" y="6500812"/>
            <a:ext cx="11930062" cy="1428750"/>
          </a:xfrm>
          <a:prstGeom prst="rect">
            <a:avLst/>
          </a:prstGeom>
        </p:spPr>
        <p:txBody>
          <a:bodyPr anchor="t" rtlCol="false" tIns="0" lIns="0" bIns="0" rIns="0">
            <a:spAutoFit/>
          </a:bodyPr>
          <a:lstStyle/>
          <a:p>
            <a:pPr algn="l">
              <a:lnSpc>
                <a:spcPts val="3779"/>
              </a:lnSpc>
            </a:pPr>
            <a:r>
              <a:rPr lang="en-US" sz="3150">
                <a:solidFill>
                  <a:srgbClr val="000000"/>
                </a:solidFill>
                <a:latin typeface="Montserrat"/>
                <a:ea typeface="Montserrat"/>
                <a:cs typeface="Montserrat"/>
                <a:sym typeface="Montserrat"/>
              </a:rPr>
              <a:t>Propose counterexamples and equivalence arguments.</a:t>
            </a:r>
          </a:p>
          <a:p>
            <a:pPr algn="l">
              <a:lnSpc>
                <a:spcPts val="3779"/>
              </a:lnSpc>
            </a:pPr>
            <a:r>
              <a:rPr lang="en-US" sz="3150">
                <a:solidFill>
                  <a:srgbClr val="000000"/>
                </a:solidFill>
                <a:latin typeface="Montserrat"/>
                <a:ea typeface="Montserrat"/>
                <a:cs typeface="Montserrat"/>
                <a:sym typeface="Montserrat"/>
              </a:rPr>
              <a:t>Review inputs, side effects and assumptions.</a:t>
            </a:r>
          </a:p>
          <a:p>
            <a:pPr algn="l">
              <a:lnSpc>
                <a:spcPts val="3779"/>
              </a:lnSpc>
            </a:pPr>
            <a:r>
              <a:rPr lang="en-US" sz="3150">
                <a:solidFill>
                  <a:srgbClr val="000000"/>
                </a:solidFill>
                <a:latin typeface="Montserrat"/>
                <a:ea typeface="Montserrat"/>
                <a:cs typeface="Montserrat"/>
                <a:sym typeface="Montserrat"/>
              </a:rPr>
              <a:t>Keep unproven cases labeled equivalent candidates.</a:t>
            </a:r>
          </a:p>
        </p:txBody>
      </p:sp>
      <p:grpSp>
        <p:nvGrpSpPr>
          <p:cNvPr name="Group 17" id="17"/>
          <p:cNvGrpSpPr/>
          <p:nvPr/>
        </p:nvGrpSpPr>
        <p:grpSpPr>
          <a:xfrm rot="0">
            <a:off x="13576300" y="2257425"/>
            <a:ext cx="4254500" cy="5470071"/>
            <a:chOff x="0" y="0"/>
            <a:chExt cx="4578350" cy="5886450"/>
          </a:xfrm>
        </p:grpSpPr>
        <p:sp>
          <p:nvSpPr>
            <p:cNvPr name="Freeform 18" id="18"/>
            <p:cNvSpPr/>
            <p:nvPr/>
          </p:nvSpPr>
          <p:spPr>
            <a:xfrm flipH="false" flipV="false" rot="0">
              <a:off x="0" y="0"/>
              <a:ext cx="4578350" cy="5886450"/>
            </a:xfrm>
            <a:custGeom>
              <a:avLst/>
              <a:gdLst/>
              <a:ahLst/>
              <a:cxnLst/>
              <a:rect r="r" b="b" t="t" l="l"/>
              <a:pathLst>
                <a:path h="5886450" w="4578350">
                  <a:moveTo>
                    <a:pt x="0" y="0"/>
                  </a:moveTo>
                  <a:lnTo>
                    <a:pt x="4578350" y="0"/>
                  </a:lnTo>
                  <a:lnTo>
                    <a:pt x="4578350" y="5886450"/>
                  </a:lnTo>
                  <a:lnTo>
                    <a:pt x="0" y="5886450"/>
                  </a:lnTo>
                  <a:lnTo>
                    <a:pt x="0" y="0"/>
                  </a:lnTo>
                  <a:close/>
                </a:path>
              </a:pathLst>
            </a:custGeom>
            <a:blipFill>
              <a:blip r:embed="rId3"/>
              <a:stretch>
                <a:fillRect l="0" t="0" r="0" b="0"/>
              </a:stretch>
            </a:blipFill>
          </p:spPr>
        </p:sp>
      </p:grpSp>
      <p:sp>
        <p:nvSpPr>
          <p:cNvPr name="TextBox 19" id="19"/>
          <p:cNvSpPr txBox="true"/>
          <p:nvPr/>
        </p:nvSpPr>
        <p:spPr>
          <a:xfrm rot="0">
            <a:off x="685800" y="8758238"/>
            <a:ext cx="16916400" cy="819150"/>
          </a:xfrm>
          <a:prstGeom prst="rect">
            <a:avLst/>
          </a:prstGeom>
        </p:spPr>
        <p:txBody>
          <a:bodyPr anchor="t" rtlCol="false" tIns="0" lIns="0" bIns="0" rIns="0">
            <a:spAutoFit/>
          </a:bodyPr>
          <a:lstStyle/>
          <a:p>
            <a:pPr algn="l">
              <a:lnSpc>
                <a:spcPts val="3240"/>
              </a:lnSpc>
            </a:pPr>
            <a:r>
              <a:rPr lang="en-US" b="true" sz="2700">
                <a:solidFill>
                  <a:srgbClr val="000000"/>
                </a:solidFill>
                <a:latin typeface="Montserrat Bold"/>
                <a:ea typeface="Montserrat Bold"/>
                <a:cs typeface="Montserrat Bold"/>
                <a:sym typeface="Montserrat Bold"/>
              </a:rPr>
              <a:t>These runs compare collections, not model ability. Coupons used Codex on both sides.</a:t>
            </a:r>
          </a:p>
          <a:p>
            <a:pPr algn="l">
              <a:lnSpc>
                <a:spcPts val="3240"/>
              </a:lnSpc>
            </a:pPr>
            <a:r>
              <a:rPr lang="en-US" b="true" sz="2700">
                <a:solidFill>
                  <a:srgbClr val="000000"/>
                </a:solidFill>
                <a:latin typeface="Montserrat Bold"/>
                <a:ea typeface="Montserrat Bold"/>
                <a:cs typeface="Montserrat Bold"/>
                <a:sym typeface="Montserrat Bold"/>
              </a:rPr>
              <a:t>Timeout, SQLite errors, oracle conventions and machine load limit the conclusion.</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7571" cy="246888"/>
            <a:chOff x="0" y="0"/>
            <a:chExt cx="24383428" cy="329184"/>
          </a:xfrm>
        </p:grpSpPr>
        <p:sp>
          <p:nvSpPr>
            <p:cNvPr name="Freeform 3" id="3"/>
            <p:cNvSpPr/>
            <p:nvPr/>
          </p:nvSpPr>
          <p:spPr>
            <a:xfrm flipH="false" flipV="false" rot="0">
              <a:off x="0" y="0"/>
              <a:ext cx="24383364" cy="329184"/>
            </a:xfrm>
            <a:custGeom>
              <a:avLst/>
              <a:gdLst/>
              <a:ahLst/>
              <a:cxnLst/>
              <a:rect r="r" b="b" t="t" l="l"/>
              <a:pathLst>
                <a:path h="329184" w="24383364">
                  <a:moveTo>
                    <a:pt x="0" y="0"/>
                  </a:moveTo>
                  <a:lnTo>
                    <a:pt x="24383364" y="0"/>
                  </a:lnTo>
                  <a:lnTo>
                    <a:pt x="24383364" y="329184"/>
                  </a:lnTo>
                  <a:lnTo>
                    <a:pt x="0" y="329184"/>
                  </a:lnTo>
                  <a:close/>
                </a:path>
              </a:pathLst>
            </a:custGeom>
            <a:solidFill>
              <a:srgbClr val="1F4E79"/>
            </a:solidFill>
          </p:spPr>
        </p:sp>
      </p:grpSp>
      <p:grpSp>
        <p:nvGrpSpPr>
          <p:cNvPr name="Group 4" id="4"/>
          <p:cNvGrpSpPr/>
          <p:nvPr/>
        </p:nvGrpSpPr>
        <p:grpSpPr>
          <a:xfrm rot="0">
            <a:off x="0" y="9848088"/>
            <a:ext cx="18287571" cy="438912"/>
            <a:chOff x="0" y="0"/>
            <a:chExt cx="24383428" cy="585216"/>
          </a:xfrm>
        </p:grpSpPr>
        <p:sp>
          <p:nvSpPr>
            <p:cNvPr name="Freeform 5" id="5"/>
            <p:cNvSpPr/>
            <p:nvPr/>
          </p:nvSpPr>
          <p:spPr>
            <a:xfrm flipH="false" flipV="false" rot="0">
              <a:off x="0" y="0"/>
              <a:ext cx="24383364" cy="585216"/>
            </a:xfrm>
            <a:custGeom>
              <a:avLst/>
              <a:gdLst/>
              <a:ahLst/>
              <a:cxnLst/>
              <a:rect r="r" b="b" t="t" l="l"/>
              <a:pathLst>
                <a:path h="585216" w="24383364">
                  <a:moveTo>
                    <a:pt x="0" y="0"/>
                  </a:moveTo>
                  <a:lnTo>
                    <a:pt x="24383364" y="0"/>
                  </a:lnTo>
                  <a:lnTo>
                    <a:pt x="24383364" y="585216"/>
                  </a:lnTo>
                  <a:lnTo>
                    <a:pt x="0" y="585216"/>
                  </a:lnTo>
                  <a:close/>
                </a:path>
              </a:pathLst>
            </a:custGeom>
            <a:solidFill>
              <a:srgbClr val="1F4E79"/>
            </a:solidFill>
          </p:spPr>
        </p:sp>
      </p:grpSp>
      <p:sp>
        <p:nvSpPr>
          <p:cNvPr name="TextBox 6" id="6"/>
          <p:cNvSpPr txBox="true"/>
          <p:nvPr/>
        </p:nvSpPr>
        <p:spPr>
          <a:xfrm rot="0">
            <a:off x="548640" y="301466"/>
            <a:ext cx="17282160" cy="266700"/>
          </a:xfrm>
          <a:prstGeom prst="rect">
            <a:avLst/>
          </a:prstGeom>
        </p:spPr>
        <p:txBody>
          <a:bodyPr anchor="t" rtlCol="false" tIns="0" lIns="0" bIns="0" rIns="0">
            <a:spAutoFit/>
          </a:bodyPr>
          <a:lstStyle/>
          <a:p>
            <a:pPr algn="l">
              <a:lnSpc>
                <a:spcPts val="2160"/>
              </a:lnSpc>
            </a:pPr>
            <a:r>
              <a:rPr lang="en-US" b="true" sz="1800">
                <a:solidFill>
                  <a:srgbClr val="000000"/>
                </a:solidFill>
                <a:latin typeface="Montserrat Bold"/>
                <a:ea typeface="Montserrat Bold"/>
                <a:cs typeface="Montserrat Bold"/>
                <a:sym typeface="Montserrat Bold"/>
              </a:rPr>
              <a:t>2026 AI-First - Seminar T10 - Mutation Testing &amp; Test Effectiveness</a:t>
            </a:r>
          </a:p>
        </p:txBody>
      </p:sp>
      <p:sp>
        <p:nvSpPr>
          <p:cNvPr name="TextBox 7" id="7"/>
          <p:cNvSpPr txBox="true"/>
          <p:nvPr/>
        </p:nvSpPr>
        <p:spPr>
          <a:xfrm rot="0">
            <a:off x="548640" y="822960"/>
            <a:ext cx="17282160" cy="752475"/>
          </a:xfrm>
          <a:prstGeom prst="rect">
            <a:avLst/>
          </a:prstGeom>
        </p:spPr>
        <p:txBody>
          <a:bodyPr anchor="t" rtlCol="false" tIns="0" lIns="0" bIns="0" rIns="0">
            <a:spAutoFit/>
          </a:bodyPr>
          <a:lstStyle/>
          <a:p>
            <a:pPr algn="l">
              <a:lnSpc>
                <a:spcPts val="5940"/>
              </a:lnSpc>
            </a:pPr>
            <a:r>
              <a:rPr lang="en-US" b="true" sz="4950">
                <a:solidFill>
                  <a:srgbClr val="000000"/>
                </a:solidFill>
                <a:latin typeface="Montserrat Bold"/>
                <a:ea typeface="Montserrat Bold"/>
                <a:cs typeface="Montserrat Bold"/>
                <a:sym typeface="Montserrat Bold"/>
              </a:rPr>
              <a:t>Live demo: verify the coupon mutant</a:t>
            </a:r>
          </a:p>
        </p:txBody>
      </p:sp>
      <p:sp>
        <p:nvSpPr>
          <p:cNvPr name="TextBox 8" id="8"/>
          <p:cNvSpPr txBox="true"/>
          <p:nvPr/>
        </p:nvSpPr>
        <p:spPr>
          <a:xfrm rot="0">
            <a:off x="548640" y="9938956"/>
            <a:ext cx="17282160" cy="257175"/>
          </a:xfrm>
          <a:prstGeom prst="rect">
            <a:avLst/>
          </a:prstGeom>
        </p:spPr>
        <p:txBody>
          <a:bodyPr anchor="t" rtlCol="false" tIns="0" lIns="0" bIns="0" rIns="0">
            <a:spAutoFit/>
          </a:bodyPr>
          <a:lstStyle/>
          <a:p>
            <a:pPr algn="l">
              <a:lnSpc>
                <a:spcPts val="2025"/>
              </a:lnSpc>
            </a:pPr>
            <a:r>
              <a:rPr lang="en-US" sz="1687" b="true">
                <a:solidFill>
                  <a:srgbClr val="FFFFFF"/>
                </a:solidFill>
                <a:latin typeface="Montserrat Bold"/>
                <a:ea typeface="Montserrat Bold"/>
                <a:cs typeface="Montserrat Bold"/>
                <a:sym typeface="Montserrat Bold"/>
              </a:rPr>
              <a:t>12 / 15 - 10-minute demonstration</a:t>
            </a:r>
          </a:p>
        </p:txBody>
      </p:sp>
      <p:grpSp>
        <p:nvGrpSpPr>
          <p:cNvPr name="Group 9" id="9"/>
          <p:cNvGrpSpPr/>
          <p:nvPr/>
        </p:nvGrpSpPr>
        <p:grpSpPr>
          <a:xfrm rot="0">
            <a:off x="685800" y="2243138"/>
            <a:ext cx="12715875" cy="657225"/>
            <a:chOff x="0" y="0"/>
            <a:chExt cx="16954500" cy="876300"/>
          </a:xfrm>
        </p:grpSpPr>
        <p:sp>
          <p:nvSpPr>
            <p:cNvPr name="Freeform 10" id="10"/>
            <p:cNvSpPr/>
            <p:nvPr/>
          </p:nvSpPr>
          <p:spPr>
            <a:xfrm flipH="false" flipV="false" rot="0">
              <a:off x="0" y="0"/>
              <a:ext cx="16954500" cy="876300"/>
            </a:xfrm>
            <a:custGeom>
              <a:avLst/>
              <a:gdLst/>
              <a:ahLst/>
              <a:cxnLst/>
              <a:rect r="r" b="b" t="t" l="l"/>
              <a:pathLst>
                <a:path h="876300" w="16954500">
                  <a:moveTo>
                    <a:pt x="0" y="0"/>
                  </a:moveTo>
                  <a:lnTo>
                    <a:pt x="16954500" y="0"/>
                  </a:lnTo>
                  <a:lnTo>
                    <a:pt x="16954500" y="876300"/>
                  </a:lnTo>
                  <a:lnTo>
                    <a:pt x="0" y="876300"/>
                  </a:lnTo>
                  <a:close/>
                </a:path>
              </a:pathLst>
            </a:custGeom>
            <a:solidFill>
              <a:srgbClr val="1F4E79"/>
            </a:solidFill>
          </p:spPr>
        </p:sp>
      </p:grpSp>
      <p:sp>
        <p:nvSpPr>
          <p:cNvPr name="TextBox 11" id="11"/>
          <p:cNvSpPr txBox="true"/>
          <p:nvPr/>
        </p:nvSpPr>
        <p:spPr>
          <a:xfrm rot="0">
            <a:off x="885825" y="2343150"/>
            <a:ext cx="7490103" cy="457200"/>
          </a:xfrm>
          <a:prstGeom prst="rect">
            <a:avLst/>
          </a:prstGeom>
        </p:spPr>
        <p:txBody>
          <a:bodyPr anchor="t" rtlCol="false" tIns="0" lIns="0" bIns="0" rIns="0">
            <a:spAutoFit/>
          </a:bodyPr>
          <a:lstStyle/>
          <a:p>
            <a:pPr algn="l">
              <a:lnSpc>
                <a:spcPts val="3644"/>
              </a:lnSpc>
            </a:pPr>
            <a:r>
              <a:rPr lang="en-US" sz="3037" b="true">
                <a:solidFill>
                  <a:srgbClr val="FFFFFF"/>
                </a:solidFill>
                <a:latin typeface="Montserrat Bold"/>
                <a:ea typeface="Montserrat Bold"/>
                <a:cs typeface="Montserrat Bold"/>
                <a:sym typeface="Montserrat Bold"/>
              </a:rPr>
              <a:t>StrykerJS on the real EShop backend</a:t>
            </a:r>
          </a:p>
        </p:txBody>
      </p:sp>
      <p:sp>
        <p:nvSpPr>
          <p:cNvPr name="TextBox 12" id="12"/>
          <p:cNvSpPr txBox="true"/>
          <p:nvPr/>
        </p:nvSpPr>
        <p:spPr>
          <a:xfrm rot="0">
            <a:off x="914400" y="3171825"/>
            <a:ext cx="12187238" cy="1428750"/>
          </a:xfrm>
          <a:prstGeom prst="rect">
            <a:avLst/>
          </a:prstGeom>
        </p:spPr>
        <p:txBody>
          <a:bodyPr anchor="t" rtlCol="false" tIns="0" lIns="0" bIns="0" rIns="0">
            <a:spAutoFit/>
          </a:bodyPr>
          <a:lstStyle/>
          <a:p>
            <a:pPr algn="l">
              <a:lnSpc>
                <a:spcPts val="3779"/>
              </a:lnSpc>
            </a:pPr>
            <a:r>
              <a:rPr lang="en-US" sz="3150">
                <a:solidFill>
                  <a:srgbClr val="000000"/>
                </a:solidFill>
                <a:latin typeface="Montserrat"/>
                <a:ea typeface="Montserrat"/>
                <a:cs typeface="Montserrat"/>
                <a:sym typeface="Montserrat"/>
              </a:rPr>
              <a:t>1. Run the passing baseline and open the mutation report</a:t>
            </a:r>
          </a:p>
          <a:p>
            <a:pPr algn="l">
              <a:lnSpc>
                <a:spcPts val="3779"/>
              </a:lnSpc>
            </a:pPr>
            <a:r>
              <a:rPr lang="en-US" sz="3150">
                <a:solidFill>
                  <a:srgbClr val="000000"/>
                </a:solidFill>
                <a:latin typeface="Montserrat"/>
                <a:ea typeface="Montserrat"/>
                <a:cs typeface="Montserrat"/>
                <a:sym typeface="Montserrat"/>
              </a:rPr>
              <a:t>2. Inspect line 474: input 1 leaves the mutant Survived</a:t>
            </a:r>
          </a:p>
          <a:p>
            <a:pPr algn="l">
              <a:lnSpc>
                <a:spcPts val="3779"/>
              </a:lnSpc>
            </a:pPr>
            <a:r>
              <a:rPr lang="en-US" sz="3150">
                <a:solidFill>
                  <a:srgbClr val="000000"/>
                </a:solidFill>
                <a:latin typeface="Montserrat"/>
                <a:ea typeface="Montserrat"/>
                <a:cs typeface="Montserrat"/>
                <a:sym typeface="Montserrat"/>
              </a:rPr>
              <a:t>3. Add input 3 and verify the stored value on original code</a:t>
            </a:r>
          </a:p>
        </p:txBody>
      </p:sp>
      <p:grpSp>
        <p:nvGrpSpPr>
          <p:cNvPr name="Group 13" id="13"/>
          <p:cNvGrpSpPr/>
          <p:nvPr/>
        </p:nvGrpSpPr>
        <p:grpSpPr>
          <a:xfrm rot="0">
            <a:off x="685800" y="5600700"/>
            <a:ext cx="12715875" cy="657225"/>
            <a:chOff x="0" y="0"/>
            <a:chExt cx="16954500" cy="876300"/>
          </a:xfrm>
        </p:grpSpPr>
        <p:sp>
          <p:nvSpPr>
            <p:cNvPr name="Freeform 14" id="14"/>
            <p:cNvSpPr/>
            <p:nvPr/>
          </p:nvSpPr>
          <p:spPr>
            <a:xfrm flipH="false" flipV="false" rot="0">
              <a:off x="0" y="0"/>
              <a:ext cx="16954500" cy="876300"/>
            </a:xfrm>
            <a:custGeom>
              <a:avLst/>
              <a:gdLst/>
              <a:ahLst/>
              <a:cxnLst/>
              <a:rect r="r" b="b" t="t" l="l"/>
              <a:pathLst>
                <a:path h="876300" w="16954500">
                  <a:moveTo>
                    <a:pt x="0" y="0"/>
                  </a:moveTo>
                  <a:lnTo>
                    <a:pt x="16954500" y="0"/>
                  </a:lnTo>
                  <a:lnTo>
                    <a:pt x="16954500" y="876300"/>
                  </a:lnTo>
                  <a:lnTo>
                    <a:pt x="0" y="876300"/>
                  </a:lnTo>
                  <a:close/>
                </a:path>
              </a:pathLst>
            </a:custGeom>
            <a:solidFill>
              <a:srgbClr val="C00000"/>
            </a:solidFill>
          </p:spPr>
        </p:sp>
      </p:grpSp>
      <p:sp>
        <p:nvSpPr>
          <p:cNvPr name="TextBox 15" id="15"/>
          <p:cNvSpPr txBox="true"/>
          <p:nvPr/>
        </p:nvSpPr>
        <p:spPr>
          <a:xfrm rot="0">
            <a:off x="885825" y="5700712"/>
            <a:ext cx="7136368" cy="457200"/>
          </a:xfrm>
          <a:prstGeom prst="rect">
            <a:avLst/>
          </a:prstGeom>
        </p:spPr>
        <p:txBody>
          <a:bodyPr anchor="t" rtlCol="false" tIns="0" lIns="0" bIns="0" rIns="0">
            <a:spAutoFit/>
          </a:bodyPr>
          <a:lstStyle/>
          <a:p>
            <a:pPr algn="l">
              <a:lnSpc>
                <a:spcPts val="3644"/>
              </a:lnSpc>
            </a:pPr>
            <a:r>
              <a:rPr lang="en-US" sz="3037" b="true">
                <a:solidFill>
                  <a:srgbClr val="FFFFFF"/>
                </a:solidFill>
                <a:latin typeface="Montserrat Bold"/>
                <a:ea typeface="Montserrat Bold"/>
                <a:cs typeface="Montserrat Bold"/>
                <a:sym typeface="Montserrat Bold"/>
              </a:rPr>
              <a:t>AI candidate, review and execution</a:t>
            </a:r>
          </a:p>
        </p:txBody>
      </p:sp>
      <p:sp>
        <p:nvSpPr>
          <p:cNvPr name="TextBox 16" id="16"/>
          <p:cNvSpPr txBox="true"/>
          <p:nvPr/>
        </p:nvSpPr>
        <p:spPr>
          <a:xfrm rot="0">
            <a:off x="914400" y="6529388"/>
            <a:ext cx="12187238" cy="1428750"/>
          </a:xfrm>
          <a:prstGeom prst="rect">
            <a:avLst/>
          </a:prstGeom>
        </p:spPr>
        <p:txBody>
          <a:bodyPr anchor="t" rtlCol="false" tIns="0" lIns="0" bIns="0" rIns="0">
            <a:spAutoFit/>
          </a:bodyPr>
          <a:lstStyle/>
          <a:p>
            <a:pPr algn="l">
              <a:lnSpc>
                <a:spcPts val="3779"/>
              </a:lnSpc>
            </a:pPr>
            <a:r>
              <a:rPr lang="en-US" sz="3150">
                <a:solidFill>
                  <a:srgbClr val="000000"/>
                </a:solidFill>
                <a:latin typeface="Montserrat"/>
                <a:ea typeface="Montserrat"/>
                <a:cs typeface="Montserrat"/>
                <a:sym typeface="Montserrat"/>
              </a:rPr>
              <a:t>4. Inspect the recorded prompt and Codex candidate</a:t>
            </a:r>
          </a:p>
          <a:p>
            <a:pPr algn="l">
              <a:lnSpc>
                <a:spcPts val="3779"/>
              </a:lnSpc>
            </a:pPr>
            <a:r>
              <a:rPr lang="en-US" sz="3150">
                <a:solidFill>
                  <a:srgbClr val="000000"/>
                </a:solidFill>
                <a:latin typeface="Montserrat"/>
                <a:ea typeface="Montserrat"/>
                <a:cs typeface="Montserrat"/>
                <a:sym typeface="Montserrat"/>
              </a:rPr>
              <a:t>5. Check the rule and fixture, then run the AI test collection</a:t>
            </a:r>
          </a:p>
          <a:p>
            <a:pPr algn="l">
              <a:lnSpc>
                <a:spcPts val="3779"/>
              </a:lnSpc>
            </a:pPr>
            <a:r>
              <a:rPr lang="en-US" sz="3150">
                <a:solidFill>
                  <a:srgbClr val="000000"/>
                </a:solidFill>
                <a:latin typeface="Montserrat"/>
                <a:ea typeface="Montserrat"/>
                <a:cs typeface="Montserrat"/>
                <a:sym typeface="Montserrat"/>
              </a:rPr>
              <a:t>6. Match the same mutant and inspect its detecting test</a:t>
            </a:r>
          </a:p>
        </p:txBody>
      </p:sp>
      <p:grpSp>
        <p:nvGrpSpPr>
          <p:cNvPr name="Group 17" id="17"/>
          <p:cNvGrpSpPr/>
          <p:nvPr/>
        </p:nvGrpSpPr>
        <p:grpSpPr>
          <a:xfrm rot="0">
            <a:off x="13958888" y="2714625"/>
            <a:ext cx="3200400" cy="4114800"/>
            <a:chOff x="0" y="0"/>
            <a:chExt cx="4267200" cy="5486400"/>
          </a:xfrm>
        </p:grpSpPr>
        <p:sp>
          <p:nvSpPr>
            <p:cNvPr name="Freeform 18" id="18"/>
            <p:cNvSpPr/>
            <p:nvPr/>
          </p:nvSpPr>
          <p:spPr>
            <a:xfrm flipH="false" flipV="false" rot="0">
              <a:off x="0" y="0"/>
              <a:ext cx="4267200" cy="5486400"/>
            </a:xfrm>
            <a:custGeom>
              <a:avLst/>
              <a:gdLst/>
              <a:ahLst/>
              <a:cxnLst/>
              <a:rect r="r" b="b" t="t" l="l"/>
              <a:pathLst>
                <a:path h="5486400" w="4267200">
                  <a:moveTo>
                    <a:pt x="0" y="0"/>
                  </a:moveTo>
                  <a:lnTo>
                    <a:pt x="4267200" y="0"/>
                  </a:lnTo>
                  <a:lnTo>
                    <a:pt x="4267200" y="5486400"/>
                  </a:lnTo>
                  <a:lnTo>
                    <a:pt x="0" y="5486400"/>
                  </a:lnTo>
                  <a:lnTo>
                    <a:pt x="0" y="0"/>
                  </a:lnTo>
                  <a:close/>
                </a:path>
              </a:pathLst>
            </a:custGeom>
            <a:blipFill>
              <a:blip r:embed="rId3"/>
              <a:stretch>
                <a:fillRect l="0" t="0" r="0" b="0"/>
              </a:stretch>
            </a:blipFill>
          </p:spPr>
        </p:sp>
      </p:grpSp>
    </p:spTree>
  </p:cSld>
  <p:clrMapOvr>
    <a:masterClrMapping/>
  </p:clrMapOvr>
</p:sld>
</file>

<file path=ppt/slides/slide1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7543" cy="246888"/>
            <a:chOff x="0" y="0"/>
            <a:chExt cx="24383390" cy="329184"/>
          </a:xfrm>
        </p:grpSpPr>
        <p:sp>
          <p:nvSpPr>
            <p:cNvPr name="Freeform 3" id="3"/>
            <p:cNvSpPr/>
            <p:nvPr/>
          </p:nvSpPr>
          <p:spPr>
            <a:xfrm flipH="false" flipV="false" rot="0">
              <a:off x="0" y="0"/>
              <a:ext cx="24383364" cy="329184"/>
            </a:xfrm>
            <a:custGeom>
              <a:avLst/>
              <a:gdLst/>
              <a:ahLst/>
              <a:cxnLst/>
              <a:rect r="r" b="b" t="t" l="l"/>
              <a:pathLst>
                <a:path h="329184" w="24383364">
                  <a:moveTo>
                    <a:pt x="0" y="0"/>
                  </a:moveTo>
                  <a:lnTo>
                    <a:pt x="24383364" y="0"/>
                  </a:lnTo>
                  <a:lnTo>
                    <a:pt x="24383364" y="329184"/>
                  </a:lnTo>
                  <a:lnTo>
                    <a:pt x="0" y="329184"/>
                  </a:lnTo>
                  <a:close/>
                </a:path>
              </a:pathLst>
            </a:custGeom>
            <a:solidFill>
              <a:srgbClr val="1F4E79"/>
            </a:solidFill>
          </p:spPr>
        </p:sp>
      </p:grpSp>
      <p:sp>
        <p:nvSpPr>
          <p:cNvPr name="TextBox 4" id="4"/>
          <p:cNvSpPr txBox="true"/>
          <p:nvPr/>
        </p:nvSpPr>
        <p:spPr>
          <a:xfrm rot="0">
            <a:off x="548640" y="301752"/>
            <a:ext cx="7910512" cy="266700"/>
          </a:xfrm>
          <a:prstGeom prst="rect">
            <a:avLst/>
          </a:prstGeom>
        </p:spPr>
        <p:txBody>
          <a:bodyPr anchor="t" rtlCol="false" tIns="0" lIns="0" bIns="0" rIns="0">
            <a:spAutoFit/>
          </a:bodyPr>
          <a:lstStyle/>
          <a:p>
            <a:pPr algn="l">
              <a:lnSpc>
                <a:spcPts val="2160"/>
              </a:lnSpc>
            </a:pPr>
            <a:r>
              <a:rPr lang="en-US" b="true" sz="1800">
                <a:solidFill>
                  <a:srgbClr val="000000"/>
                </a:solidFill>
                <a:latin typeface="Montserrat Bold"/>
                <a:ea typeface="Montserrat Bold"/>
                <a:cs typeface="Montserrat Bold"/>
                <a:sym typeface="Montserrat Bold"/>
              </a:rPr>
              <a:t>2026 AI-First - Seminar T10 - Mutation Testing &amp; Test Effectiveness</a:t>
            </a:r>
          </a:p>
        </p:txBody>
      </p:sp>
      <p:sp>
        <p:nvSpPr>
          <p:cNvPr name="TextBox 5" id="5"/>
          <p:cNvSpPr txBox="true"/>
          <p:nvPr/>
        </p:nvSpPr>
        <p:spPr>
          <a:xfrm rot="0">
            <a:off x="548640" y="822960"/>
            <a:ext cx="17282160" cy="752475"/>
          </a:xfrm>
          <a:prstGeom prst="rect">
            <a:avLst/>
          </a:prstGeom>
        </p:spPr>
        <p:txBody>
          <a:bodyPr anchor="t" rtlCol="false" tIns="0" lIns="0" bIns="0" rIns="0">
            <a:spAutoFit/>
          </a:bodyPr>
          <a:lstStyle/>
          <a:p>
            <a:pPr algn="l">
              <a:lnSpc>
                <a:spcPts val="5940"/>
              </a:lnSpc>
            </a:pPr>
            <a:r>
              <a:rPr lang="en-US" b="true" sz="4950">
                <a:solidFill>
                  <a:srgbClr val="000000"/>
                </a:solidFill>
                <a:latin typeface="Montserrat Bold"/>
                <a:ea typeface="Montserrat Bold"/>
                <a:cs typeface="Montserrat Bold"/>
                <a:sym typeface="Montserrat Bold"/>
              </a:rPr>
              <a:t>Activity: Kill the Mutant</a:t>
            </a:r>
          </a:p>
        </p:txBody>
      </p:sp>
      <p:grpSp>
        <p:nvGrpSpPr>
          <p:cNvPr name="Group 6" id="6"/>
          <p:cNvGrpSpPr/>
          <p:nvPr/>
        </p:nvGrpSpPr>
        <p:grpSpPr>
          <a:xfrm rot="0">
            <a:off x="0" y="9848088"/>
            <a:ext cx="18287543" cy="438912"/>
            <a:chOff x="0" y="0"/>
            <a:chExt cx="24383390" cy="585216"/>
          </a:xfrm>
        </p:grpSpPr>
        <p:sp>
          <p:nvSpPr>
            <p:cNvPr name="Freeform 7" id="7"/>
            <p:cNvSpPr/>
            <p:nvPr/>
          </p:nvSpPr>
          <p:spPr>
            <a:xfrm flipH="false" flipV="false" rot="0">
              <a:off x="0" y="0"/>
              <a:ext cx="24383364" cy="585216"/>
            </a:xfrm>
            <a:custGeom>
              <a:avLst/>
              <a:gdLst/>
              <a:ahLst/>
              <a:cxnLst/>
              <a:rect r="r" b="b" t="t" l="l"/>
              <a:pathLst>
                <a:path h="585216" w="24383364">
                  <a:moveTo>
                    <a:pt x="0" y="0"/>
                  </a:moveTo>
                  <a:lnTo>
                    <a:pt x="24383364" y="0"/>
                  </a:lnTo>
                  <a:lnTo>
                    <a:pt x="24383364" y="585216"/>
                  </a:lnTo>
                  <a:lnTo>
                    <a:pt x="0" y="585216"/>
                  </a:lnTo>
                  <a:close/>
                </a:path>
              </a:pathLst>
            </a:custGeom>
            <a:solidFill>
              <a:srgbClr val="1F4E79"/>
            </a:solidFill>
          </p:spPr>
        </p:sp>
      </p:grpSp>
      <p:sp>
        <p:nvSpPr>
          <p:cNvPr name="TextBox 8" id="8"/>
          <p:cNvSpPr txBox="true"/>
          <p:nvPr/>
        </p:nvSpPr>
        <p:spPr>
          <a:xfrm rot="0">
            <a:off x="548640" y="9938956"/>
            <a:ext cx="3066336" cy="257175"/>
          </a:xfrm>
          <a:prstGeom prst="rect">
            <a:avLst/>
          </a:prstGeom>
        </p:spPr>
        <p:txBody>
          <a:bodyPr anchor="t" rtlCol="false" tIns="0" lIns="0" bIns="0" rIns="0">
            <a:spAutoFit/>
          </a:bodyPr>
          <a:lstStyle/>
          <a:p>
            <a:pPr algn="l">
              <a:lnSpc>
                <a:spcPts val="2025"/>
              </a:lnSpc>
            </a:pPr>
            <a:r>
              <a:rPr lang="en-US" sz="1687" b="true">
                <a:solidFill>
                  <a:srgbClr val="FFFFFF"/>
                </a:solidFill>
                <a:latin typeface="Montserrat Bold"/>
                <a:ea typeface="Montserrat Bold"/>
                <a:cs typeface="Montserrat Bold"/>
                <a:sym typeface="Montserrat Bold"/>
              </a:rPr>
              <a:t>13 / 15 - Five target mutants</a:t>
            </a:r>
          </a:p>
        </p:txBody>
      </p:sp>
      <p:sp>
        <p:nvSpPr>
          <p:cNvPr name="TextBox 9" id="9"/>
          <p:cNvSpPr txBox="true"/>
          <p:nvPr/>
        </p:nvSpPr>
        <p:spPr>
          <a:xfrm rot="0">
            <a:off x="685800" y="2157412"/>
            <a:ext cx="16916400" cy="990600"/>
          </a:xfrm>
          <a:prstGeom prst="rect">
            <a:avLst/>
          </a:prstGeom>
        </p:spPr>
        <p:txBody>
          <a:bodyPr anchor="t" rtlCol="false" tIns="0" lIns="0" bIns="0" rIns="0">
            <a:spAutoFit/>
          </a:bodyPr>
          <a:lstStyle/>
          <a:p>
            <a:pPr algn="l">
              <a:lnSpc>
                <a:spcPts val="3915"/>
              </a:lnSpc>
            </a:pPr>
            <a:r>
              <a:rPr lang="en-US" sz="3262">
                <a:solidFill>
                  <a:srgbClr val="000000"/>
                </a:solidFill>
                <a:latin typeface="Montserrat"/>
                <a:ea typeface="Montserrat"/>
                <a:cs typeface="Montserrat"/>
                <a:sym typeface="Montserrat"/>
              </a:rPr>
              <a:t>Teams of 3-4. Write one candidate assertion per case.</a:t>
            </a:r>
          </a:p>
          <a:p>
            <a:pPr algn="l">
              <a:lnSpc>
                <a:spcPts val="3915"/>
              </a:lnSpc>
            </a:pPr>
            <a:r>
              <a:rPr lang="en-US" sz="3262">
                <a:solidFill>
                  <a:srgbClr val="000000"/>
                </a:solidFill>
                <a:latin typeface="Montserrat"/>
                <a:ea typeface="Montserrat"/>
                <a:cs typeface="Montserrat"/>
                <a:sym typeface="Montserrat"/>
              </a:rPr>
              <a:t>Use the supplied worksheet and fixtures. Jest or clear pseudocode is acceptable.</a:t>
            </a:r>
          </a:p>
        </p:txBody>
      </p:sp>
      <p:graphicFrame>
        <p:nvGraphicFramePr>
          <p:cNvPr name="Table 10" id="10"/>
          <p:cNvGraphicFramePr>
            <a:graphicFrameLocks noGrp="true"/>
          </p:cNvGraphicFramePr>
          <p:nvPr/>
        </p:nvGraphicFramePr>
        <p:xfrm>
          <a:off x="685800" y="3757612"/>
          <a:ext cx="16878300" cy="4686300"/>
        </p:xfrm>
        <a:graphic>
          <a:graphicData uri="http://schemas.openxmlformats.org/drawingml/2006/table">
            <a:tbl>
              <a:tblPr/>
              <a:tblGrid>
                <a:gridCol w="1608801"/>
                <a:gridCol w="7747648"/>
                <a:gridCol w="7521851"/>
              </a:tblGrid>
              <a:tr h="781050">
                <a:tc>
                  <a:txBody>
                    <a:bodyPr anchor="t" rtlCol="false"/>
                    <a:lstStyle/>
                    <a:p>
                      <a:pPr algn="l">
                        <a:lnSpc>
                          <a:spcPts val="3375"/>
                        </a:lnSpc>
                        <a:defRPr/>
                      </a:pPr>
                      <a:r>
                        <a:rPr lang="en-US" sz="2812" b="true">
                          <a:solidFill>
                            <a:srgbClr val="FFFFFF"/>
                          </a:solidFill>
                          <a:latin typeface="Montserrat Bold"/>
                          <a:ea typeface="Montserrat Bold"/>
                          <a:cs typeface="Montserrat Bold"/>
                          <a:sym typeface="Montserrat Bold"/>
                        </a:rPr>
                        <a:t>Case</a:t>
                      </a:r>
                      <a:endParaRPr lang="en-US" sz="1100"/>
                    </a:p>
                  </a:txBody>
                  <a:tcPr marL="91440" marR="91440" marT="91440" marB="9144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1F4E79"/>
                    </a:solidFill>
                  </a:tcPr>
                </a:tc>
                <a:tc>
                  <a:txBody>
                    <a:bodyPr anchor="t" rtlCol="false"/>
                    <a:lstStyle/>
                    <a:p>
                      <a:pPr algn="ctr">
                        <a:lnSpc>
                          <a:spcPts val="3375"/>
                        </a:lnSpc>
                        <a:defRPr/>
                      </a:pPr>
                      <a:r>
                        <a:rPr lang="en-US" sz="2812" b="true">
                          <a:solidFill>
                            <a:srgbClr val="FFFFFF"/>
                          </a:solidFill>
                          <a:latin typeface="Montserrat Bold"/>
                          <a:ea typeface="Montserrat Bold"/>
                          <a:cs typeface="Montserrat Bold"/>
                          <a:sym typeface="Montserrat Bold"/>
                        </a:rPr>
                        <a:t>Mutant change</a:t>
                      </a:r>
                      <a:endParaRPr lang="en-US" sz="1100"/>
                    </a:p>
                  </a:txBody>
                  <a:tcPr marL="91440" marR="91440" marT="91440" marB="9144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1F4E79"/>
                    </a:solidFill>
                  </a:tcPr>
                </a:tc>
                <a:tc>
                  <a:txBody>
                    <a:bodyPr anchor="t" rtlCol="false"/>
                    <a:lstStyle/>
                    <a:p>
                      <a:pPr algn="ctr">
                        <a:lnSpc>
                          <a:spcPts val="3375"/>
                        </a:lnSpc>
                        <a:defRPr/>
                      </a:pPr>
                      <a:r>
                        <a:rPr lang="en-US" sz="2812" b="true">
                          <a:solidFill>
                            <a:srgbClr val="FFFFFF"/>
                          </a:solidFill>
                          <a:latin typeface="Montserrat Bold"/>
                          <a:ea typeface="Montserrat Bold"/>
                          <a:cs typeface="Montserrat Bold"/>
                          <a:sym typeface="Montserrat Bold"/>
                        </a:rPr>
                        <a:t>Rule to protect</a:t>
                      </a:r>
                      <a:endParaRPr lang="en-US" sz="1100"/>
                    </a:p>
                  </a:txBody>
                  <a:tcPr marL="91440" marR="91440" marT="91440" marB="9144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1F4E79"/>
                    </a:solidFill>
                  </a:tcPr>
                </a:tc>
              </a:tr>
              <a:tr h="781050">
                <a:tc>
                  <a:txBody>
                    <a:bodyPr anchor="t" rtlCol="false"/>
                    <a:lstStyle/>
                    <a:p>
                      <a:pPr algn="l">
                        <a:lnSpc>
                          <a:spcPts val="3375"/>
                        </a:lnSpc>
                        <a:defRPr/>
                      </a:pPr>
                      <a:r>
                        <a:rPr lang="en-US" sz="2812">
                          <a:solidFill>
                            <a:srgbClr val="000000"/>
                          </a:solidFill>
                          <a:latin typeface="Montserrat"/>
                          <a:ea typeface="Montserrat"/>
                          <a:cs typeface="Montserrat"/>
                          <a:sym typeface="Montserrat"/>
                        </a:rPr>
                        <a:t>K1</a:t>
                      </a:r>
                      <a:endParaRPr lang="en-US" sz="1100"/>
                    </a:p>
                  </a:txBody>
                  <a:tcPr marL="91440" marR="91440" marT="91440" marB="9144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DAE3F3"/>
                    </a:solidFill>
                  </a:tcPr>
                </a:tc>
                <a:tc>
                  <a:txBody>
                    <a:bodyPr anchor="t" rtlCol="false"/>
                    <a:lstStyle/>
                    <a:p>
                      <a:pPr algn="ctr">
                        <a:lnSpc>
                          <a:spcPts val="3375"/>
                        </a:lnSpc>
                        <a:defRPr/>
                      </a:pPr>
                      <a:r>
                        <a:rPr lang="en-US" sz="2812">
                          <a:solidFill>
                            <a:srgbClr val="000000"/>
                          </a:solidFill>
                          <a:latin typeface="Montserrat"/>
                          <a:ea typeface="Montserrat"/>
                          <a:cs typeface="Montserrat"/>
                          <a:sym typeface="Montserrat"/>
                        </a:rPr>
                        <a:t>New cart contains an extra item</a:t>
                      </a:r>
                      <a:endParaRPr lang="en-US" sz="1100"/>
                    </a:p>
                  </a:txBody>
                  <a:tcPr marL="91440" marR="91440" marT="91440" marB="9144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DAE3F3"/>
                    </a:solidFill>
                  </a:tcPr>
                </a:tc>
                <a:tc>
                  <a:txBody>
                    <a:bodyPr anchor="t" rtlCol="false"/>
                    <a:lstStyle/>
                    <a:p>
                      <a:pPr algn="ctr">
                        <a:lnSpc>
                          <a:spcPts val="3375"/>
                        </a:lnSpc>
                        <a:defRPr/>
                      </a:pPr>
                      <a:r>
                        <a:rPr lang="en-US" sz="2812">
                          <a:solidFill>
                            <a:srgbClr val="000000"/>
                          </a:solidFill>
                          <a:latin typeface="Montserrat"/>
                          <a:ea typeface="Montserrat"/>
                          <a:cs typeface="Montserrat"/>
                          <a:sym typeface="Montserrat"/>
                        </a:rPr>
                        <a:t>A new cart is empty</a:t>
                      </a:r>
                      <a:endParaRPr lang="en-US" sz="1100"/>
                    </a:p>
                  </a:txBody>
                  <a:tcPr marL="91440" marR="91440" marT="91440" marB="9144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DAE3F3"/>
                    </a:solidFill>
                  </a:tcPr>
                </a:tc>
              </a:tr>
              <a:tr h="781050">
                <a:tc>
                  <a:txBody>
                    <a:bodyPr anchor="t" rtlCol="false"/>
                    <a:lstStyle/>
                    <a:p>
                      <a:pPr algn="l">
                        <a:lnSpc>
                          <a:spcPts val="3375"/>
                        </a:lnSpc>
                        <a:defRPr/>
                      </a:pPr>
                      <a:r>
                        <a:rPr lang="en-US" sz="2812">
                          <a:solidFill>
                            <a:srgbClr val="000000"/>
                          </a:solidFill>
                          <a:latin typeface="Montserrat"/>
                          <a:ea typeface="Montserrat"/>
                          <a:cs typeface="Montserrat"/>
                          <a:sym typeface="Montserrat"/>
                        </a:rPr>
                        <a:t>K2</a:t>
                      </a:r>
                      <a:endParaRPr lang="en-US" sz="1100"/>
                    </a:p>
                  </a:txBody>
                  <a:tcPr marL="91440" marR="91440" marT="91440" marB="9144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F2F2F2"/>
                    </a:solidFill>
                  </a:tcPr>
                </a:tc>
                <a:tc>
                  <a:txBody>
                    <a:bodyPr anchor="t" rtlCol="false"/>
                    <a:lstStyle/>
                    <a:p>
                      <a:pPr algn="ctr">
                        <a:lnSpc>
                          <a:spcPts val="3375"/>
                        </a:lnSpc>
                        <a:defRPr/>
                      </a:pPr>
                      <a:r>
                        <a:rPr lang="en-US" sz="2812">
                          <a:solidFill>
                            <a:srgbClr val="000000"/>
                          </a:solidFill>
                          <a:latin typeface="Montserrat"/>
                          <a:ea typeface="Montserrat"/>
                          <a:cs typeface="Montserrat"/>
                          <a:sym typeface="Montserrat"/>
                        </a:rPr>
                        <a:t>Remove the push operation</a:t>
                      </a:r>
                      <a:endParaRPr lang="en-US" sz="1100"/>
                    </a:p>
                  </a:txBody>
                  <a:tcPr marL="91440" marR="91440" marT="91440" marB="9144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F2F2F2"/>
                    </a:solidFill>
                  </a:tcPr>
                </a:tc>
                <a:tc>
                  <a:txBody>
                    <a:bodyPr anchor="t" rtlCol="false"/>
                    <a:lstStyle/>
                    <a:p>
                      <a:pPr algn="ctr">
                        <a:lnSpc>
                          <a:spcPts val="3375"/>
                        </a:lnSpc>
                        <a:defRPr/>
                      </a:pPr>
                      <a:r>
                        <a:rPr lang="en-US" sz="2812">
                          <a:solidFill>
                            <a:srgbClr val="000000"/>
                          </a:solidFill>
                          <a:latin typeface="Montserrat"/>
                          <a:ea typeface="Montserrat"/>
                          <a:cs typeface="Montserrat"/>
                          <a:sym typeface="Montserrat"/>
                        </a:rPr>
                        <a:t>Added items persist</a:t>
                      </a:r>
                      <a:endParaRPr lang="en-US" sz="1100"/>
                    </a:p>
                  </a:txBody>
                  <a:tcPr marL="91440" marR="91440" marT="91440" marB="9144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F2F2F2"/>
                    </a:solidFill>
                  </a:tcPr>
                </a:tc>
              </a:tr>
              <a:tr h="781050">
                <a:tc>
                  <a:txBody>
                    <a:bodyPr anchor="t" rtlCol="false"/>
                    <a:lstStyle/>
                    <a:p>
                      <a:pPr algn="l">
                        <a:lnSpc>
                          <a:spcPts val="3375"/>
                        </a:lnSpc>
                        <a:defRPr/>
                      </a:pPr>
                      <a:r>
                        <a:rPr lang="en-US" sz="2812">
                          <a:solidFill>
                            <a:srgbClr val="000000"/>
                          </a:solidFill>
                          <a:latin typeface="Montserrat"/>
                          <a:ea typeface="Montserrat"/>
                          <a:cs typeface="Montserrat"/>
                          <a:sym typeface="Montserrat"/>
                        </a:rPr>
                        <a:t>K3</a:t>
                      </a:r>
                      <a:endParaRPr lang="en-US" sz="1100"/>
                    </a:p>
                  </a:txBody>
                  <a:tcPr marL="91440" marR="91440" marT="91440" marB="9144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DAE3F3"/>
                    </a:solidFill>
                  </a:tcPr>
                </a:tc>
                <a:tc>
                  <a:txBody>
                    <a:bodyPr anchor="t" rtlCol="false"/>
                    <a:lstStyle/>
                    <a:p>
                      <a:pPr algn="ctr">
                        <a:lnSpc>
                          <a:spcPts val="3375"/>
                        </a:lnSpc>
                        <a:defRPr/>
                      </a:pPr>
                      <a:r>
                        <a:rPr lang="en-US" sz="2812">
                          <a:solidFill>
                            <a:srgbClr val="000000"/>
                          </a:solidFill>
                          <a:latin typeface="Montserrat"/>
                          <a:ea typeface="Montserrat"/>
                          <a:cs typeface="Montserrat"/>
                          <a:sym typeface="Montserrat"/>
                        </a:rPr>
                        <a:t>Reset cart on every read</a:t>
                      </a:r>
                      <a:endParaRPr lang="en-US" sz="1100"/>
                    </a:p>
                  </a:txBody>
                  <a:tcPr marL="91440" marR="91440" marT="91440" marB="9144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DAE3F3"/>
                    </a:solidFill>
                  </a:tcPr>
                </a:tc>
                <a:tc>
                  <a:txBody>
                    <a:bodyPr anchor="t" rtlCol="false"/>
                    <a:lstStyle/>
                    <a:p>
                      <a:pPr algn="ctr">
                        <a:lnSpc>
                          <a:spcPts val="3375"/>
                        </a:lnSpc>
                        <a:defRPr/>
                      </a:pPr>
                      <a:r>
                        <a:rPr lang="en-US" sz="2812">
                          <a:solidFill>
                            <a:srgbClr val="000000"/>
                          </a:solidFill>
                          <a:latin typeface="Montserrat"/>
                          <a:ea typeface="Montserrat"/>
                          <a:cs typeface="Montserrat"/>
                          <a:sym typeface="Montserrat"/>
                        </a:rPr>
                        <a:t>Reading keeps cart data</a:t>
                      </a:r>
                      <a:endParaRPr lang="en-US" sz="1100"/>
                    </a:p>
                  </a:txBody>
                  <a:tcPr marL="91440" marR="91440" marT="91440" marB="9144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DAE3F3"/>
                    </a:solidFill>
                  </a:tcPr>
                </a:tc>
              </a:tr>
              <a:tr h="781050">
                <a:tc>
                  <a:txBody>
                    <a:bodyPr anchor="t" rtlCol="false"/>
                    <a:lstStyle/>
                    <a:p>
                      <a:pPr algn="l">
                        <a:lnSpc>
                          <a:spcPts val="3375"/>
                        </a:lnSpc>
                        <a:defRPr/>
                      </a:pPr>
                      <a:r>
                        <a:rPr lang="en-US" sz="2812">
                          <a:solidFill>
                            <a:srgbClr val="000000"/>
                          </a:solidFill>
                          <a:latin typeface="Montserrat"/>
                          <a:ea typeface="Montserrat"/>
                          <a:cs typeface="Montserrat"/>
                          <a:sym typeface="Montserrat"/>
                        </a:rPr>
                        <a:t>K4</a:t>
                      </a:r>
                      <a:endParaRPr lang="en-US" sz="1100"/>
                    </a:p>
                  </a:txBody>
                  <a:tcPr marL="91440" marR="91440" marT="91440" marB="9144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F2F2F2"/>
                    </a:solidFill>
                  </a:tcPr>
                </a:tc>
                <a:tc>
                  <a:txBody>
                    <a:bodyPr anchor="t" rtlCol="false"/>
                    <a:lstStyle/>
                    <a:p>
                      <a:pPr algn="ctr">
                        <a:lnSpc>
                          <a:spcPts val="3375"/>
                        </a:lnSpc>
                        <a:defRPr/>
                      </a:pPr>
                      <a:r>
                        <a:rPr lang="en-US" sz="2812">
                          <a:solidFill>
                            <a:srgbClr val="000000"/>
                          </a:solidFill>
                          <a:latin typeface="Montserrat"/>
                          <a:ea typeface="Montserrat"/>
                          <a:cs typeface="Montserrat"/>
                          <a:sym typeface="Montserrat"/>
                        </a:rPr>
                        <a:t>Remove the order-query parameter</a:t>
                      </a:r>
                      <a:endParaRPr lang="en-US" sz="1100"/>
                    </a:p>
                  </a:txBody>
                  <a:tcPr marL="91440" marR="91440" marT="91440" marB="9144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F2F2F2"/>
                    </a:solidFill>
                  </a:tcPr>
                </a:tc>
                <a:tc>
                  <a:txBody>
                    <a:bodyPr anchor="t" rtlCol="false"/>
                    <a:lstStyle/>
                    <a:p>
                      <a:pPr algn="ctr">
                        <a:lnSpc>
                          <a:spcPts val="3375"/>
                        </a:lnSpc>
                        <a:defRPr/>
                      </a:pPr>
                      <a:r>
                        <a:rPr lang="en-US" sz="2812">
                          <a:solidFill>
                            <a:srgbClr val="000000"/>
                          </a:solidFill>
                          <a:latin typeface="Montserrat"/>
                          <a:ea typeface="Montserrat"/>
                          <a:cs typeface="Montserrat"/>
                          <a:sym typeface="Montserrat"/>
                        </a:rPr>
                        <a:t>History includes the user's order</a:t>
                      </a:r>
                      <a:endParaRPr lang="en-US" sz="1100"/>
                    </a:p>
                  </a:txBody>
                  <a:tcPr marL="91440" marR="91440" marT="91440" marB="9144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F2F2F2"/>
                    </a:solidFill>
                  </a:tcPr>
                </a:tc>
              </a:tr>
              <a:tr h="781050">
                <a:tc>
                  <a:txBody>
                    <a:bodyPr anchor="t" rtlCol="false"/>
                    <a:lstStyle/>
                    <a:p>
                      <a:pPr algn="l">
                        <a:lnSpc>
                          <a:spcPts val="3375"/>
                        </a:lnSpc>
                        <a:defRPr/>
                      </a:pPr>
                      <a:r>
                        <a:rPr lang="en-US" sz="2812">
                          <a:solidFill>
                            <a:srgbClr val="000000"/>
                          </a:solidFill>
                          <a:latin typeface="Montserrat"/>
                          <a:ea typeface="Montserrat"/>
                          <a:cs typeface="Montserrat"/>
                          <a:sym typeface="Montserrat"/>
                        </a:rPr>
                        <a:t>K5</a:t>
                      </a:r>
                      <a:endParaRPr lang="en-US" sz="1100"/>
                    </a:p>
                  </a:txBody>
                  <a:tcPr marL="91440" marR="91440" marT="91440" marB="9144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DAE3F3"/>
                    </a:solidFill>
                  </a:tcPr>
                </a:tc>
                <a:tc>
                  <a:txBody>
                    <a:bodyPr anchor="t" rtlCol="false"/>
                    <a:lstStyle/>
                    <a:p>
                      <a:pPr algn="ctr">
                        <a:lnSpc>
                          <a:spcPts val="3375"/>
                        </a:lnSpc>
                        <a:defRPr/>
                      </a:pPr>
                      <a:r>
                        <a:rPr lang="en-US" sz="2812">
                          <a:solidFill>
                            <a:srgbClr val="000000"/>
                          </a:solidFill>
                          <a:latin typeface="Montserrat"/>
                          <a:ea typeface="Montserrat"/>
                          <a:cs typeface="Montserrat"/>
                          <a:sym typeface="Montserrat"/>
                        </a:rPr>
                        <a:t>Save an empty cancellation status</a:t>
                      </a:r>
                      <a:endParaRPr lang="en-US" sz="1100"/>
                    </a:p>
                  </a:txBody>
                  <a:tcPr marL="91440" marR="91440" marT="91440" marB="9144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DAE3F3"/>
                    </a:solidFill>
                  </a:tcPr>
                </a:tc>
                <a:tc>
                  <a:txBody>
                    <a:bodyPr anchor="t" rtlCol="false"/>
                    <a:lstStyle/>
                    <a:p>
                      <a:pPr algn="ctr">
                        <a:lnSpc>
                          <a:spcPts val="3375"/>
                        </a:lnSpc>
                        <a:defRPr/>
                      </a:pPr>
                      <a:r>
                        <a:rPr lang="en-US" sz="2812">
                          <a:solidFill>
                            <a:srgbClr val="000000"/>
                          </a:solidFill>
                          <a:latin typeface="Montserrat"/>
                          <a:ea typeface="Montserrat"/>
                          <a:cs typeface="Montserrat"/>
                          <a:sym typeface="Montserrat"/>
                        </a:rPr>
                        <a:t>Cancellation is persisted</a:t>
                      </a:r>
                      <a:endParaRPr lang="en-US" sz="1100"/>
                    </a:p>
                  </a:txBody>
                  <a:tcPr marL="91440" marR="91440" marT="91440" marB="9144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DAE3F3"/>
                    </a:solidFill>
                  </a:tcPr>
                </a:tc>
              </a:tr>
            </a:tbl>
          </a:graphicData>
        </a:graphic>
      </p:graphicFrame>
      <p:grpSp>
        <p:nvGrpSpPr>
          <p:cNvPr name="Group 11" id="11"/>
          <p:cNvGrpSpPr/>
          <p:nvPr/>
        </p:nvGrpSpPr>
        <p:grpSpPr>
          <a:xfrm rot="0">
            <a:off x="685800" y="8915400"/>
            <a:ext cx="16916400" cy="800100"/>
            <a:chOff x="0" y="0"/>
            <a:chExt cx="22555200" cy="1066800"/>
          </a:xfrm>
        </p:grpSpPr>
        <p:sp>
          <p:nvSpPr>
            <p:cNvPr name="Freeform 12" id="12"/>
            <p:cNvSpPr/>
            <p:nvPr/>
          </p:nvSpPr>
          <p:spPr>
            <a:xfrm flipH="false" flipV="false" rot="0">
              <a:off x="0" y="0"/>
              <a:ext cx="22555200" cy="1066800"/>
            </a:xfrm>
            <a:custGeom>
              <a:avLst/>
              <a:gdLst/>
              <a:ahLst/>
              <a:cxnLst/>
              <a:rect r="r" b="b" t="t" l="l"/>
              <a:pathLst>
                <a:path h="1066800" w="22555200">
                  <a:moveTo>
                    <a:pt x="0" y="0"/>
                  </a:moveTo>
                  <a:lnTo>
                    <a:pt x="22555200" y="0"/>
                  </a:lnTo>
                  <a:lnTo>
                    <a:pt x="22555200" y="1066800"/>
                  </a:lnTo>
                  <a:lnTo>
                    <a:pt x="0" y="1066800"/>
                  </a:lnTo>
                  <a:close/>
                </a:path>
              </a:pathLst>
            </a:custGeom>
            <a:solidFill>
              <a:srgbClr val="DAE3F3"/>
            </a:solidFill>
          </p:spPr>
        </p:sp>
      </p:grpSp>
      <p:sp>
        <p:nvSpPr>
          <p:cNvPr name="TextBox 13" id="13"/>
          <p:cNvSpPr txBox="true"/>
          <p:nvPr/>
        </p:nvSpPr>
        <p:spPr>
          <a:xfrm rot="0">
            <a:off x="914400" y="9110663"/>
            <a:ext cx="16430625" cy="419100"/>
          </a:xfrm>
          <a:prstGeom prst="rect">
            <a:avLst/>
          </a:prstGeom>
        </p:spPr>
        <p:txBody>
          <a:bodyPr anchor="t" rtlCol="false" tIns="0" lIns="0" bIns="0" rIns="0">
            <a:spAutoFit/>
          </a:bodyPr>
          <a:lstStyle/>
          <a:p>
            <a:pPr algn="l">
              <a:lnSpc>
                <a:spcPts val="3375"/>
              </a:lnSpc>
            </a:pPr>
            <a:r>
              <a:rPr lang="en-US" sz="2812" b="true">
                <a:solidFill>
                  <a:srgbClr val="375623"/>
                </a:solidFill>
                <a:latin typeface="Montserrat Bold"/>
                <a:ea typeface="Montserrat Bold"/>
                <a:cs typeface="Montserrat Bold"/>
                <a:sym typeface="Montserrat Bold"/>
              </a:rPr>
              <a:t>Use worksheet context: empty, cart, reread, history and canceled. No AI during scoring.</a:t>
            </a:r>
          </a:p>
        </p:txBody>
      </p:sp>
    </p:spTree>
  </p:cSld>
  <p:clrMapOvr>
    <a:masterClrMapping/>
  </p:clrMapOvr>
</p:sld>
</file>

<file path=ppt/slides/slide1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7543" cy="246888"/>
            <a:chOff x="0" y="0"/>
            <a:chExt cx="24383390" cy="329184"/>
          </a:xfrm>
        </p:grpSpPr>
        <p:sp>
          <p:nvSpPr>
            <p:cNvPr name="Freeform 3" id="3"/>
            <p:cNvSpPr/>
            <p:nvPr/>
          </p:nvSpPr>
          <p:spPr>
            <a:xfrm flipH="false" flipV="false" rot="0">
              <a:off x="0" y="0"/>
              <a:ext cx="24383364" cy="329184"/>
            </a:xfrm>
            <a:custGeom>
              <a:avLst/>
              <a:gdLst/>
              <a:ahLst/>
              <a:cxnLst/>
              <a:rect r="r" b="b" t="t" l="l"/>
              <a:pathLst>
                <a:path h="329184" w="24383364">
                  <a:moveTo>
                    <a:pt x="0" y="0"/>
                  </a:moveTo>
                  <a:lnTo>
                    <a:pt x="24383364" y="0"/>
                  </a:lnTo>
                  <a:lnTo>
                    <a:pt x="24383364" y="329184"/>
                  </a:lnTo>
                  <a:lnTo>
                    <a:pt x="0" y="329184"/>
                  </a:lnTo>
                  <a:close/>
                </a:path>
              </a:pathLst>
            </a:custGeom>
            <a:solidFill>
              <a:srgbClr val="1F4E79"/>
            </a:solidFill>
          </p:spPr>
        </p:sp>
      </p:grpSp>
      <p:sp>
        <p:nvSpPr>
          <p:cNvPr name="TextBox 4" id="4"/>
          <p:cNvSpPr txBox="true"/>
          <p:nvPr/>
        </p:nvSpPr>
        <p:spPr>
          <a:xfrm rot="0">
            <a:off x="548640" y="301752"/>
            <a:ext cx="7910512" cy="266700"/>
          </a:xfrm>
          <a:prstGeom prst="rect">
            <a:avLst/>
          </a:prstGeom>
        </p:spPr>
        <p:txBody>
          <a:bodyPr anchor="t" rtlCol="false" tIns="0" lIns="0" bIns="0" rIns="0">
            <a:spAutoFit/>
          </a:bodyPr>
          <a:lstStyle/>
          <a:p>
            <a:pPr algn="l">
              <a:lnSpc>
                <a:spcPts val="2160"/>
              </a:lnSpc>
            </a:pPr>
            <a:r>
              <a:rPr lang="en-US" b="true" sz="1800">
                <a:solidFill>
                  <a:srgbClr val="000000"/>
                </a:solidFill>
                <a:latin typeface="Montserrat Bold"/>
                <a:ea typeface="Montserrat Bold"/>
                <a:cs typeface="Montserrat Bold"/>
                <a:sym typeface="Montserrat Bold"/>
              </a:rPr>
              <a:t>2026 AI-First - Seminar T10 - Mutation Testing &amp; Test Effectiveness</a:t>
            </a:r>
          </a:p>
        </p:txBody>
      </p:sp>
      <p:sp>
        <p:nvSpPr>
          <p:cNvPr name="TextBox 5" id="5"/>
          <p:cNvSpPr txBox="true"/>
          <p:nvPr/>
        </p:nvSpPr>
        <p:spPr>
          <a:xfrm rot="0">
            <a:off x="548640" y="822960"/>
            <a:ext cx="17282160" cy="752475"/>
          </a:xfrm>
          <a:prstGeom prst="rect">
            <a:avLst/>
          </a:prstGeom>
        </p:spPr>
        <p:txBody>
          <a:bodyPr anchor="t" rtlCol="false" tIns="0" lIns="0" bIns="0" rIns="0">
            <a:spAutoFit/>
          </a:bodyPr>
          <a:lstStyle/>
          <a:p>
            <a:pPr algn="l">
              <a:lnSpc>
                <a:spcPts val="5940"/>
              </a:lnSpc>
            </a:pPr>
            <a:r>
              <a:rPr lang="en-US" b="true" sz="4950">
                <a:solidFill>
                  <a:srgbClr val="000000"/>
                </a:solidFill>
                <a:latin typeface="Montserrat Bold"/>
                <a:ea typeface="Montserrat Bold"/>
                <a:cs typeface="Montserrat Bold"/>
                <a:sym typeface="Montserrat Bold"/>
              </a:rPr>
              <a:t>Activity steps and scoring</a:t>
            </a:r>
          </a:p>
        </p:txBody>
      </p:sp>
      <p:grpSp>
        <p:nvGrpSpPr>
          <p:cNvPr name="Group 6" id="6"/>
          <p:cNvGrpSpPr/>
          <p:nvPr/>
        </p:nvGrpSpPr>
        <p:grpSpPr>
          <a:xfrm rot="0">
            <a:off x="0" y="9848088"/>
            <a:ext cx="18287543" cy="438912"/>
            <a:chOff x="0" y="0"/>
            <a:chExt cx="24383390" cy="585216"/>
          </a:xfrm>
        </p:grpSpPr>
        <p:sp>
          <p:nvSpPr>
            <p:cNvPr name="Freeform 7" id="7"/>
            <p:cNvSpPr/>
            <p:nvPr/>
          </p:nvSpPr>
          <p:spPr>
            <a:xfrm flipH="false" flipV="false" rot="0">
              <a:off x="0" y="0"/>
              <a:ext cx="24383364" cy="585216"/>
            </a:xfrm>
            <a:custGeom>
              <a:avLst/>
              <a:gdLst/>
              <a:ahLst/>
              <a:cxnLst/>
              <a:rect r="r" b="b" t="t" l="l"/>
              <a:pathLst>
                <a:path h="585216" w="24383364">
                  <a:moveTo>
                    <a:pt x="0" y="0"/>
                  </a:moveTo>
                  <a:lnTo>
                    <a:pt x="24383364" y="0"/>
                  </a:lnTo>
                  <a:lnTo>
                    <a:pt x="24383364" y="585216"/>
                  </a:lnTo>
                  <a:lnTo>
                    <a:pt x="0" y="585216"/>
                  </a:lnTo>
                  <a:close/>
                </a:path>
              </a:pathLst>
            </a:custGeom>
            <a:solidFill>
              <a:srgbClr val="1F4E79"/>
            </a:solidFill>
          </p:spPr>
        </p:sp>
      </p:grpSp>
      <p:sp>
        <p:nvSpPr>
          <p:cNvPr name="TextBox 8" id="8"/>
          <p:cNvSpPr txBox="true"/>
          <p:nvPr/>
        </p:nvSpPr>
        <p:spPr>
          <a:xfrm rot="0">
            <a:off x="548640" y="9938956"/>
            <a:ext cx="2911197" cy="257175"/>
          </a:xfrm>
          <a:prstGeom prst="rect">
            <a:avLst/>
          </a:prstGeom>
        </p:spPr>
        <p:txBody>
          <a:bodyPr anchor="t" rtlCol="false" tIns="0" lIns="0" bIns="0" rIns="0">
            <a:spAutoFit/>
          </a:bodyPr>
          <a:lstStyle/>
          <a:p>
            <a:pPr algn="l">
              <a:lnSpc>
                <a:spcPts val="2025"/>
              </a:lnSpc>
            </a:pPr>
            <a:r>
              <a:rPr lang="en-US" sz="1687" b="true">
                <a:solidFill>
                  <a:srgbClr val="FFFFFF"/>
                </a:solidFill>
                <a:latin typeface="Montserrat Bold"/>
                <a:ea typeface="Montserrat Bold"/>
                <a:cs typeface="Montserrat Bold"/>
                <a:sym typeface="Montserrat Bold"/>
              </a:rPr>
              <a:t>14 / 15 - 20-minute activity</a:t>
            </a:r>
          </a:p>
        </p:txBody>
      </p:sp>
      <p:graphicFrame>
        <p:nvGraphicFramePr>
          <p:cNvPr name="Table 9" id="9"/>
          <p:cNvGraphicFramePr>
            <a:graphicFrameLocks noGrp="true"/>
          </p:cNvGraphicFramePr>
          <p:nvPr/>
        </p:nvGraphicFramePr>
        <p:xfrm>
          <a:off x="685800" y="2243138"/>
          <a:ext cx="16916400" cy="4876800"/>
        </p:xfrm>
        <a:graphic>
          <a:graphicData uri="http://schemas.openxmlformats.org/drawingml/2006/table">
            <a:tbl>
              <a:tblPr/>
              <a:tblGrid>
                <a:gridCol w="3292454"/>
                <a:gridCol w="13623946"/>
              </a:tblGrid>
              <a:tr h="812800">
                <a:tc>
                  <a:txBody>
                    <a:bodyPr anchor="t" rtlCol="false"/>
                    <a:lstStyle/>
                    <a:p>
                      <a:pPr algn="l">
                        <a:lnSpc>
                          <a:spcPts val="3644"/>
                        </a:lnSpc>
                        <a:defRPr/>
                      </a:pPr>
                      <a:r>
                        <a:rPr lang="en-US" sz="3037" b="true">
                          <a:solidFill>
                            <a:srgbClr val="FFFFFF"/>
                          </a:solidFill>
                          <a:latin typeface="Montserrat Bold"/>
                          <a:ea typeface="Montserrat Bold"/>
                          <a:cs typeface="Montserrat Bold"/>
                          <a:sym typeface="Montserrat Bold"/>
                        </a:rPr>
                        <a:t>Time</a:t>
                      </a:r>
                      <a:endParaRPr lang="en-US" sz="1100"/>
                    </a:p>
                  </a:txBody>
                  <a:tcPr marL="91440" marR="91440" marT="91440" marB="9144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1F4E79"/>
                    </a:solidFill>
                  </a:tcPr>
                </a:tc>
                <a:tc>
                  <a:txBody>
                    <a:bodyPr anchor="t" rtlCol="false"/>
                    <a:lstStyle/>
                    <a:p>
                      <a:pPr algn="ctr">
                        <a:lnSpc>
                          <a:spcPts val="3644"/>
                        </a:lnSpc>
                        <a:defRPr/>
                      </a:pPr>
                      <a:r>
                        <a:rPr lang="en-US" sz="3037" b="true">
                          <a:solidFill>
                            <a:srgbClr val="FFFFFF"/>
                          </a:solidFill>
                          <a:latin typeface="Montserrat Bold"/>
                          <a:ea typeface="Montserrat Bold"/>
                          <a:cs typeface="Montserrat Bold"/>
                          <a:sym typeface="Montserrat Bold"/>
                        </a:rPr>
                        <a:t>Team action</a:t>
                      </a:r>
                      <a:endParaRPr lang="en-US" sz="1100"/>
                    </a:p>
                  </a:txBody>
                  <a:tcPr marL="91440" marR="91440" marT="91440" marB="9144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1F4E79"/>
                    </a:solidFill>
                  </a:tcPr>
                </a:tc>
              </a:tr>
              <a:tr h="812800">
                <a:tc>
                  <a:txBody>
                    <a:bodyPr anchor="t" rtlCol="false"/>
                    <a:lstStyle/>
                    <a:p>
                      <a:pPr algn="l">
                        <a:lnSpc>
                          <a:spcPts val="3644"/>
                        </a:lnSpc>
                        <a:defRPr/>
                      </a:pPr>
                      <a:r>
                        <a:rPr lang="en-US" sz="3037">
                          <a:solidFill>
                            <a:srgbClr val="000000"/>
                          </a:solidFill>
                          <a:latin typeface="Montserrat"/>
                          <a:ea typeface="Montserrat"/>
                          <a:cs typeface="Montserrat"/>
                          <a:sym typeface="Montserrat"/>
                        </a:rPr>
                        <a:t>00-02 min</a:t>
                      </a:r>
                      <a:endParaRPr lang="en-US" sz="1100"/>
                    </a:p>
                  </a:txBody>
                  <a:tcPr marL="91440" marR="91440" marT="91440" marB="9144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DAE3F3"/>
                    </a:solidFill>
                  </a:tcPr>
                </a:tc>
                <a:tc>
                  <a:txBody>
                    <a:bodyPr anchor="t" rtlCol="false"/>
                    <a:lstStyle/>
                    <a:p>
                      <a:pPr algn="ctr">
                        <a:lnSpc>
                          <a:spcPts val="3644"/>
                        </a:lnSpc>
                        <a:defRPr/>
                      </a:pPr>
                      <a:r>
                        <a:rPr lang="en-US" sz="3037">
                          <a:solidFill>
                            <a:srgbClr val="000000"/>
                          </a:solidFill>
                          <a:latin typeface="Montserrat"/>
                          <a:ea typeface="Montserrat"/>
                          <a:cs typeface="Montserrat"/>
                          <a:sym typeface="Montserrat"/>
                        </a:rPr>
                        <a:t>Read the five diffs, rules and fixture data</a:t>
                      </a:r>
                      <a:endParaRPr lang="en-US" sz="1100"/>
                    </a:p>
                  </a:txBody>
                  <a:tcPr marL="91440" marR="91440" marT="91440" marB="9144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DAE3F3"/>
                    </a:solidFill>
                  </a:tcPr>
                </a:tc>
              </a:tr>
              <a:tr h="812800">
                <a:tc>
                  <a:txBody>
                    <a:bodyPr anchor="t" rtlCol="false"/>
                    <a:lstStyle/>
                    <a:p>
                      <a:pPr algn="l">
                        <a:lnSpc>
                          <a:spcPts val="3644"/>
                        </a:lnSpc>
                        <a:defRPr/>
                      </a:pPr>
                      <a:r>
                        <a:rPr lang="en-US" sz="3037">
                          <a:solidFill>
                            <a:srgbClr val="000000"/>
                          </a:solidFill>
                          <a:latin typeface="Montserrat"/>
                          <a:ea typeface="Montserrat"/>
                          <a:cs typeface="Montserrat"/>
                          <a:sym typeface="Montserrat"/>
                        </a:rPr>
                        <a:t>02-10 min</a:t>
                      </a:r>
                      <a:endParaRPr lang="en-US" sz="1100"/>
                    </a:p>
                  </a:txBody>
                  <a:tcPr marL="91440" marR="91440" marT="91440" marB="9144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F2F2F2"/>
                    </a:solidFill>
                  </a:tcPr>
                </a:tc>
                <a:tc>
                  <a:txBody>
                    <a:bodyPr anchor="t" rtlCol="false"/>
                    <a:lstStyle/>
                    <a:p>
                      <a:pPr algn="ctr">
                        <a:lnSpc>
                          <a:spcPts val="3644"/>
                        </a:lnSpc>
                        <a:defRPr/>
                      </a:pPr>
                      <a:r>
                        <a:rPr lang="en-US" sz="3037">
                          <a:solidFill>
                            <a:srgbClr val="000000"/>
                          </a:solidFill>
                          <a:latin typeface="Montserrat"/>
                          <a:ea typeface="Montserrat"/>
                          <a:cs typeface="Montserrat"/>
                          <a:sym typeface="Montserrat"/>
                        </a:rPr>
                        <a:t>Write five candidate assertions</a:t>
                      </a:r>
                      <a:endParaRPr lang="en-US" sz="1100"/>
                    </a:p>
                  </a:txBody>
                  <a:tcPr marL="91440" marR="91440" marT="91440" marB="9144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F2F2F2"/>
                    </a:solidFill>
                  </a:tcPr>
                </a:tc>
              </a:tr>
              <a:tr h="812800">
                <a:tc>
                  <a:txBody>
                    <a:bodyPr anchor="t" rtlCol="false"/>
                    <a:lstStyle/>
                    <a:p>
                      <a:pPr algn="l">
                        <a:lnSpc>
                          <a:spcPts val="3644"/>
                        </a:lnSpc>
                        <a:defRPr/>
                      </a:pPr>
                      <a:r>
                        <a:rPr lang="en-US" sz="3037">
                          <a:solidFill>
                            <a:srgbClr val="000000"/>
                          </a:solidFill>
                          <a:latin typeface="Montserrat"/>
                          <a:ea typeface="Montserrat"/>
                          <a:cs typeface="Montserrat"/>
                          <a:sym typeface="Montserrat"/>
                        </a:rPr>
                        <a:t>10-14 min</a:t>
                      </a:r>
                      <a:endParaRPr lang="en-US" sz="1100"/>
                    </a:p>
                  </a:txBody>
                  <a:tcPr marL="91440" marR="91440" marT="91440" marB="9144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DAE3F3"/>
                    </a:solidFill>
                  </a:tcPr>
                </a:tc>
                <a:tc>
                  <a:txBody>
                    <a:bodyPr anchor="t" rtlCol="false"/>
                    <a:lstStyle/>
                    <a:p>
                      <a:pPr algn="ctr">
                        <a:lnSpc>
                          <a:spcPts val="3644"/>
                        </a:lnSpc>
                        <a:defRPr/>
                      </a:pPr>
                      <a:r>
                        <a:rPr lang="en-US" sz="3037">
                          <a:solidFill>
                            <a:srgbClr val="000000"/>
                          </a:solidFill>
                          <a:latin typeface="Montserrat"/>
                          <a:ea typeface="Montserrat"/>
                          <a:cs typeface="Montserrat"/>
                          <a:sym typeface="Montserrat"/>
                        </a:rPr>
                        <a:t>Swap, review and revise with a peer team</a:t>
                      </a:r>
                      <a:endParaRPr lang="en-US" sz="1100"/>
                    </a:p>
                  </a:txBody>
                  <a:tcPr marL="91440" marR="91440" marT="91440" marB="9144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DAE3F3"/>
                    </a:solidFill>
                  </a:tcPr>
                </a:tc>
              </a:tr>
              <a:tr h="812800">
                <a:tc>
                  <a:txBody>
                    <a:bodyPr anchor="t" rtlCol="false"/>
                    <a:lstStyle/>
                    <a:p>
                      <a:pPr algn="l">
                        <a:lnSpc>
                          <a:spcPts val="3644"/>
                        </a:lnSpc>
                        <a:defRPr/>
                      </a:pPr>
                      <a:r>
                        <a:rPr lang="en-US" sz="3037">
                          <a:solidFill>
                            <a:srgbClr val="000000"/>
                          </a:solidFill>
                          <a:latin typeface="Montserrat"/>
                          <a:ea typeface="Montserrat"/>
                          <a:cs typeface="Montserrat"/>
                          <a:sym typeface="Montserrat"/>
                        </a:rPr>
                        <a:t>14-18 min</a:t>
                      </a:r>
                      <a:endParaRPr lang="en-US" sz="1100"/>
                    </a:p>
                  </a:txBody>
                  <a:tcPr marL="91440" marR="91440" marT="91440" marB="9144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F2F2F2"/>
                    </a:solidFill>
                  </a:tcPr>
                </a:tc>
                <a:tc>
                  <a:txBody>
                    <a:bodyPr anchor="t" rtlCol="false"/>
                    <a:lstStyle/>
                    <a:p>
                      <a:pPr algn="ctr">
                        <a:lnSpc>
                          <a:spcPts val="3644"/>
                        </a:lnSpc>
                        <a:defRPr/>
                      </a:pPr>
                      <a:r>
                        <a:rPr lang="en-US" sz="3037">
                          <a:solidFill>
                            <a:srgbClr val="000000"/>
                          </a:solidFill>
                          <a:latin typeface="Montserrat"/>
                          <a:ea typeface="Montserrat"/>
                          <a:cs typeface="Montserrat"/>
                          <a:sym typeface="Montserrat"/>
                        </a:rPr>
                        <a:t>Run on original and target mutants, then tally</a:t>
                      </a:r>
                      <a:endParaRPr lang="en-US" sz="1100"/>
                    </a:p>
                  </a:txBody>
                  <a:tcPr marL="91440" marR="91440" marT="91440" marB="9144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F2F2F2"/>
                    </a:solidFill>
                  </a:tcPr>
                </a:tc>
              </a:tr>
              <a:tr h="812800">
                <a:tc>
                  <a:txBody>
                    <a:bodyPr anchor="t" rtlCol="false"/>
                    <a:lstStyle/>
                    <a:p>
                      <a:pPr algn="l">
                        <a:lnSpc>
                          <a:spcPts val="3644"/>
                        </a:lnSpc>
                        <a:defRPr/>
                      </a:pPr>
                      <a:r>
                        <a:rPr lang="en-US" sz="3037">
                          <a:solidFill>
                            <a:srgbClr val="000000"/>
                          </a:solidFill>
                          <a:latin typeface="Montserrat"/>
                          <a:ea typeface="Montserrat"/>
                          <a:cs typeface="Montserrat"/>
                          <a:sym typeface="Montserrat"/>
                        </a:rPr>
                        <a:t>18-20 min</a:t>
                      </a:r>
                      <a:endParaRPr lang="en-US" sz="1100"/>
                    </a:p>
                  </a:txBody>
                  <a:tcPr marL="91440" marR="91440" marT="91440" marB="9144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DAE3F3"/>
                    </a:solidFill>
                  </a:tcPr>
                </a:tc>
                <a:tc>
                  <a:txBody>
                    <a:bodyPr anchor="t" rtlCol="false"/>
                    <a:lstStyle/>
                    <a:p>
                      <a:pPr algn="ctr">
                        <a:lnSpc>
                          <a:spcPts val="3644"/>
                        </a:lnSpc>
                        <a:defRPr/>
                      </a:pPr>
                      <a:r>
                        <a:rPr lang="en-US" sz="3037">
                          <a:solidFill>
                            <a:srgbClr val="000000"/>
                          </a:solidFill>
                          <a:latin typeface="Montserrat"/>
                          <a:ea typeface="Montserrat"/>
                          <a:cs typeface="Montserrat"/>
                          <a:sym typeface="Montserrat"/>
                        </a:rPr>
                        <a:t>Explain one design and submit the response sheet</a:t>
                      </a:r>
                      <a:endParaRPr lang="en-US" sz="1100"/>
                    </a:p>
                  </a:txBody>
                  <a:tcPr marL="91440" marR="91440" marT="91440" marB="9144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DAE3F3"/>
                    </a:solidFill>
                  </a:tcPr>
                </a:tc>
              </a:tr>
            </a:tbl>
          </a:graphicData>
        </a:graphic>
      </p:graphicFrame>
      <p:grpSp>
        <p:nvGrpSpPr>
          <p:cNvPr name="Group 10" id="10"/>
          <p:cNvGrpSpPr/>
          <p:nvPr/>
        </p:nvGrpSpPr>
        <p:grpSpPr>
          <a:xfrm rot="0">
            <a:off x="685571" y="7015162"/>
            <a:ext cx="16916400" cy="657225"/>
            <a:chOff x="0" y="0"/>
            <a:chExt cx="22555200" cy="876300"/>
          </a:xfrm>
        </p:grpSpPr>
        <p:sp>
          <p:nvSpPr>
            <p:cNvPr name="Freeform 11" id="11"/>
            <p:cNvSpPr/>
            <p:nvPr/>
          </p:nvSpPr>
          <p:spPr>
            <a:xfrm flipH="false" flipV="false" rot="0">
              <a:off x="0" y="0"/>
              <a:ext cx="22555200" cy="876300"/>
            </a:xfrm>
            <a:custGeom>
              <a:avLst/>
              <a:gdLst/>
              <a:ahLst/>
              <a:cxnLst/>
              <a:rect r="r" b="b" t="t" l="l"/>
              <a:pathLst>
                <a:path h="876300" w="22555200">
                  <a:moveTo>
                    <a:pt x="0" y="0"/>
                  </a:moveTo>
                  <a:lnTo>
                    <a:pt x="22555200" y="0"/>
                  </a:lnTo>
                  <a:lnTo>
                    <a:pt x="22555200" y="876300"/>
                  </a:lnTo>
                  <a:lnTo>
                    <a:pt x="0" y="876300"/>
                  </a:lnTo>
                  <a:close/>
                </a:path>
              </a:pathLst>
            </a:custGeom>
            <a:solidFill>
              <a:srgbClr val="375623"/>
            </a:solidFill>
          </p:spPr>
        </p:sp>
      </p:grpSp>
      <p:sp>
        <p:nvSpPr>
          <p:cNvPr name="TextBox 12" id="12"/>
          <p:cNvSpPr txBox="true"/>
          <p:nvPr/>
        </p:nvSpPr>
        <p:spPr>
          <a:xfrm rot="0">
            <a:off x="885825" y="7115175"/>
            <a:ext cx="10675025" cy="457200"/>
          </a:xfrm>
          <a:prstGeom prst="rect">
            <a:avLst/>
          </a:prstGeom>
        </p:spPr>
        <p:txBody>
          <a:bodyPr anchor="t" rtlCol="false" tIns="0" lIns="0" bIns="0" rIns="0">
            <a:spAutoFit/>
          </a:bodyPr>
          <a:lstStyle/>
          <a:p>
            <a:pPr algn="l">
              <a:lnSpc>
                <a:spcPts val="3644"/>
              </a:lnSpc>
            </a:pPr>
            <a:r>
              <a:rPr lang="en-US" sz="3037" b="true">
                <a:solidFill>
                  <a:srgbClr val="FFFFFF"/>
                </a:solidFill>
                <a:latin typeface="Montserrat Bold"/>
                <a:ea typeface="Montserrat Bold"/>
                <a:cs typeface="Montserrat Bold"/>
                <a:sym typeface="Montserrat Bold"/>
              </a:rPr>
              <a:t>One point per verified target kill. Maximum: 5 points.</a:t>
            </a:r>
          </a:p>
        </p:txBody>
      </p:sp>
      <p:sp>
        <p:nvSpPr>
          <p:cNvPr name="TextBox 13" id="13"/>
          <p:cNvSpPr txBox="true"/>
          <p:nvPr/>
        </p:nvSpPr>
        <p:spPr>
          <a:xfrm rot="0">
            <a:off x="914400" y="7929562"/>
            <a:ext cx="16430625" cy="914400"/>
          </a:xfrm>
          <a:prstGeom prst="rect">
            <a:avLst/>
          </a:prstGeom>
        </p:spPr>
        <p:txBody>
          <a:bodyPr anchor="t" rtlCol="false" tIns="0" lIns="0" bIns="0" rIns="0">
            <a:spAutoFit/>
          </a:bodyPr>
          <a:lstStyle/>
          <a:p>
            <a:pPr algn="l">
              <a:lnSpc>
                <a:spcPts val="3644"/>
              </a:lnSpc>
            </a:pPr>
            <a:r>
              <a:rPr lang="en-US" sz="3037">
                <a:solidFill>
                  <a:srgbClr val="000000"/>
                </a:solidFill>
                <a:latin typeface="Montserrat"/>
                <a:ea typeface="Montserrat"/>
                <a:cs typeface="Montserrat"/>
                <a:sym typeface="Montserrat"/>
              </a:rPr>
              <a:t>Original code must pass. The candidate must fail because of its target mutant.</a:t>
            </a:r>
          </a:p>
          <a:p>
            <a:pPr algn="l">
              <a:lnSpc>
                <a:spcPts val="3644"/>
              </a:lnSpc>
            </a:pPr>
            <a:r>
              <a:rPr lang="en-US" sz="3037">
                <a:solidFill>
                  <a:srgbClr val="000000"/>
                </a:solidFill>
                <a:latin typeface="Montserrat"/>
                <a:ea typeface="Montserrat"/>
                <a:cs typeface="Montserrat"/>
                <a:sym typeface="Montserrat"/>
              </a:rPr>
              <a:t>Syntax errors, setup failures and Timeout receive no kill point.</a:t>
            </a:r>
          </a:p>
        </p:txBody>
      </p:sp>
      <p:sp>
        <p:nvSpPr>
          <p:cNvPr name="TextBox 14" id="14"/>
          <p:cNvSpPr txBox="true"/>
          <p:nvPr/>
        </p:nvSpPr>
        <p:spPr>
          <a:xfrm rot="0">
            <a:off x="685800" y="9286875"/>
            <a:ext cx="13363932" cy="409575"/>
          </a:xfrm>
          <a:prstGeom prst="rect">
            <a:avLst/>
          </a:prstGeom>
        </p:spPr>
        <p:txBody>
          <a:bodyPr anchor="t" rtlCol="false" tIns="0" lIns="0" bIns="0" rIns="0">
            <a:spAutoFit/>
          </a:bodyPr>
          <a:lstStyle/>
          <a:p>
            <a:pPr algn="l">
              <a:lnSpc>
                <a:spcPts val="3240"/>
              </a:lnSpc>
            </a:pPr>
            <a:r>
              <a:rPr lang="en-US" sz="2700" b="true">
                <a:solidFill>
                  <a:srgbClr val="C00000"/>
                </a:solidFill>
                <a:latin typeface="Montserrat Bold"/>
                <a:ea typeface="Montserrat Bold"/>
                <a:cs typeface="Montserrat Bold"/>
                <a:sym typeface="Montserrat Bold"/>
              </a:rPr>
              <a:t>Minute paper: Which observation mattered? What would you check next?</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7543" cy="246888"/>
            <a:chOff x="0" y="0"/>
            <a:chExt cx="24383390" cy="329184"/>
          </a:xfrm>
        </p:grpSpPr>
        <p:sp>
          <p:nvSpPr>
            <p:cNvPr name="Freeform 3" id="3"/>
            <p:cNvSpPr/>
            <p:nvPr/>
          </p:nvSpPr>
          <p:spPr>
            <a:xfrm flipH="false" flipV="false" rot="0">
              <a:off x="0" y="0"/>
              <a:ext cx="24383364" cy="329184"/>
            </a:xfrm>
            <a:custGeom>
              <a:avLst/>
              <a:gdLst/>
              <a:ahLst/>
              <a:cxnLst/>
              <a:rect r="r" b="b" t="t" l="l"/>
              <a:pathLst>
                <a:path h="329184" w="24383364">
                  <a:moveTo>
                    <a:pt x="0" y="0"/>
                  </a:moveTo>
                  <a:lnTo>
                    <a:pt x="24383364" y="0"/>
                  </a:lnTo>
                  <a:lnTo>
                    <a:pt x="24383364" y="329184"/>
                  </a:lnTo>
                  <a:lnTo>
                    <a:pt x="0" y="329184"/>
                  </a:lnTo>
                  <a:close/>
                </a:path>
              </a:pathLst>
            </a:custGeom>
            <a:solidFill>
              <a:srgbClr val="1F4E79"/>
            </a:solidFill>
          </p:spPr>
        </p:sp>
      </p:grpSp>
      <p:sp>
        <p:nvSpPr>
          <p:cNvPr name="TextBox 4" id="4"/>
          <p:cNvSpPr txBox="true"/>
          <p:nvPr/>
        </p:nvSpPr>
        <p:spPr>
          <a:xfrm rot="0">
            <a:off x="548640" y="301752"/>
            <a:ext cx="7910512" cy="266700"/>
          </a:xfrm>
          <a:prstGeom prst="rect">
            <a:avLst/>
          </a:prstGeom>
        </p:spPr>
        <p:txBody>
          <a:bodyPr anchor="t" rtlCol="false" tIns="0" lIns="0" bIns="0" rIns="0">
            <a:spAutoFit/>
          </a:bodyPr>
          <a:lstStyle/>
          <a:p>
            <a:pPr algn="l">
              <a:lnSpc>
                <a:spcPts val="2160"/>
              </a:lnSpc>
            </a:pPr>
            <a:r>
              <a:rPr lang="en-US" b="true" sz="1800">
                <a:solidFill>
                  <a:srgbClr val="000000"/>
                </a:solidFill>
                <a:latin typeface="Montserrat Bold"/>
                <a:ea typeface="Montserrat Bold"/>
                <a:cs typeface="Montserrat Bold"/>
                <a:sym typeface="Montserrat Bold"/>
              </a:rPr>
              <a:t>2026 AI-First - Seminar T10 - Mutation Testing &amp; Test Effectiveness</a:t>
            </a:r>
          </a:p>
        </p:txBody>
      </p:sp>
      <p:sp>
        <p:nvSpPr>
          <p:cNvPr name="TextBox 5" id="5"/>
          <p:cNvSpPr txBox="true"/>
          <p:nvPr/>
        </p:nvSpPr>
        <p:spPr>
          <a:xfrm rot="0">
            <a:off x="548640" y="822960"/>
            <a:ext cx="17282160" cy="752475"/>
          </a:xfrm>
          <a:prstGeom prst="rect">
            <a:avLst/>
          </a:prstGeom>
        </p:spPr>
        <p:txBody>
          <a:bodyPr anchor="t" rtlCol="false" tIns="0" lIns="0" bIns="0" rIns="0">
            <a:spAutoFit/>
          </a:bodyPr>
          <a:lstStyle/>
          <a:p>
            <a:pPr algn="l">
              <a:lnSpc>
                <a:spcPts val="5940"/>
              </a:lnSpc>
            </a:pPr>
            <a:r>
              <a:rPr lang="en-US" b="true" sz="4950">
                <a:solidFill>
                  <a:srgbClr val="000000"/>
                </a:solidFill>
                <a:latin typeface="Montserrat Bold"/>
                <a:ea typeface="Montserrat Bold"/>
                <a:cs typeface="Montserrat Bold"/>
                <a:sym typeface="Montserrat Bold"/>
              </a:rPr>
              <a:t>Takeaways and Q&amp;A</a:t>
            </a:r>
          </a:p>
        </p:txBody>
      </p:sp>
      <p:grpSp>
        <p:nvGrpSpPr>
          <p:cNvPr name="Group 6" id="6"/>
          <p:cNvGrpSpPr/>
          <p:nvPr/>
        </p:nvGrpSpPr>
        <p:grpSpPr>
          <a:xfrm rot="0">
            <a:off x="0" y="9848088"/>
            <a:ext cx="18287543" cy="438912"/>
            <a:chOff x="0" y="0"/>
            <a:chExt cx="24383390" cy="585216"/>
          </a:xfrm>
        </p:grpSpPr>
        <p:sp>
          <p:nvSpPr>
            <p:cNvPr name="Freeform 7" id="7"/>
            <p:cNvSpPr/>
            <p:nvPr/>
          </p:nvSpPr>
          <p:spPr>
            <a:xfrm flipH="false" flipV="false" rot="0">
              <a:off x="0" y="0"/>
              <a:ext cx="24383364" cy="585216"/>
            </a:xfrm>
            <a:custGeom>
              <a:avLst/>
              <a:gdLst/>
              <a:ahLst/>
              <a:cxnLst/>
              <a:rect r="r" b="b" t="t" l="l"/>
              <a:pathLst>
                <a:path h="585216" w="24383364">
                  <a:moveTo>
                    <a:pt x="0" y="0"/>
                  </a:moveTo>
                  <a:lnTo>
                    <a:pt x="24383364" y="0"/>
                  </a:lnTo>
                  <a:lnTo>
                    <a:pt x="24383364" y="585216"/>
                  </a:lnTo>
                  <a:lnTo>
                    <a:pt x="0" y="585216"/>
                  </a:lnTo>
                  <a:close/>
                </a:path>
              </a:pathLst>
            </a:custGeom>
            <a:solidFill>
              <a:srgbClr val="1F4E79"/>
            </a:solidFill>
          </p:spPr>
        </p:sp>
      </p:grpSp>
      <p:sp>
        <p:nvSpPr>
          <p:cNvPr name="TextBox 8" id="8"/>
          <p:cNvSpPr txBox="true"/>
          <p:nvPr/>
        </p:nvSpPr>
        <p:spPr>
          <a:xfrm rot="0">
            <a:off x="548640" y="9938956"/>
            <a:ext cx="2041922" cy="257175"/>
          </a:xfrm>
          <a:prstGeom prst="rect">
            <a:avLst/>
          </a:prstGeom>
        </p:spPr>
        <p:txBody>
          <a:bodyPr anchor="t" rtlCol="false" tIns="0" lIns="0" bIns="0" rIns="0">
            <a:spAutoFit/>
          </a:bodyPr>
          <a:lstStyle/>
          <a:p>
            <a:pPr algn="l">
              <a:lnSpc>
                <a:spcPts val="2025"/>
              </a:lnSpc>
            </a:pPr>
            <a:r>
              <a:rPr lang="en-US" sz="1687" b="true">
                <a:solidFill>
                  <a:srgbClr val="FFFFFF"/>
                </a:solidFill>
                <a:latin typeface="Montserrat Bold"/>
                <a:ea typeface="Montserrat Bold"/>
                <a:cs typeface="Montserrat Bold"/>
                <a:sym typeface="Montserrat Bold"/>
              </a:rPr>
              <a:t>15 / 15 - Discussion</a:t>
            </a:r>
          </a:p>
        </p:txBody>
      </p:sp>
      <p:grpSp>
        <p:nvGrpSpPr>
          <p:cNvPr name="Group 9" id="9"/>
          <p:cNvGrpSpPr/>
          <p:nvPr/>
        </p:nvGrpSpPr>
        <p:grpSpPr>
          <a:xfrm rot="0">
            <a:off x="685800" y="2257425"/>
            <a:ext cx="9858375" cy="657225"/>
            <a:chOff x="0" y="0"/>
            <a:chExt cx="13144500" cy="876300"/>
          </a:xfrm>
        </p:grpSpPr>
        <p:sp>
          <p:nvSpPr>
            <p:cNvPr name="Freeform 10" id="10"/>
            <p:cNvSpPr/>
            <p:nvPr/>
          </p:nvSpPr>
          <p:spPr>
            <a:xfrm flipH="false" flipV="false" rot="0">
              <a:off x="0" y="0"/>
              <a:ext cx="13144500" cy="876300"/>
            </a:xfrm>
            <a:custGeom>
              <a:avLst/>
              <a:gdLst/>
              <a:ahLst/>
              <a:cxnLst/>
              <a:rect r="r" b="b" t="t" l="l"/>
              <a:pathLst>
                <a:path h="876300" w="13144500">
                  <a:moveTo>
                    <a:pt x="0" y="0"/>
                  </a:moveTo>
                  <a:lnTo>
                    <a:pt x="13144500" y="0"/>
                  </a:lnTo>
                  <a:lnTo>
                    <a:pt x="13144500" y="876300"/>
                  </a:lnTo>
                  <a:lnTo>
                    <a:pt x="0" y="876300"/>
                  </a:lnTo>
                  <a:close/>
                </a:path>
              </a:pathLst>
            </a:custGeom>
            <a:solidFill>
              <a:srgbClr val="375623"/>
            </a:solidFill>
          </p:spPr>
        </p:sp>
      </p:grpSp>
      <p:sp>
        <p:nvSpPr>
          <p:cNvPr name="TextBox 11" id="11"/>
          <p:cNvSpPr txBox="true"/>
          <p:nvPr/>
        </p:nvSpPr>
        <p:spPr>
          <a:xfrm rot="0">
            <a:off x="885825" y="2357438"/>
            <a:ext cx="5335786" cy="457200"/>
          </a:xfrm>
          <a:prstGeom prst="rect">
            <a:avLst/>
          </a:prstGeom>
        </p:spPr>
        <p:txBody>
          <a:bodyPr anchor="t" rtlCol="false" tIns="0" lIns="0" bIns="0" rIns="0">
            <a:spAutoFit/>
          </a:bodyPr>
          <a:lstStyle/>
          <a:p>
            <a:pPr algn="l">
              <a:lnSpc>
                <a:spcPts val="3644"/>
              </a:lnSpc>
            </a:pPr>
            <a:r>
              <a:rPr lang="en-US" sz="3037" b="true">
                <a:solidFill>
                  <a:srgbClr val="FFFFFF"/>
                </a:solidFill>
                <a:latin typeface="Montserrat Bold"/>
                <a:ea typeface="Montserrat Bold"/>
                <a:cs typeface="Montserrat Bold"/>
                <a:sym typeface="Montserrat Bold"/>
              </a:rPr>
              <a:t>Three things to remember</a:t>
            </a:r>
          </a:p>
        </p:txBody>
      </p:sp>
      <p:sp>
        <p:nvSpPr>
          <p:cNvPr name="TextBox 12" id="12"/>
          <p:cNvSpPr txBox="true"/>
          <p:nvPr/>
        </p:nvSpPr>
        <p:spPr>
          <a:xfrm rot="0">
            <a:off x="914400" y="3214688"/>
            <a:ext cx="9501188" cy="1485900"/>
          </a:xfrm>
          <a:prstGeom prst="rect">
            <a:avLst/>
          </a:prstGeom>
        </p:spPr>
        <p:txBody>
          <a:bodyPr anchor="t" rtlCol="false" tIns="0" lIns="0" bIns="0" rIns="0">
            <a:spAutoFit/>
          </a:bodyPr>
          <a:lstStyle/>
          <a:p>
            <a:pPr algn="l">
              <a:lnSpc>
                <a:spcPts val="3915"/>
              </a:lnSpc>
            </a:pPr>
            <a:r>
              <a:rPr lang="en-US" sz="3262">
                <a:solidFill>
                  <a:srgbClr val="000000"/>
                </a:solidFill>
                <a:latin typeface="Montserrat"/>
                <a:ea typeface="Montserrat"/>
                <a:cs typeface="Montserrat"/>
                <a:sym typeface="Montserrat"/>
              </a:rPr>
              <a:t>1. Reach the change with useful input.</a:t>
            </a:r>
          </a:p>
          <a:p>
            <a:pPr algn="l">
              <a:lnSpc>
                <a:spcPts val="3915"/>
              </a:lnSpc>
            </a:pPr>
            <a:r>
              <a:rPr lang="en-US" sz="3262">
                <a:solidFill>
                  <a:srgbClr val="000000"/>
                </a:solidFill>
                <a:latin typeface="Montserrat"/>
                <a:ea typeface="Montserrat"/>
                <a:cs typeface="Montserrat"/>
                <a:sym typeface="Montserrat"/>
              </a:rPr>
              <a:t>2. Check behavior against the rule.</a:t>
            </a:r>
          </a:p>
          <a:p>
            <a:pPr algn="l">
              <a:lnSpc>
                <a:spcPts val="3915"/>
              </a:lnSpc>
            </a:pPr>
            <a:r>
              <a:rPr lang="en-US" sz="3262">
                <a:solidFill>
                  <a:srgbClr val="000000"/>
                </a:solidFill>
                <a:latin typeface="Montserrat"/>
                <a:ea typeface="Montserrat"/>
                <a:cs typeface="Montserrat"/>
                <a:sym typeface="Montserrat"/>
              </a:rPr>
              <a:t>3. Verify the original pass and target kill.</a:t>
            </a:r>
          </a:p>
        </p:txBody>
      </p:sp>
      <p:grpSp>
        <p:nvGrpSpPr>
          <p:cNvPr name="Group 13" id="13"/>
          <p:cNvGrpSpPr/>
          <p:nvPr/>
        </p:nvGrpSpPr>
        <p:grpSpPr>
          <a:xfrm rot="0">
            <a:off x="685800" y="5715000"/>
            <a:ext cx="9858375" cy="657225"/>
            <a:chOff x="0" y="0"/>
            <a:chExt cx="13144500" cy="876300"/>
          </a:xfrm>
        </p:grpSpPr>
        <p:sp>
          <p:nvSpPr>
            <p:cNvPr name="Freeform 14" id="14"/>
            <p:cNvSpPr/>
            <p:nvPr/>
          </p:nvSpPr>
          <p:spPr>
            <a:xfrm flipH="false" flipV="false" rot="0">
              <a:off x="0" y="0"/>
              <a:ext cx="13144500" cy="876300"/>
            </a:xfrm>
            <a:custGeom>
              <a:avLst/>
              <a:gdLst/>
              <a:ahLst/>
              <a:cxnLst/>
              <a:rect r="r" b="b" t="t" l="l"/>
              <a:pathLst>
                <a:path h="876300" w="13144500">
                  <a:moveTo>
                    <a:pt x="0" y="0"/>
                  </a:moveTo>
                  <a:lnTo>
                    <a:pt x="13144500" y="0"/>
                  </a:lnTo>
                  <a:lnTo>
                    <a:pt x="13144500" y="876300"/>
                  </a:lnTo>
                  <a:lnTo>
                    <a:pt x="0" y="876300"/>
                  </a:lnTo>
                  <a:close/>
                </a:path>
              </a:pathLst>
            </a:custGeom>
            <a:solidFill>
              <a:srgbClr val="1F4E79"/>
            </a:solidFill>
          </p:spPr>
        </p:sp>
      </p:grpSp>
      <p:sp>
        <p:nvSpPr>
          <p:cNvPr name="TextBox 15" id="15"/>
          <p:cNvSpPr txBox="true"/>
          <p:nvPr/>
        </p:nvSpPr>
        <p:spPr>
          <a:xfrm rot="0">
            <a:off x="885825" y="5815012"/>
            <a:ext cx="3198138" cy="457200"/>
          </a:xfrm>
          <a:prstGeom prst="rect">
            <a:avLst/>
          </a:prstGeom>
        </p:spPr>
        <p:txBody>
          <a:bodyPr anchor="t" rtlCol="false" tIns="0" lIns="0" bIns="0" rIns="0">
            <a:spAutoFit/>
          </a:bodyPr>
          <a:lstStyle/>
          <a:p>
            <a:pPr algn="l">
              <a:lnSpc>
                <a:spcPts val="3644"/>
              </a:lnSpc>
            </a:pPr>
            <a:r>
              <a:rPr lang="en-US" sz="3037" b="true">
                <a:solidFill>
                  <a:srgbClr val="FFFFFF"/>
                </a:solidFill>
                <a:latin typeface="Montserrat Bold"/>
                <a:ea typeface="Montserrat Bold"/>
                <a:cs typeface="Montserrat Bold"/>
                <a:sym typeface="Montserrat Bold"/>
              </a:rPr>
              <a:t>Further reading</a:t>
            </a:r>
          </a:p>
        </p:txBody>
      </p:sp>
      <p:sp>
        <p:nvSpPr>
          <p:cNvPr name="TextBox 16" id="16"/>
          <p:cNvSpPr txBox="true"/>
          <p:nvPr/>
        </p:nvSpPr>
        <p:spPr>
          <a:xfrm rot="0">
            <a:off x="914400" y="6629400"/>
            <a:ext cx="9501188" cy="1314450"/>
          </a:xfrm>
          <a:prstGeom prst="rect">
            <a:avLst/>
          </a:prstGeom>
        </p:spPr>
        <p:txBody>
          <a:bodyPr anchor="t" rtlCol="false" tIns="0" lIns="0" bIns="0" rIns="0">
            <a:spAutoFit/>
          </a:bodyPr>
          <a:lstStyle/>
          <a:p>
            <a:pPr algn="l">
              <a:lnSpc>
                <a:spcPts val="3510"/>
              </a:lnSpc>
            </a:pPr>
            <a:r>
              <a:rPr lang="en-US" sz="2925">
                <a:solidFill>
                  <a:srgbClr val="000000"/>
                </a:solidFill>
                <a:latin typeface="Montserrat"/>
                <a:ea typeface="Montserrat"/>
                <a:cs typeface="Montserrat"/>
                <a:sym typeface="Montserrat"/>
              </a:rPr>
              <a:t>Stryker: states, metrics and equivalent mutants</a:t>
            </a:r>
          </a:p>
          <a:p>
            <a:pPr algn="l">
              <a:lnSpc>
                <a:spcPts val="3510"/>
              </a:lnSpc>
            </a:pPr>
            <a:r>
              <a:rPr lang="en-US" sz="2925">
                <a:solidFill>
                  <a:srgbClr val="000000"/>
                </a:solidFill>
                <a:latin typeface="Montserrat"/>
                <a:ea typeface="Montserrat"/>
                <a:cs typeface="Montserrat"/>
                <a:sym typeface="Montserrat"/>
              </a:rPr>
              <a:t>Jia &amp; Harman: mutation-testing survey (2011)</a:t>
            </a:r>
          </a:p>
          <a:p>
            <a:pPr algn="l">
              <a:lnSpc>
                <a:spcPts val="3510"/>
              </a:lnSpc>
            </a:pPr>
            <a:r>
              <a:rPr lang="en-US" sz="2925">
                <a:solidFill>
                  <a:srgbClr val="000000"/>
                </a:solidFill>
                <a:latin typeface="Montserrat"/>
                <a:ea typeface="Montserrat"/>
                <a:cs typeface="Montserrat"/>
                <a:sym typeface="Montserrat"/>
              </a:rPr>
              <a:t>Group 12: report, guide and activity worksheet</a:t>
            </a:r>
          </a:p>
        </p:txBody>
      </p:sp>
      <p:grpSp>
        <p:nvGrpSpPr>
          <p:cNvPr name="Group 17" id="17"/>
          <p:cNvGrpSpPr/>
          <p:nvPr/>
        </p:nvGrpSpPr>
        <p:grpSpPr>
          <a:xfrm rot="0">
            <a:off x="10677310" y="2257425"/>
            <a:ext cx="7315200" cy="4114800"/>
            <a:chOff x="0" y="0"/>
            <a:chExt cx="8382000" cy="4714875"/>
          </a:xfrm>
        </p:grpSpPr>
        <p:sp>
          <p:nvSpPr>
            <p:cNvPr name="Freeform 18" id="18"/>
            <p:cNvSpPr/>
            <p:nvPr/>
          </p:nvSpPr>
          <p:spPr>
            <a:xfrm flipH="false" flipV="false" rot="0">
              <a:off x="0" y="0"/>
              <a:ext cx="8382000" cy="4714875"/>
            </a:xfrm>
            <a:custGeom>
              <a:avLst/>
              <a:gdLst/>
              <a:ahLst/>
              <a:cxnLst/>
              <a:rect r="r" b="b" t="t" l="l"/>
              <a:pathLst>
                <a:path h="4714875" w="8382000">
                  <a:moveTo>
                    <a:pt x="0" y="0"/>
                  </a:moveTo>
                  <a:lnTo>
                    <a:pt x="8382000" y="0"/>
                  </a:lnTo>
                  <a:lnTo>
                    <a:pt x="8382000" y="4714875"/>
                  </a:lnTo>
                  <a:lnTo>
                    <a:pt x="0" y="4714875"/>
                  </a:lnTo>
                  <a:lnTo>
                    <a:pt x="0" y="0"/>
                  </a:lnTo>
                  <a:close/>
                </a:path>
              </a:pathLst>
            </a:custGeom>
            <a:blipFill>
              <a:blip r:embed="rId3"/>
              <a:stretch>
                <a:fillRect l="0" t="0" r="0" b="0"/>
              </a:stretch>
            </a:blipFill>
          </p:spPr>
        </p:sp>
      </p:grpSp>
      <p:sp>
        <p:nvSpPr>
          <p:cNvPr name="TextBox 19" id="19"/>
          <p:cNvSpPr txBox="true"/>
          <p:nvPr/>
        </p:nvSpPr>
        <p:spPr>
          <a:xfrm rot="0">
            <a:off x="11229975" y="7000875"/>
            <a:ext cx="6286500" cy="542925"/>
          </a:xfrm>
          <a:prstGeom prst="rect">
            <a:avLst/>
          </a:prstGeom>
        </p:spPr>
        <p:txBody>
          <a:bodyPr anchor="t" rtlCol="false" tIns="0" lIns="0" bIns="0" rIns="0">
            <a:spAutoFit/>
          </a:bodyPr>
          <a:lstStyle/>
          <a:p>
            <a:pPr algn="ctr">
              <a:lnSpc>
                <a:spcPts val="4320"/>
              </a:lnSpc>
            </a:pPr>
            <a:r>
              <a:rPr lang="en-US" b="true" sz="3600">
                <a:solidFill>
                  <a:srgbClr val="000000"/>
                </a:solidFill>
                <a:latin typeface="Montserrat Bold"/>
                <a:ea typeface="Montserrat Bold"/>
                <a:cs typeface="Montserrat Bold"/>
                <a:sym typeface="Montserrat Bold"/>
              </a:rPr>
              <a:t>ANY QUESTION BRUH?</a:t>
            </a:r>
          </a:p>
        </p:txBody>
      </p:sp>
      <p:sp>
        <p:nvSpPr>
          <p:cNvPr name="TextBox 20" id="20"/>
          <p:cNvSpPr txBox="true"/>
          <p:nvPr/>
        </p:nvSpPr>
        <p:spPr>
          <a:xfrm rot="0">
            <a:off x="685800" y="8986838"/>
            <a:ext cx="17174072" cy="457200"/>
          </a:xfrm>
          <a:prstGeom prst="rect">
            <a:avLst/>
          </a:prstGeom>
        </p:spPr>
        <p:txBody>
          <a:bodyPr anchor="t" rtlCol="false" tIns="0" lIns="0" bIns="0" rIns="0">
            <a:spAutoFit/>
          </a:bodyPr>
          <a:lstStyle/>
          <a:p>
            <a:pPr algn="l">
              <a:lnSpc>
                <a:spcPts val="3644"/>
              </a:lnSpc>
            </a:pPr>
            <a:r>
              <a:rPr lang="en-US" b="true" sz="3037">
                <a:solidFill>
                  <a:srgbClr val="000000"/>
                </a:solidFill>
                <a:latin typeface="Montserrat Bold"/>
                <a:ea typeface="Montserrat Bold"/>
                <a:cs typeface="Montserrat Bold"/>
                <a:sym typeface="Montserrat Bold"/>
              </a:rPr>
              <a:t>Which survivor would you investigate next, and what evidence would convince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DAHY0PF1hyU</dc:identifier>
  <dcterms:modified xsi:type="dcterms:W3CDTF">2011-08-01T06:04:30Z</dcterms:modified>
  <cp:revision>1</cp:revision>
  <dc:title>Seminar_Slides.pptx</dc:title>
</cp:coreProperties>
</file>